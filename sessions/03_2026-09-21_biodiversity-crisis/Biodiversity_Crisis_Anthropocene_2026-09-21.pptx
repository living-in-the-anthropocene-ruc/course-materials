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81" r:id="rId3"/>
    <p:sldId id="257" r:id="rId4"/>
    <p:sldId id="258" r:id="rId5"/>
    <p:sldId id="259" r:id="rId6"/>
    <p:sldId id="260" r:id="rId7"/>
    <p:sldId id="261" r:id="rId8"/>
    <p:sldId id="282" r:id="rId9"/>
    <p:sldId id="262" r:id="rId10"/>
    <p:sldId id="275" r:id="rId11"/>
    <p:sldId id="276" r:id="rId12"/>
    <p:sldId id="263" r:id="rId13"/>
    <p:sldId id="264" r:id="rId14"/>
    <p:sldId id="283" r:id="rId15"/>
    <p:sldId id="265" r:id="rId16"/>
    <p:sldId id="279" r:id="rId17"/>
    <p:sldId id="266" r:id="rId18"/>
    <p:sldId id="268" r:id="rId19"/>
    <p:sldId id="284" r:id="rId20"/>
    <p:sldId id="277" r:id="rId21"/>
    <p:sldId id="280" r:id="rId22"/>
    <p:sldId id="285" r:id="rId23"/>
    <p:sldId id="278" r:id="rId24"/>
    <p:sldId id="269" r:id="rId25"/>
    <p:sldId id="270" r:id="rId26"/>
    <p:sldId id="271" r:id="rId27"/>
    <p:sldId id="272" r:id="rId28"/>
    <p:sldId id="273" r:id="rId29"/>
    <p:sldId id="27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7B444D-84A4-40A5-87A8-0448572C9B2E}" v="1" dt="2026-09-21T09:16:40.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2" autoAdjust="0"/>
    <p:restoredTop sz="94610"/>
  </p:normalViewPr>
  <p:slideViewPr>
    <p:cSldViewPr snapToGrid="0" snapToObjects="1">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Shorter" userId="755fde98-7d6a-4e3f-b457-9c24d3102ced" providerId="ADAL" clId="{C5F49310-AE28-4DB2-B4F7-BC9D4B7797A6}"/>
    <pc:docChg chg="custSel addSld delSld modSld sldOrd">
      <pc:chgData name="John Shorter" userId="755fde98-7d6a-4e3f-b457-9c24d3102ced" providerId="ADAL" clId="{C5F49310-AE28-4DB2-B4F7-BC9D4B7797A6}" dt="2026-09-21T09:38:11.703" v="1449" actId="6549"/>
      <pc:docMkLst>
        <pc:docMk/>
      </pc:docMkLst>
      <pc:sldChg chg="addSp modSp mod">
        <pc:chgData name="John Shorter" userId="755fde98-7d6a-4e3f-b457-9c24d3102ced" providerId="ADAL" clId="{C5F49310-AE28-4DB2-B4F7-BC9D4B7797A6}" dt="2026-09-11T09:41:57.920" v="12" actId="1076"/>
        <pc:sldMkLst>
          <pc:docMk/>
          <pc:sldMk cId="0" sldId="256"/>
        </pc:sldMkLst>
        <pc:spChg chg="mod">
          <ac:chgData name="John Shorter" userId="755fde98-7d6a-4e3f-b457-9c24d3102ced" providerId="ADAL" clId="{C5F49310-AE28-4DB2-B4F7-BC9D4B7797A6}" dt="2026-09-11T09:41:49.928" v="10" actId="1076"/>
          <ac:spMkLst>
            <pc:docMk/>
            <pc:sldMk cId="0" sldId="256"/>
            <ac:spMk id="3" creationId="{00000000-0000-0000-0000-000000000000}"/>
          </ac:spMkLst>
        </pc:spChg>
        <pc:spChg chg="mod">
          <ac:chgData name="John Shorter" userId="755fde98-7d6a-4e3f-b457-9c24d3102ced" providerId="ADAL" clId="{C5F49310-AE28-4DB2-B4F7-BC9D4B7797A6}" dt="2026-09-11T09:41:47.620" v="9" actId="1076"/>
          <ac:spMkLst>
            <pc:docMk/>
            <pc:sldMk cId="0" sldId="256"/>
            <ac:spMk id="4" creationId="{00000000-0000-0000-0000-000000000000}"/>
          </ac:spMkLst>
        </pc:spChg>
        <pc:spChg chg="mod">
          <ac:chgData name="John Shorter" userId="755fde98-7d6a-4e3f-b457-9c24d3102ced" providerId="ADAL" clId="{C5F49310-AE28-4DB2-B4F7-BC9D4B7797A6}" dt="2026-09-11T09:39:10.237" v="2" actId="14100"/>
          <ac:spMkLst>
            <pc:docMk/>
            <pc:sldMk cId="0" sldId="256"/>
            <ac:spMk id="5" creationId="{00000000-0000-0000-0000-000000000000}"/>
          </ac:spMkLst>
        </pc:spChg>
        <pc:picChg chg="add mod">
          <ac:chgData name="John Shorter" userId="755fde98-7d6a-4e3f-b457-9c24d3102ced" providerId="ADAL" clId="{C5F49310-AE28-4DB2-B4F7-BC9D4B7797A6}" dt="2026-09-11T09:39:16.070" v="3" actId="1076"/>
          <ac:picMkLst>
            <pc:docMk/>
            <pc:sldMk cId="0" sldId="256"/>
            <ac:picMk id="7" creationId="{CFA890C4-CE86-103C-C11B-96491A776FA9}"/>
          </ac:picMkLst>
        </pc:picChg>
        <pc:picChg chg="add mod">
          <ac:chgData name="John Shorter" userId="755fde98-7d6a-4e3f-b457-9c24d3102ced" providerId="ADAL" clId="{C5F49310-AE28-4DB2-B4F7-BC9D4B7797A6}" dt="2026-09-11T09:41:57.920" v="12" actId="1076"/>
          <ac:picMkLst>
            <pc:docMk/>
            <pc:sldMk cId="0" sldId="256"/>
            <ac:picMk id="9" creationId="{1E7467E0-6C67-D31D-BFBD-EC3C3F3EAB06}"/>
          </ac:picMkLst>
        </pc:picChg>
      </pc:sldChg>
      <pc:sldChg chg="delSp modSp mod">
        <pc:chgData name="John Shorter" userId="755fde98-7d6a-4e3f-b457-9c24d3102ced" providerId="ADAL" clId="{C5F49310-AE28-4DB2-B4F7-BC9D4B7797A6}" dt="2026-09-21T09:15:49.063" v="1264" actId="20577"/>
        <pc:sldMkLst>
          <pc:docMk/>
          <pc:sldMk cId="0" sldId="257"/>
        </pc:sldMkLst>
        <pc:spChg chg="mod">
          <ac:chgData name="John Shorter" userId="755fde98-7d6a-4e3f-b457-9c24d3102ced" providerId="ADAL" clId="{C5F49310-AE28-4DB2-B4F7-BC9D4B7797A6}" dt="2026-09-17T14:47:42.663" v="43" actId="6549"/>
          <ac:spMkLst>
            <pc:docMk/>
            <pc:sldMk cId="0" sldId="257"/>
            <ac:spMk id="2" creationId="{00000000-0000-0000-0000-000000000000}"/>
          </ac:spMkLst>
        </pc:spChg>
        <pc:spChg chg="mod">
          <ac:chgData name="John Shorter" userId="755fde98-7d6a-4e3f-b457-9c24d3102ced" providerId="ADAL" clId="{C5F49310-AE28-4DB2-B4F7-BC9D4B7797A6}" dt="2026-09-17T19:45:32.287" v="46" actId="403"/>
          <ac:spMkLst>
            <pc:docMk/>
            <pc:sldMk cId="0" sldId="257"/>
            <ac:spMk id="3" creationId="{00000000-0000-0000-0000-000000000000}"/>
          </ac:spMkLst>
        </pc:spChg>
        <pc:spChg chg="mod">
          <ac:chgData name="John Shorter" userId="755fde98-7d6a-4e3f-b457-9c24d3102ced" providerId="ADAL" clId="{C5F49310-AE28-4DB2-B4F7-BC9D4B7797A6}" dt="2026-09-17T19:45:32.287" v="46" actId="403"/>
          <ac:spMkLst>
            <pc:docMk/>
            <pc:sldMk cId="0" sldId="257"/>
            <ac:spMk id="4" creationId="{00000000-0000-0000-0000-000000000000}"/>
          </ac:spMkLst>
        </pc:spChg>
        <pc:spChg chg="mod">
          <ac:chgData name="John Shorter" userId="755fde98-7d6a-4e3f-b457-9c24d3102ced" providerId="ADAL" clId="{C5F49310-AE28-4DB2-B4F7-BC9D4B7797A6}" dt="2026-09-17T19:45:32.287" v="46" actId="403"/>
          <ac:spMkLst>
            <pc:docMk/>
            <pc:sldMk cId="0" sldId="257"/>
            <ac:spMk id="5" creationId="{00000000-0000-0000-0000-000000000000}"/>
          </ac:spMkLst>
        </pc:spChg>
        <pc:spChg chg="mod">
          <ac:chgData name="John Shorter" userId="755fde98-7d6a-4e3f-b457-9c24d3102ced" providerId="ADAL" clId="{C5F49310-AE28-4DB2-B4F7-BC9D4B7797A6}" dt="2026-09-17T19:45:32.287" v="46" actId="403"/>
          <ac:spMkLst>
            <pc:docMk/>
            <pc:sldMk cId="0" sldId="257"/>
            <ac:spMk id="6" creationId="{00000000-0000-0000-0000-000000000000}"/>
          </ac:spMkLst>
        </pc:spChg>
        <pc:spChg chg="mod">
          <ac:chgData name="John Shorter" userId="755fde98-7d6a-4e3f-b457-9c24d3102ced" providerId="ADAL" clId="{C5F49310-AE28-4DB2-B4F7-BC9D4B7797A6}" dt="2026-09-18T09:08:29.295" v="433" actId="20577"/>
          <ac:spMkLst>
            <pc:docMk/>
            <pc:sldMk cId="0" sldId="257"/>
            <ac:spMk id="7" creationId="{00000000-0000-0000-0000-000000000000}"/>
          </ac:spMkLst>
        </pc:spChg>
        <pc:spChg chg="mod">
          <ac:chgData name="John Shorter" userId="755fde98-7d6a-4e3f-b457-9c24d3102ced" providerId="ADAL" clId="{C5F49310-AE28-4DB2-B4F7-BC9D4B7797A6}" dt="2026-09-17T19:45:32.287" v="46" actId="403"/>
          <ac:spMkLst>
            <pc:docMk/>
            <pc:sldMk cId="0" sldId="257"/>
            <ac:spMk id="8" creationId="{00000000-0000-0000-0000-000000000000}"/>
          </ac:spMkLst>
        </pc:spChg>
        <pc:spChg chg="mod">
          <ac:chgData name="John Shorter" userId="755fde98-7d6a-4e3f-b457-9c24d3102ced" providerId="ADAL" clId="{C5F49310-AE28-4DB2-B4F7-BC9D4B7797A6}" dt="2026-09-17T19:45:32.287" v="46" actId="403"/>
          <ac:spMkLst>
            <pc:docMk/>
            <pc:sldMk cId="0" sldId="257"/>
            <ac:spMk id="9" creationId="{00000000-0000-0000-0000-000000000000}"/>
          </ac:spMkLst>
        </pc:spChg>
        <pc:spChg chg="mod">
          <ac:chgData name="John Shorter" userId="755fde98-7d6a-4e3f-b457-9c24d3102ced" providerId="ADAL" clId="{C5F49310-AE28-4DB2-B4F7-BC9D4B7797A6}" dt="2026-09-17T19:45:32.287" v="46" actId="403"/>
          <ac:spMkLst>
            <pc:docMk/>
            <pc:sldMk cId="0" sldId="257"/>
            <ac:spMk id="10" creationId="{00000000-0000-0000-0000-000000000000}"/>
          </ac:spMkLst>
        </pc:spChg>
        <pc:spChg chg="mod">
          <ac:chgData name="John Shorter" userId="755fde98-7d6a-4e3f-b457-9c24d3102ced" providerId="ADAL" clId="{C5F49310-AE28-4DB2-B4F7-BC9D4B7797A6}" dt="2026-09-21T09:15:49.063" v="1264" actId="20577"/>
          <ac:spMkLst>
            <pc:docMk/>
            <pc:sldMk cId="0" sldId="257"/>
            <ac:spMk id="11" creationId="{00000000-0000-0000-0000-000000000000}"/>
          </ac:spMkLst>
        </pc:spChg>
      </pc:sldChg>
      <pc:sldChg chg="modSp mod modAnim">
        <pc:chgData name="John Shorter" userId="755fde98-7d6a-4e3f-b457-9c24d3102ced" providerId="ADAL" clId="{C5F49310-AE28-4DB2-B4F7-BC9D4B7797A6}" dt="2026-09-21T09:16:28.984" v="1294" actId="20577"/>
        <pc:sldMkLst>
          <pc:docMk/>
          <pc:sldMk cId="0" sldId="258"/>
        </pc:sldMkLst>
        <pc:spChg chg="mod">
          <ac:chgData name="John Shorter" userId="755fde98-7d6a-4e3f-b457-9c24d3102ced" providerId="ADAL" clId="{C5F49310-AE28-4DB2-B4F7-BC9D4B7797A6}" dt="2026-09-17T19:48:22.871" v="56" actId="403"/>
          <ac:spMkLst>
            <pc:docMk/>
            <pc:sldMk cId="0" sldId="258"/>
            <ac:spMk id="2" creationId="{00000000-0000-0000-0000-000000000000}"/>
          </ac:spMkLst>
        </pc:spChg>
        <pc:spChg chg="mod">
          <ac:chgData name="John Shorter" userId="755fde98-7d6a-4e3f-b457-9c24d3102ced" providerId="ADAL" clId="{C5F49310-AE28-4DB2-B4F7-BC9D4B7797A6}" dt="2026-09-21T09:16:28.984" v="1294" actId="20577"/>
          <ac:spMkLst>
            <pc:docMk/>
            <pc:sldMk cId="0" sldId="258"/>
            <ac:spMk id="4" creationId="{00000000-0000-0000-0000-000000000000}"/>
          </ac:spMkLst>
        </pc:spChg>
        <pc:spChg chg="mod">
          <ac:chgData name="John Shorter" userId="755fde98-7d6a-4e3f-b457-9c24d3102ced" providerId="ADAL" clId="{C5F49310-AE28-4DB2-B4F7-BC9D4B7797A6}" dt="2026-09-17T19:48:22.871" v="56" actId="403"/>
          <ac:spMkLst>
            <pc:docMk/>
            <pc:sldMk cId="0" sldId="258"/>
            <ac:spMk id="5" creationId="{00000000-0000-0000-0000-000000000000}"/>
          </ac:spMkLst>
        </pc:spChg>
        <pc:spChg chg="mod">
          <ac:chgData name="John Shorter" userId="755fde98-7d6a-4e3f-b457-9c24d3102ced" providerId="ADAL" clId="{C5F49310-AE28-4DB2-B4F7-BC9D4B7797A6}" dt="2026-09-17T19:49:17.694" v="62" actId="14100"/>
          <ac:spMkLst>
            <pc:docMk/>
            <pc:sldMk cId="0" sldId="258"/>
            <ac:spMk id="7" creationId="{00000000-0000-0000-0000-000000000000}"/>
          </ac:spMkLst>
        </pc:spChg>
        <pc:spChg chg="mod">
          <ac:chgData name="John Shorter" userId="755fde98-7d6a-4e3f-b457-9c24d3102ced" providerId="ADAL" clId="{C5F49310-AE28-4DB2-B4F7-BC9D4B7797A6}" dt="2026-09-17T19:48:53.340" v="60" actId="403"/>
          <ac:spMkLst>
            <pc:docMk/>
            <pc:sldMk cId="0" sldId="258"/>
            <ac:spMk id="8" creationId="{00000000-0000-0000-0000-000000000000}"/>
          </ac:spMkLst>
        </pc:spChg>
        <pc:spChg chg="mod">
          <ac:chgData name="John Shorter" userId="755fde98-7d6a-4e3f-b457-9c24d3102ced" providerId="ADAL" clId="{C5F49310-AE28-4DB2-B4F7-BC9D4B7797A6}" dt="2026-09-17T19:49:09.318" v="61" actId="403"/>
          <ac:spMkLst>
            <pc:docMk/>
            <pc:sldMk cId="0" sldId="258"/>
            <ac:spMk id="11" creationId="{00000000-0000-0000-0000-000000000000}"/>
          </ac:spMkLst>
        </pc:spChg>
        <pc:spChg chg="mod">
          <ac:chgData name="John Shorter" userId="755fde98-7d6a-4e3f-b457-9c24d3102ced" providerId="ADAL" clId="{C5F49310-AE28-4DB2-B4F7-BC9D4B7797A6}" dt="2026-09-17T19:48:53.340" v="60" actId="403"/>
          <ac:spMkLst>
            <pc:docMk/>
            <pc:sldMk cId="0" sldId="258"/>
            <ac:spMk id="12" creationId="{00000000-0000-0000-0000-000000000000}"/>
          </ac:spMkLst>
        </pc:spChg>
        <pc:spChg chg="mod">
          <ac:chgData name="John Shorter" userId="755fde98-7d6a-4e3f-b457-9c24d3102ced" providerId="ADAL" clId="{C5F49310-AE28-4DB2-B4F7-BC9D4B7797A6}" dt="2026-09-17T19:48:22.871" v="56" actId="403"/>
          <ac:spMkLst>
            <pc:docMk/>
            <pc:sldMk cId="0" sldId="258"/>
            <ac:spMk id="13" creationId="{00000000-0000-0000-0000-000000000000}"/>
          </ac:spMkLst>
        </pc:spChg>
        <pc:spChg chg="mod">
          <ac:chgData name="John Shorter" userId="755fde98-7d6a-4e3f-b457-9c24d3102ced" providerId="ADAL" clId="{C5F49310-AE28-4DB2-B4F7-BC9D4B7797A6}" dt="2026-09-17T19:48:22.871" v="56" actId="403"/>
          <ac:spMkLst>
            <pc:docMk/>
            <pc:sldMk cId="0" sldId="258"/>
            <ac:spMk id="14" creationId="{00000000-0000-0000-0000-000000000000}"/>
          </ac:spMkLst>
        </pc:spChg>
        <pc:spChg chg="mod">
          <ac:chgData name="John Shorter" userId="755fde98-7d6a-4e3f-b457-9c24d3102ced" providerId="ADAL" clId="{C5F49310-AE28-4DB2-B4F7-BC9D4B7797A6}" dt="2026-09-17T19:49:09.318" v="61" actId="403"/>
          <ac:spMkLst>
            <pc:docMk/>
            <pc:sldMk cId="0" sldId="258"/>
            <ac:spMk id="15" creationId="{00000000-0000-0000-0000-000000000000}"/>
          </ac:spMkLst>
        </pc:spChg>
        <pc:spChg chg="mod">
          <ac:chgData name="John Shorter" userId="755fde98-7d6a-4e3f-b457-9c24d3102ced" providerId="ADAL" clId="{C5F49310-AE28-4DB2-B4F7-BC9D4B7797A6}" dt="2026-09-17T19:50:20.248" v="64" actId="14100"/>
          <ac:spMkLst>
            <pc:docMk/>
            <pc:sldMk cId="0" sldId="258"/>
            <ac:spMk id="16" creationId="{00000000-0000-0000-0000-000000000000}"/>
          </ac:spMkLst>
        </pc:spChg>
        <pc:spChg chg="mod">
          <ac:chgData name="John Shorter" userId="755fde98-7d6a-4e3f-b457-9c24d3102ced" providerId="ADAL" clId="{C5F49310-AE28-4DB2-B4F7-BC9D4B7797A6}" dt="2026-09-17T19:48:22.871" v="56" actId="403"/>
          <ac:spMkLst>
            <pc:docMk/>
            <pc:sldMk cId="0" sldId="258"/>
            <ac:spMk id="18" creationId="{00000000-0000-0000-0000-000000000000}"/>
          </ac:spMkLst>
        </pc:spChg>
        <pc:spChg chg="mod">
          <ac:chgData name="John Shorter" userId="755fde98-7d6a-4e3f-b457-9c24d3102ced" providerId="ADAL" clId="{C5F49310-AE28-4DB2-B4F7-BC9D4B7797A6}" dt="2026-09-17T19:49:09.318" v="61" actId="403"/>
          <ac:spMkLst>
            <pc:docMk/>
            <pc:sldMk cId="0" sldId="258"/>
            <ac:spMk id="19" creationId="{00000000-0000-0000-0000-000000000000}"/>
          </ac:spMkLst>
        </pc:spChg>
        <pc:spChg chg="mod">
          <ac:chgData name="John Shorter" userId="755fde98-7d6a-4e3f-b457-9c24d3102ced" providerId="ADAL" clId="{C5F49310-AE28-4DB2-B4F7-BC9D4B7797A6}" dt="2026-09-17T19:48:53.340" v="60" actId="403"/>
          <ac:spMkLst>
            <pc:docMk/>
            <pc:sldMk cId="0" sldId="258"/>
            <ac:spMk id="20" creationId="{00000000-0000-0000-0000-000000000000}"/>
          </ac:spMkLst>
        </pc:spChg>
        <pc:spChg chg="mod">
          <ac:chgData name="John Shorter" userId="755fde98-7d6a-4e3f-b457-9c24d3102ced" providerId="ADAL" clId="{C5F49310-AE28-4DB2-B4F7-BC9D4B7797A6}" dt="2026-09-17T19:48:22.871" v="56" actId="403"/>
          <ac:spMkLst>
            <pc:docMk/>
            <pc:sldMk cId="0" sldId="258"/>
            <ac:spMk id="21" creationId="{00000000-0000-0000-0000-000000000000}"/>
          </ac:spMkLst>
        </pc:spChg>
        <pc:spChg chg="mod">
          <ac:chgData name="John Shorter" userId="755fde98-7d6a-4e3f-b457-9c24d3102ced" providerId="ADAL" clId="{C5F49310-AE28-4DB2-B4F7-BC9D4B7797A6}" dt="2026-09-17T19:49:09.318" v="61" actId="403"/>
          <ac:spMkLst>
            <pc:docMk/>
            <pc:sldMk cId="0" sldId="258"/>
            <ac:spMk id="23" creationId="{00000000-0000-0000-0000-000000000000}"/>
          </ac:spMkLst>
        </pc:spChg>
        <pc:spChg chg="mod">
          <ac:chgData name="John Shorter" userId="755fde98-7d6a-4e3f-b457-9c24d3102ced" providerId="ADAL" clId="{C5F49310-AE28-4DB2-B4F7-BC9D4B7797A6}" dt="2026-09-17T19:48:53.340" v="60" actId="403"/>
          <ac:spMkLst>
            <pc:docMk/>
            <pc:sldMk cId="0" sldId="258"/>
            <ac:spMk id="24" creationId="{00000000-0000-0000-0000-000000000000}"/>
          </ac:spMkLst>
        </pc:spChg>
      </pc:sldChg>
      <pc:sldChg chg="modSp mod">
        <pc:chgData name="John Shorter" userId="755fde98-7d6a-4e3f-b457-9c24d3102ced" providerId="ADAL" clId="{C5F49310-AE28-4DB2-B4F7-BC9D4B7797A6}" dt="2026-09-17T19:51:43.860" v="68" actId="403"/>
        <pc:sldMkLst>
          <pc:docMk/>
          <pc:sldMk cId="0" sldId="259"/>
        </pc:sldMkLst>
        <pc:spChg chg="mod">
          <ac:chgData name="John Shorter" userId="755fde98-7d6a-4e3f-b457-9c24d3102ced" providerId="ADAL" clId="{C5F49310-AE28-4DB2-B4F7-BC9D4B7797A6}" dt="2026-09-17T19:51:27.729" v="65" actId="403"/>
          <ac:spMkLst>
            <pc:docMk/>
            <pc:sldMk cId="0" sldId="259"/>
            <ac:spMk id="2" creationId="{00000000-0000-0000-0000-000000000000}"/>
          </ac:spMkLst>
        </pc:spChg>
        <pc:spChg chg="mod">
          <ac:chgData name="John Shorter" userId="755fde98-7d6a-4e3f-b457-9c24d3102ced" providerId="ADAL" clId="{C5F49310-AE28-4DB2-B4F7-BC9D4B7797A6}" dt="2026-09-17T19:51:43.860" v="68" actId="403"/>
          <ac:spMkLst>
            <pc:docMk/>
            <pc:sldMk cId="0" sldId="259"/>
            <ac:spMk id="6" creationId="{00000000-0000-0000-0000-000000000000}"/>
          </ac:spMkLst>
        </pc:spChg>
        <pc:spChg chg="mod">
          <ac:chgData name="John Shorter" userId="755fde98-7d6a-4e3f-b457-9c24d3102ced" providerId="ADAL" clId="{C5F49310-AE28-4DB2-B4F7-BC9D4B7797A6}" dt="2026-09-17T19:51:43.860" v="68" actId="403"/>
          <ac:spMkLst>
            <pc:docMk/>
            <pc:sldMk cId="0" sldId="259"/>
            <ac:spMk id="7" creationId="{00000000-0000-0000-0000-000000000000}"/>
          </ac:spMkLst>
        </pc:spChg>
        <pc:spChg chg="mod">
          <ac:chgData name="John Shorter" userId="755fde98-7d6a-4e3f-b457-9c24d3102ced" providerId="ADAL" clId="{C5F49310-AE28-4DB2-B4F7-BC9D4B7797A6}" dt="2026-09-17T19:51:43.860" v="68" actId="403"/>
          <ac:spMkLst>
            <pc:docMk/>
            <pc:sldMk cId="0" sldId="259"/>
            <ac:spMk id="8" creationId="{00000000-0000-0000-0000-000000000000}"/>
          </ac:spMkLst>
        </pc:spChg>
        <pc:spChg chg="mod">
          <ac:chgData name="John Shorter" userId="755fde98-7d6a-4e3f-b457-9c24d3102ced" providerId="ADAL" clId="{C5F49310-AE28-4DB2-B4F7-BC9D4B7797A6}" dt="2026-09-17T19:51:43.860" v="68" actId="403"/>
          <ac:spMkLst>
            <pc:docMk/>
            <pc:sldMk cId="0" sldId="259"/>
            <ac:spMk id="12" creationId="{00000000-0000-0000-0000-000000000000}"/>
          </ac:spMkLst>
        </pc:spChg>
        <pc:spChg chg="mod">
          <ac:chgData name="John Shorter" userId="755fde98-7d6a-4e3f-b457-9c24d3102ced" providerId="ADAL" clId="{C5F49310-AE28-4DB2-B4F7-BC9D4B7797A6}" dt="2026-09-17T19:51:43.860" v="68" actId="403"/>
          <ac:spMkLst>
            <pc:docMk/>
            <pc:sldMk cId="0" sldId="259"/>
            <ac:spMk id="13" creationId="{00000000-0000-0000-0000-000000000000}"/>
          </ac:spMkLst>
        </pc:spChg>
        <pc:spChg chg="mod">
          <ac:chgData name="John Shorter" userId="755fde98-7d6a-4e3f-b457-9c24d3102ced" providerId="ADAL" clId="{C5F49310-AE28-4DB2-B4F7-BC9D4B7797A6}" dt="2026-09-17T19:51:43.860" v="68" actId="403"/>
          <ac:spMkLst>
            <pc:docMk/>
            <pc:sldMk cId="0" sldId="259"/>
            <ac:spMk id="14" creationId="{00000000-0000-0000-0000-000000000000}"/>
          </ac:spMkLst>
        </pc:spChg>
        <pc:spChg chg="mod">
          <ac:chgData name="John Shorter" userId="755fde98-7d6a-4e3f-b457-9c24d3102ced" providerId="ADAL" clId="{C5F49310-AE28-4DB2-B4F7-BC9D4B7797A6}" dt="2026-09-17T19:51:43.860" v="68" actId="403"/>
          <ac:spMkLst>
            <pc:docMk/>
            <pc:sldMk cId="0" sldId="259"/>
            <ac:spMk id="18" creationId="{00000000-0000-0000-0000-000000000000}"/>
          </ac:spMkLst>
        </pc:spChg>
        <pc:spChg chg="mod">
          <ac:chgData name="John Shorter" userId="755fde98-7d6a-4e3f-b457-9c24d3102ced" providerId="ADAL" clId="{C5F49310-AE28-4DB2-B4F7-BC9D4B7797A6}" dt="2026-09-17T19:51:43.860" v="68" actId="403"/>
          <ac:spMkLst>
            <pc:docMk/>
            <pc:sldMk cId="0" sldId="259"/>
            <ac:spMk id="19" creationId="{00000000-0000-0000-0000-000000000000}"/>
          </ac:spMkLst>
        </pc:spChg>
        <pc:spChg chg="mod">
          <ac:chgData name="John Shorter" userId="755fde98-7d6a-4e3f-b457-9c24d3102ced" providerId="ADAL" clId="{C5F49310-AE28-4DB2-B4F7-BC9D4B7797A6}" dt="2026-09-17T19:51:43.860" v="68" actId="403"/>
          <ac:spMkLst>
            <pc:docMk/>
            <pc:sldMk cId="0" sldId="259"/>
            <ac:spMk id="20" creationId="{00000000-0000-0000-0000-000000000000}"/>
          </ac:spMkLst>
        </pc:spChg>
        <pc:spChg chg="mod">
          <ac:chgData name="John Shorter" userId="755fde98-7d6a-4e3f-b457-9c24d3102ced" providerId="ADAL" clId="{C5F49310-AE28-4DB2-B4F7-BC9D4B7797A6}" dt="2026-09-17T19:51:43.860" v="68" actId="403"/>
          <ac:spMkLst>
            <pc:docMk/>
            <pc:sldMk cId="0" sldId="259"/>
            <ac:spMk id="21" creationId="{00000000-0000-0000-0000-000000000000}"/>
          </ac:spMkLst>
        </pc:spChg>
      </pc:sldChg>
      <pc:sldChg chg="addSp delSp modSp mod delAnim modAnim">
        <pc:chgData name="John Shorter" userId="755fde98-7d6a-4e3f-b457-9c24d3102ced" providerId="ADAL" clId="{C5F49310-AE28-4DB2-B4F7-BC9D4B7797A6}" dt="2026-09-18T12:23:50.506" v="1235"/>
        <pc:sldMkLst>
          <pc:docMk/>
          <pc:sldMk cId="0" sldId="260"/>
        </pc:sldMkLst>
        <pc:spChg chg="mod">
          <ac:chgData name="John Shorter" userId="755fde98-7d6a-4e3f-b457-9c24d3102ced" providerId="ADAL" clId="{C5F49310-AE28-4DB2-B4F7-BC9D4B7797A6}" dt="2026-09-17T19:53:21.786" v="84" actId="403"/>
          <ac:spMkLst>
            <pc:docMk/>
            <pc:sldMk cId="0" sldId="260"/>
            <ac:spMk id="2" creationId="{00000000-0000-0000-0000-000000000000}"/>
          </ac:spMkLst>
        </pc:spChg>
        <pc:spChg chg="mod">
          <ac:chgData name="John Shorter" userId="755fde98-7d6a-4e3f-b457-9c24d3102ced" providerId="ADAL" clId="{C5F49310-AE28-4DB2-B4F7-BC9D4B7797A6}" dt="2026-09-17T19:53:21.786" v="84" actId="403"/>
          <ac:spMkLst>
            <pc:docMk/>
            <pc:sldMk cId="0" sldId="260"/>
            <ac:spMk id="5" creationId="{00000000-0000-0000-0000-000000000000}"/>
          </ac:spMkLst>
        </pc:spChg>
        <pc:spChg chg="mod">
          <ac:chgData name="John Shorter" userId="755fde98-7d6a-4e3f-b457-9c24d3102ced" providerId="ADAL" clId="{C5F49310-AE28-4DB2-B4F7-BC9D4B7797A6}" dt="2026-09-17T19:53:21.786" v="84" actId="403"/>
          <ac:spMkLst>
            <pc:docMk/>
            <pc:sldMk cId="0" sldId="260"/>
            <ac:spMk id="6" creationId="{00000000-0000-0000-0000-000000000000}"/>
          </ac:spMkLst>
        </pc:spChg>
        <pc:spChg chg="mod">
          <ac:chgData name="John Shorter" userId="755fde98-7d6a-4e3f-b457-9c24d3102ced" providerId="ADAL" clId="{C5F49310-AE28-4DB2-B4F7-BC9D4B7797A6}" dt="2026-09-17T19:53:21.786" v="84" actId="403"/>
          <ac:spMkLst>
            <pc:docMk/>
            <pc:sldMk cId="0" sldId="260"/>
            <ac:spMk id="7" creationId="{00000000-0000-0000-0000-000000000000}"/>
          </ac:spMkLst>
        </pc:spChg>
        <pc:spChg chg="mod">
          <ac:chgData name="John Shorter" userId="755fde98-7d6a-4e3f-b457-9c24d3102ced" providerId="ADAL" clId="{C5F49310-AE28-4DB2-B4F7-BC9D4B7797A6}" dt="2026-09-18T09:09:42.575" v="434" actId="14100"/>
          <ac:spMkLst>
            <pc:docMk/>
            <pc:sldMk cId="0" sldId="260"/>
            <ac:spMk id="9" creationId="{00000000-0000-0000-0000-000000000000}"/>
          </ac:spMkLst>
        </pc:spChg>
        <pc:spChg chg="mod">
          <ac:chgData name="John Shorter" userId="755fde98-7d6a-4e3f-b457-9c24d3102ced" providerId="ADAL" clId="{C5F49310-AE28-4DB2-B4F7-BC9D4B7797A6}" dt="2026-09-17T19:53:21.786" v="84" actId="403"/>
          <ac:spMkLst>
            <pc:docMk/>
            <pc:sldMk cId="0" sldId="260"/>
            <ac:spMk id="12" creationId="{00000000-0000-0000-0000-000000000000}"/>
          </ac:spMkLst>
        </pc:spChg>
        <pc:spChg chg="mod">
          <ac:chgData name="John Shorter" userId="755fde98-7d6a-4e3f-b457-9c24d3102ced" providerId="ADAL" clId="{C5F49310-AE28-4DB2-B4F7-BC9D4B7797A6}" dt="2026-09-17T19:53:21.786" v="84" actId="403"/>
          <ac:spMkLst>
            <pc:docMk/>
            <pc:sldMk cId="0" sldId="260"/>
            <ac:spMk id="13" creationId="{00000000-0000-0000-0000-000000000000}"/>
          </ac:spMkLst>
        </pc:spChg>
        <pc:spChg chg="mod">
          <ac:chgData name="John Shorter" userId="755fde98-7d6a-4e3f-b457-9c24d3102ced" providerId="ADAL" clId="{C5F49310-AE28-4DB2-B4F7-BC9D4B7797A6}" dt="2026-09-17T19:53:21.786" v="84" actId="403"/>
          <ac:spMkLst>
            <pc:docMk/>
            <pc:sldMk cId="0" sldId="260"/>
            <ac:spMk id="15" creationId="{00000000-0000-0000-0000-000000000000}"/>
          </ac:spMkLst>
        </pc:spChg>
        <pc:spChg chg="mod">
          <ac:chgData name="John Shorter" userId="755fde98-7d6a-4e3f-b457-9c24d3102ced" providerId="ADAL" clId="{C5F49310-AE28-4DB2-B4F7-BC9D4B7797A6}" dt="2026-09-17T19:53:21.786" v="84" actId="403"/>
          <ac:spMkLst>
            <pc:docMk/>
            <pc:sldMk cId="0" sldId="260"/>
            <ac:spMk id="17" creationId="{00000000-0000-0000-0000-000000000000}"/>
          </ac:spMkLst>
        </pc:spChg>
        <pc:spChg chg="mod">
          <ac:chgData name="John Shorter" userId="755fde98-7d6a-4e3f-b457-9c24d3102ced" providerId="ADAL" clId="{C5F49310-AE28-4DB2-B4F7-BC9D4B7797A6}" dt="2026-09-17T19:53:21.786" v="84" actId="403"/>
          <ac:spMkLst>
            <pc:docMk/>
            <pc:sldMk cId="0" sldId="260"/>
            <ac:spMk id="18" creationId="{00000000-0000-0000-0000-000000000000}"/>
          </ac:spMkLst>
        </pc:spChg>
        <pc:spChg chg="mod">
          <ac:chgData name="John Shorter" userId="755fde98-7d6a-4e3f-b457-9c24d3102ced" providerId="ADAL" clId="{C5F49310-AE28-4DB2-B4F7-BC9D4B7797A6}" dt="2026-09-17T19:53:21.786" v="84" actId="403"/>
          <ac:spMkLst>
            <pc:docMk/>
            <pc:sldMk cId="0" sldId="260"/>
            <ac:spMk id="19" creationId="{00000000-0000-0000-0000-000000000000}"/>
          </ac:spMkLst>
        </pc:spChg>
        <pc:picChg chg="add mod">
          <ac:chgData name="John Shorter" userId="755fde98-7d6a-4e3f-b457-9c24d3102ced" providerId="ADAL" clId="{C5F49310-AE28-4DB2-B4F7-BC9D4B7797A6}" dt="2026-09-18T12:23:26.940" v="1226" actId="1076"/>
          <ac:picMkLst>
            <pc:docMk/>
            <pc:sldMk cId="0" sldId="260"/>
            <ac:picMk id="22" creationId="{EC4596B1-0A9C-4B4D-366C-A7AC6E3B70E5}"/>
          </ac:picMkLst>
        </pc:picChg>
        <pc:picChg chg="add mod">
          <ac:chgData name="John Shorter" userId="755fde98-7d6a-4e3f-b457-9c24d3102ced" providerId="ADAL" clId="{C5F49310-AE28-4DB2-B4F7-BC9D4B7797A6}" dt="2026-09-18T12:23:30.625" v="1227" actId="1076"/>
          <ac:picMkLst>
            <pc:docMk/>
            <pc:sldMk cId="0" sldId="260"/>
            <ac:picMk id="26" creationId="{678D9F72-9985-707D-768F-60500AB51B0E}"/>
          </ac:picMkLst>
        </pc:picChg>
        <pc:picChg chg="add mod">
          <ac:chgData name="John Shorter" userId="755fde98-7d6a-4e3f-b457-9c24d3102ced" providerId="ADAL" clId="{C5F49310-AE28-4DB2-B4F7-BC9D4B7797A6}" dt="2026-09-18T12:23:34.744" v="1232" actId="1035"/>
          <ac:picMkLst>
            <pc:docMk/>
            <pc:sldMk cId="0" sldId="260"/>
            <ac:picMk id="27" creationId="{60555220-901F-50BC-9305-7ED2E66DD8A3}"/>
          </ac:picMkLst>
        </pc:picChg>
      </pc:sldChg>
      <pc:sldChg chg="modSp mod">
        <pc:chgData name="John Shorter" userId="755fde98-7d6a-4e3f-b457-9c24d3102ced" providerId="ADAL" clId="{C5F49310-AE28-4DB2-B4F7-BC9D4B7797A6}" dt="2026-09-17T19:54:23.291" v="89" actId="1076"/>
        <pc:sldMkLst>
          <pc:docMk/>
          <pc:sldMk cId="0" sldId="261"/>
        </pc:sldMkLst>
        <pc:spChg chg="mod">
          <ac:chgData name="John Shorter" userId="755fde98-7d6a-4e3f-b457-9c24d3102ced" providerId="ADAL" clId="{C5F49310-AE28-4DB2-B4F7-BC9D4B7797A6}" dt="2026-09-17T19:54:23.291" v="89" actId="1076"/>
          <ac:spMkLst>
            <pc:docMk/>
            <pc:sldMk cId="0" sldId="261"/>
            <ac:spMk id="2" creationId="{00000000-0000-0000-0000-000000000000}"/>
          </ac:spMkLst>
        </pc:spChg>
        <pc:spChg chg="mod">
          <ac:chgData name="John Shorter" userId="755fde98-7d6a-4e3f-b457-9c24d3102ced" providerId="ADAL" clId="{C5F49310-AE28-4DB2-B4F7-BC9D4B7797A6}" dt="2026-09-17T19:54:10.463" v="88" actId="403"/>
          <ac:spMkLst>
            <pc:docMk/>
            <pc:sldMk cId="0" sldId="261"/>
            <ac:spMk id="4" creationId="{00000000-0000-0000-0000-000000000000}"/>
          </ac:spMkLst>
        </pc:spChg>
        <pc:spChg chg="mod">
          <ac:chgData name="John Shorter" userId="755fde98-7d6a-4e3f-b457-9c24d3102ced" providerId="ADAL" clId="{C5F49310-AE28-4DB2-B4F7-BC9D4B7797A6}" dt="2026-09-17T19:54:10.463" v="88" actId="403"/>
          <ac:spMkLst>
            <pc:docMk/>
            <pc:sldMk cId="0" sldId="261"/>
            <ac:spMk id="5" creationId="{00000000-0000-0000-0000-000000000000}"/>
          </ac:spMkLst>
        </pc:spChg>
        <pc:spChg chg="mod">
          <ac:chgData name="John Shorter" userId="755fde98-7d6a-4e3f-b457-9c24d3102ced" providerId="ADAL" clId="{C5F49310-AE28-4DB2-B4F7-BC9D4B7797A6}" dt="2026-09-17T19:54:10.463" v="88" actId="403"/>
          <ac:spMkLst>
            <pc:docMk/>
            <pc:sldMk cId="0" sldId="261"/>
            <ac:spMk id="6" creationId="{00000000-0000-0000-0000-000000000000}"/>
          </ac:spMkLst>
        </pc:spChg>
        <pc:graphicFrameChg chg="mod">
          <ac:chgData name="John Shorter" userId="755fde98-7d6a-4e3f-b457-9c24d3102ced" providerId="ADAL" clId="{C5F49310-AE28-4DB2-B4F7-BC9D4B7797A6}" dt="2026-09-17T19:54:10.463" v="88" actId="403"/>
          <ac:graphicFrameMkLst>
            <pc:docMk/>
            <pc:sldMk cId="0" sldId="261"/>
            <ac:graphicFrameMk id="3" creationId="{00000000-0000-0000-0000-000000000000}"/>
          </ac:graphicFrameMkLst>
        </pc:graphicFrameChg>
      </pc:sldChg>
      <pc:sldChg chg="modSp">
        <pc:chgData name="John Shorter" userId="755fde98-7d6a-4e3f-b457-9c24d3102ced" providerId="ADAL" clId="{C5F49310-AE28-4DB2-B4F7-BC9D4B7797A6}" dt="2026-09-17T19:55:49.522" v="92" actId="403"/>
        <pc:sldMkLst>
          <pc:docMk/>
          <pc:sldMk cId="0" sldId="262"/>
        </pc:sldMkLst>
        <pc:spChg chg="mod">
          <ac:chgData name="John Shorter" userId="755fde98-7d6a-4e3f-b457-9c24d3102ced" providerId="ADAL" clId="{C5F49310-AE28-4DB2-B4F7-BC9D4B7797A6}" dt="2026-09-17T19:55:49.522" v="92" actId="403"/>
          <ac:spMkLst>
            <pc:docMk/>
            <pc:sldMk cId="0" sldId="262"/>
            <ac:spMk id="2" creationId="{00000000-0000-0000-0000-000000000000}"/>
          </ac:spMkLst>
        </pc:spChg>
        <pc:spChg chg="mod">
          <ac:chgData name="John Shorter" userId="755fde98-7d6a-4e3f-b457-9c24d3102ced" providerId="ADAL" clId="{C5F49310-AE28-4DB2-B4F7-BC9D4B7797A6}" dt="2026-09-17T19:55:49.522" v="92" actId="403"/>
          <ac:spMkLst>
            <pc:docMk/>
            <pc:sldMk cId="0" sldId="262"/>
            <ac:spMk id="4" creationId="{00000000-0000-0000-0000-000000000000}"/>
          </ac:spMkLst>
        </pc:spChg>
        <pc:spChg chg="mod">
          <ac:chgData name="John Shorter" userId="755fde98-7d6a-4e3f-b457-9c24d3102ced" providerId="ADAL" clId="{C5F49310-AE28-4DB2-B4F7-BC9D4B7797A6}" dt="2026-09-17T19:55:49.522" v="92" actId="403"/>
          <ac:spMkLst>
            <pc:docMk/>
            <pc:sldMk cId="0" sldId="262"/>
            <ac:spMk id="5" creationId="{00000000-0000-0000-0000-000000000000}"/>
          </ac:spMkLst>
        </pc:spChg>
        <pc:spChg chg="mod">
          <ac:chgData name="John Shorter" userId="755fde98-7d6a-4e3f-b457-9c24d3102ced" providerId="ADAL" clId="{C5F49310-AE28-4DB2-B4F7-BC9D4B7797A6}" dt="2026-09-17T19:55:49.522" v="92" actId="403"/>
          <ac:spMkLst>
            <pc:docMk/>
            <pc:sldMk cId="0" sldId="262"/>
            <ac:spMk id="6" creationId="{00000000-0000-0000-0000-000000000000}"/>
          </ac:spMkLst>
        </pc:spChg>
        <pc:spChg chg="mod">
          <ac:chgData name="John Shorter" userId="755fde98-7d6a-4e3f-b457-9c24d3102ced" providerId="ADAL" clId="{C5F49310-AE28-4DB2-B4F7-BC9D4B7797A6}" dt="2026-09-17T19:55:49.522" v="92" actId="403"/>
          <ac:spMkLst>
            <pc:docMk/>
            <pc:sldMk cId="0" sldId="262"/>
            <ac:spMk id="7" creationId="{00000000-0000-0000-0000-000000000000}"/>
          </ac:spMkLst>
        </pc:spChg>
        <pc:graphicFrameChg chg="mod">
          <ac:chgData name="John Shorter" userId="755fde98-7d6a-4e3f-b457-9c24d3102ced" providerId="ADAL" clId="{C5F49310-AE28-4DB2-B4F7-BC9D4B7797A6}" dt="2026-09-17T19:55:49.522" v="92" actId="403"/>
          <ac:graphicFrameMkLst>
            <pc:docMk/>
            <pc:sldMk cId="0" sldId="262"/>
            <ac:graphicFrameMk id="3" creationId="{00000000-0000-0000-0000-000000000000}"/>
          </ac:graphicFrameMkLst>
        </pc:graphicFrameChg>
      </pc:sldChg>
      <pc:sldChg chg="modSp mod">
        <pc:chgData name="John Shorter" userId="755fde98-7d6a-4e3f-b457-9c24d3102ced" providerId="ADAL" clId="{C5F49310-AE28-4DB2-B4F7-BC9D4B7797A6}" dt="2026-09-18T09:27:20.745" v="615" actId="1076"/>
        <pc:sldMkLst>
          <pc:docMk/>
          <pc:sldMk cId="0" sldId="263"/>
        </pc:sldMkLst>
        <pc:spChg chg="mod">
          <ac:chgData name="John Shorter" userId="755fde98-7d6a-4e3f-b457-9c24d3102ced" providerId="ADAL" clId="{C5F49310-AE28-4DB2-B4F7-BC9D4B7797A6}" dt="2026-09-17T20:34:24.750" v="96" actId="403"/>
          <ac:spMkLst>
            <pc:docMk/>
            <pc:sldMk cId="0" sldId="263"/>
            <ac:spMk id="2" creationId="{00000000-0000-0000-0000-000000000000}"/>
          </ac:spMkLst>
        </pc:spChg>
        <pc:spChg chg="mod">
          <ac:chgData name="John Shorter" userId="755fde98-7d6a-4e3f-b457-9c24d3102ced" providerId="ADAL" clId="{C5F49310-AE28-4DB2-B4F7-BC9D4B7797A6}" dt="2026-09-17T20:34:14.270" v="95" actId="403"/>
          <ac:spMkLst>
            <pc:docMk/>
            <pc:sldMk cId="0" sldId="263"/>
            <ac:spMk id="5" creationId="{00000000-0000-0000-0000-000000000000}"/>
          </ac:spMkLst>
        </pc:spChg>
        <pc:spChg chg="mod">
          <ac:chgData name="John Shorter" userId="755fde98-7d6a-4e3f-b457-9c24d3102ced" providerId="ADAL" clId="{C5F49310-AE28-4DB2-B4F7-BC9D4B7797A6}" dt="2026-09-17T20:34:14.270" v="95" actId="403"/>
          <ac:spMkLst>
            <pc:docMk/>
            <pc:sldMk cId="0" sldId="263"/>
            <ac:spMk id="6" creationId="{00000000-0000-0000-0000-000000000000}"/>
          </ac:spMkLst>
        </pc:spChg>
        <pc:spChg chg="mod">
          <ac:chgData name="John Shorter" userId="755fde98-7d6a-4e3f-b457-9c24d3102ced" providerId="ADAL" clId="{C5F49310-AE28-4DB2-B4F7-BC9D4B7797A6}" dt="2026-09-17T20:34:14.270" v="95" actId="403"/>
          <ac:spMkLst>
            <pc:docMk/>
            <pc:sldMk cId="0" sldId="263"/>
            <ac:spMk id="7" creationId="{00000000-0000-0000-0000-000000000000}"/>
          </ac:spMkLst>
        </pc:spChg>
        <pc:spChg chg="mod">
          <ac:chgData name="John Shorter" userId="755fde98-7d6a-4e3f-b457-9c24d3102ced" providerId="ADAL" clId="{C5F49310-AE28-4DB2-B4F7-BC9D4B7797A6}" dt="2026-09-17T20:34:14.270" v="95" actId="403"/>
          <ac:spMkLst>
            <pc:docMk/>
            <pc:sldMk cId="0" sldId="263"/>
            <ac:spMk id="8" creationId="{00000000-0000-0000-0000-000000000000}"/>
          </ac:spMkLst>
        </pc:spChg>
        <pc:spChg chg="mod">
          <ac:chgData name="John Shorter" userId="755fde98-7d6a-4e3f-b457-9c24d3102ced" providerId="ADAL" clId="{C5F49310-AE28-4DB2-B4F7-BC9D4B7797A6}" dt="2026-09-17T20:34:14.270" v="95" actId="403"/>
          <ac:spMkLst>
            <pc:docMk/>
            <pc:sldMk cId="0" sldId="263"/>
            <ac:spMk id="13" creationId="{00000000-0000-0000-0000-000000000000}"/>
          </ac:spMkLst>
        </pc:spChg>
        <pc:spChg chg="mod">
          <ac:chgData name="John Shorter" userId="755fde98-7d6a-4e3f-b457-9c24d3102ced" providerId="ADAL" clId="{C5F49310-AE28-4DB2-B4F7-BC9D4B7797A6}" dt="2026-09-17T20:34:14.270" v="95" actId="403"/>
          <ac:spMkLst>
            <pc:docMk/>
            <pc:sldMk cId="0" sldId="263"/>
            <ac:spMk id="17" creationId="{00000000-0000-0000-0000-000000000000}"/>
          </ac:spMkLst>
        </pc:spChg>
        <pc:spChg chg="mod">
          <ac:chgData name="John Shorter" userId="755fde98-7d6a-4e3f-b457-9c24d3102ced" providerId="ADAL" clId="{C5F49310-AE28-4DB2-B4F7-BC9D4B7797A6}" dt="2026-09-17T20:34:14.270" v="95" actId="403"/>
          <ac:spMkLst>
            <pc:docMk/>
            <pc:sldMk cId="0" sldId="263"/>
            <ac:spMk id="20" creationId="{00000000-0000-0000-0000-000000000000}"/>
          </ac:spMkLst>
        </pc:spChg>
        <pc:spChg chg="mod">
          <ac:chgData name="John Shorter" userId="755fde98-7d6a-4e3f-b457-9c24d3102ced" providerId="ADAL" clId="{C5F49310-AE28-4DB2-B4F7-BC9D4B7797A6}" dt="2026-09-17T20:34:14.270" v="95" actId="403"/>
          <ac:spMkLst>
            <pc:docMk/>
            <pc:sldMk cId="0" sldId="263"/>
            <ac:spMk id="21" creationId="{00000000-0000-0000-0000-000000000000}"/>
          </ac:spMkLst>
        </pc:spChg>
        <pc:spChg chg="mod">
          <ac:chgData name="John Shorter" userId="755fde98-7d6a-4e3f-b457-9c24d3102ced" providerId="ADAL" clId="{C5F49310-AE28-4DB2-B4F7-BC9D4B7797A6}" dt="2026-09-17T20:34:14.270" v="95" actId="403"/>
          <ac:spMkLst>
            <pc:docMk/>
            <pc:sldMk cId="0" sldId="263"/>
            <ac:spMk id="22" creationId="{00000000-0000-0000-0000-000000000000}"/>
          </ac:spMkLst>
        </pc:spChg>
        <pc:spChg chg="mod">
          <ac:chgData name="John Shorter" userId="755fde98-7d6a-4e3f-b457-9c24d3102ced" providerId="ADAL" clId="{C5F49310-AE28-4DB2-B4F7-BC9D4B7797A6}" dt="2026-09-18T09:27:20.745" v="615" actId="1076"/>
          <ac:spMkLst>
            <pc:docMk/>
            <pc:sldMk cId="0" sldId="263"/>
            <ac:spMk id="29" creationId="{00000000-0000-0000-0000-000000000000}"/>
          </ac:spMkLst>
        </pc:spChg>
      </pc:sldChg>
      <pc:sldChg chg="delSp modSp mod">
        <pc:chgData name="John Shorter" userId="755fde98-7d6a-4e3f-b457-9c24d3102ced" providerId="ADAL" clId="{C5F49310-AE28-4DB2-B4F7-BC9D4B7797A6}" dt="2026-09-18T09:28:01.056" v="616" actId="478"/>
        <pc:sldMkLst>
          <pc:docMk/>
          <pc:sldMk cId="0" sldId="264"/>
        </pc:sldMkLst>
        <pc:spChg chg="mod">
          <ac:chgData name="John Shorter" userId="755fde98-7d6a-4e3f-b457-9c24d3102ced" providerId="ADAL" clId="{C5F49310-AE28-4DB2-B4F7-BC9D4B7797A6}" dt="2026-09-17T20:35:13.857" v="101" actId="1076"/>
          <ac:spMkLst>
            <pc:docMk/>
            <pc:sldMk cId="0" sldId="264"/>
            <ac:spMk id="2" creationId="{00000000-0000-0000-0000-000000000000}"/>
          </ac:spMkLst>
        </pc:spChg>
        <pc:spChg chg="mod">
          <ac:chgData name="John Shorter" userId="755fde98-7d6a-4e3f-b457-9c24d3102ced" providerId="ADAL" clId="{C5F49310-AE28-4DB2-B4F7-BC9D4B7797A6}" dt="2026-09-17T20:35:09.997" v="100" actId="403"/>
          <ac:spMkLst>
            <pc:docMk/>
            <pc:sldMk cId="0" sldId="264"/>
            <ac:spMk id="6" creationId="{00000000-0000-0000-0000-000000000000}"/>
          </ac:spMkLst>
        </pc:spChg>
        <pc:spChg chg="mod">
          <ac:chgData name="John Shorter" userId="755fde98-7d6a-4e3f-b457-9c24d3102ced" providerId="ADAL" clId="{C5F49310-AE28-4DB2-B4F7-BC9D4B7797A6}" dt="2026-09-17T20:35:09.997" v="100" actId="403"/>
          <ac:spMkLst>
            <pc:docMk/>
            <pc:sldMk cId="0" sldId="264"/>
            <ac:spMk id="8" creationId="{00000000-0000-0000-0000-000000000000}"/>
          </ac:spMkLst>
        </pc:spChg>
        <pc:spChg chg="mod">
          <ac:chgData name="John Shorter" userId="755fde98-7d6a-4e3f-b457-9c24d3102ced" providerId="ADAL" clId="{C5F49310-AE28-4DB2-B4F7-BC9D4B7797A6}" dt="2026-09-17T20:35:09.997" v="100" actId="403"/>
          <ac:spMkLst>
            <pc:docMk/>
            <pc:sldMk cId="0" sldId="264"/>
            <ac:spMk id="9" creationId="{00000000-0000-0000-0000-000000000000}"/>
          </ac:spMkLst>
        </pc:spChg>
        <pc:spChg chg="mod">
          <ac:chgData name="John Shorter" userId="755fde98-7d6a-4e3f-b457-9c24d3102ced" providerId="ADAL" clId="{C5F49310-AE28-4DB2-B4F7-BC9D4B7797A6}" dt="2026-09-17T20:35:09.997" v="100" actId="403"/>
          <ac:spMkLst>
            <pc:docMk/>
            <pc:sldMk cId="0" sldId="264"/>
            <ac:spMk id="10" creationId="{00000000-0000-0000-0000-000000000000}"/>
          </ac:spMkLst>
        </pc:spChg>
        <pc:spChg chg="mod">
          <ac:chgData name="John Shorter" userId="755fde98-7d6a-4e3f-b457-9c24d3102ced" providerId="ADAL" clId="{C5F49310-AE28-4DB2-B4F7-BC9D4B7797A6}" dt="2026-09-17T20:35:09.997" v="100" actId="403"/>
          <ac:spMkLst>
            <pc:docMk/>
            <pc:sldMk cId="0" sldId="264"/>
            <ac:spMk id="14" creationId="{00000000-0000-0000-0000-000000000000}"/>
          </ac:spMkLst>
        </pc:spChg>
        <pc:spChg chg="mod">
          <ac:chgData name="John Shorter" userId="755fde98-7d6a-4e3f-b457-9c24d3102ced" providerId="ADAL" clId="{C5F49310-AE28-4DB2-B4F7-BC9D4B7797A6}" dt="2026-09-17T20:35:09.997" v="100" actId="403"/>
          <ac:spMkLst>
            <pc:docMk/>
            <pc:sldMk cId="0" sldId="264"/>
            <ac:spMk id="18" creationId="{00000000-0000-0000-0000-000000000000}"/>
          </ac:spMkLst>
        </pc:spChg>
        <pc:spChg chg="mod">
          <ac:chgData name="John Shorter" userId="755fde98-7d6a-4e3f-b457-9c24d3102ced" providerId="ADAL" clId="{C5F49310-AE28-4DB2-B4F7-BC9D4B7797A6}" dt="2026-09-17T20:35:09.997" v="100" actId="403"/>
          <ac:spMkLst>
            <pc:docMk/>
            <pc:sldMk cId="0" sldId="264"/>
            <ac:spMk id="20" creationId="{00000000-0000-0000-0000-000000000000}"/>
          </ac:spMkLst>
        </pc:spChg>
        <pc:spChg chg="mod">
          <ac:chgData name="John Shorter" userId="755fde98-7d6a-4e3f-b457-9c24d3102ced" providerId="ADAL" clId="{C5F49310-AE28-4DB2-B4F7-BC9D4B7797A6}" dt="2026-09-17T20:35:09.997" v="100" actId="403"/>
          <ac:spMkLst>
            <pc:docMk/>
            <pc:sldMk cId="0" sldId="264"/>
            <ac:spMk id="23" creationId="{00000000-0000-0000-0000-000000000000}"/>
          </ac:spMkLst>
        </pc:spChg>
        <pc:spChg chg="mod">
          <ac:chgData name="John Shorter" userId="755fde98-7d6a-4e3f-b457-9c24d3102ced" providerId="ADAL" clId="{C5F49310-AE28-4DB2-B4F7-BC9D4B7797A6}" dt="2026-09-17T20:35:09.997" v="100" actId="403"/>
          <ac:spMkLst>
            <pc:docMk/>
            <pc:sldMk cId="0" sldId="264"/>
            <ac:spMk id="24" creationId="{00000000-0000-0000-0000-000000000000}"/>
          </ac:spMkLst>
        </pc:spChg>
        <pc:spChg chg="mod">
          <ac:chgData name="John Shorter" userId="755fde98-7d6a-4e3f-b457-9c24d3102ced" providerId="ADAL" clId="{C5F49310-AE28-4DB2-B4F7-BC9D4B7797A6}" dt="2026-09-17T20:35:09.997" v="100" actId="403"/>
          <ac:spMkLst>
            <pc:docMk/>
            <pc:sldMk cId="0" sldId="264"/>
            <ac:spMk id="25" creationId="{00000000-0000-0000-0000-000000000000}"/>
          </ac:spMkLst>
        </pc:spChg>
      </pc:sldChg>
      <pc:sldChg chg="modSp mod">
        <pc:chgData name="John Shorter" userId="755fde98-7d6a-4e3f-b457-9c24d3102ced" providerId="ADAL" clId="{C5F49310-AE28-4DB2-B4F7-BC9D4B7797A6}" dt="2026-09-18T09:37:57.337" v="871" actId="20577"/>
        <pc:sldMkLst>
          <pc:docMk/>
          <pc:sldMk cId="0" sldId="265"/>
        </pc:sldMkLst>
        <pc:spChg chg="mod">
          <ac:chgData name="John Shorter" userId="755fde98-7d6a-4e3f-b457-9c24d3102ced" providerId="ADAL" clId="{C5F49310-AE28-4DB2-B4F7-BC9D4B7797A6}" dt="2026-09-17T20:35:37.724" v="106" actId="1076"/>
          <ac:spMkLst>
            <pc:docMk/>
            <pc:sldMk cId="0" sldId="265"/>
            <ac:spMk id="2" creationId="{00000000-0000-0000-0000-000000000000}"/>
          </ac:spMkLst>
        </pc:spChg>
        <pc:spChg chg="mod">
          <ac:chgData name="John Shorter" userId="755fde98-7d6a-4e3f-b457-9c24d3102ced" providerId="ADAL" clId="{C5F49310-AE28-4DB2-B4F7-BC9D4B7797A6}" dt="2026-09-17T20:35:32.444" v="105" actId="403"/>
          <ac:spMkLst>
            <pc:docMk/>
            <pc:sldMk cId="0" sldId="265"/>
            <ac:spMk id="4" creationId="{00000000-0000-0000-0000-000000000000}"/>
          </ac:spMkLst>
        </pc:spChg>
        <pc:spChg chg="mod">
          <ac:chgData name="John Shorter" userId="755fde98-7d6a-4e3f-b457-9c24d3102ced" providerId="ADAL" clId="{C5F49310-AE28-4DB2-B4F7-BC9D4B7797A6}" dt="2026-09-17T20:35:32.444" v="105" actId="403"/>
          <ac:spMkLst>
            <pc:docMk/>
            <pc:sldMk cId="0" sldId="265"/>
            <ac:spMk id="5" creationId="{00000000-0000-0000-0000-000000000000}"/>
          </ac:spMkLst>
        </pc:spChg>
        <pc:spChg chg="mod">
          <ac:chgData name="John Shorter" userId="755fde98-7d6a-4e3f-b457-9c24d3102ced" providerId="ADAL" clId="{C5F49310-AE28-4DB2-B4F7-BC9D4B7797A6}" dt="2026-09-17T20:35:32.444" v="105" actId="403"/>
          <ac:spMkLst>
            <pc:docMk/>
            <pc:sldMk cId="0" sldId="265"/>
            <ac:spMk id="8" creationId="{00000000-0000-0000-0000-000000000000}"/>
          </ac:spMkLst>
        </pc:spChg>
        <pc:spChg chg="mod">
          <ac:chgData name="John Shorter" userId="755fde98-7d6a-4e3f-b457-9c24d3102ced" providerId="ADAL" clId="{C5F49310-AE28-4DB2-B4F7-BC9D4B7797A6}" dt="2026-09-17T20:35:32.444" v="105" actId="403"/>
          <ac:spMkLst>
            <pc:docMk/>
            <pc:sldMk cId="0" sldId="265"/>
            <ac:spMk id="9" creationId="{00000000-0000-0000-0000-000000000000}"/>
          </ac:spMkLst>
        </pc:spChg>
        <pc:spChg chg="mod">
          <ac:chgData name="John Shorter" userId="755fde98-7d6a-4e3f-b457-9c24d3102ced" providerId="ADAL" clId="{C5F49310-AE28-4DB2-B4F7-BC9D4B7797A6}" dt="2026-09-17T20:35:32.444" v="105" actId="403"/>
          <ac:spMkLst>
            <pc:docMk/>
            <pc:sldMk cId="0" sldId="265"/>
            <ac:spMk id="11" creationId="{00000000-0000-0000-0000-000000000000}"/>
          </ac:spMkLst>
        </pc:spChg>
        <pc:spChg chg="mod">
          <ac:chgData name="John Shorter" userId="755fde98-7d6a-4e3f-b457-9c24d3102ced" providerId="ADAL" clId="{C5F49310-AE28-4DB2-B4F7-BC9D4B7797A6}" dt="2026-09-17T20:35:32.444" v="105" actId="403"/>
          <ac:spMkLst>
            <pc:docMk/>
            <pc:sldMk cId="0" sldId="265"/>
            <ac:spMk id="13" creationId="{00000000-0000-0000-0000-000000000000}"/>
          </ac:spMkLst>
        </pc:spChg>
        <pc:spChg chg="mod">
          <ac:chgData name="John Shorter" userId="755fde98-7d6a-4e3f-b457-9c24d3102ced" providerId="ADAL" clId="{C5F49310-AE28-4DB2-B4F7-BC9D4B7797A6}" dt="2026-09-18T09:37:57.337" v="871" actId="20577"/>
          <ac:spMkLst>
            <pc:docMk/>
            <pc:sldMk cId="0" sldId="265"/>
            <ac:spMk id="15" creationId="{00000000-0000-0000-0000-000000000000}"/>
          </ac:spMkLst>
        </pc:spChg>
        <pc:spChg chg="mod">
          <ac:chgData name="John Shorter" userId="755fde98-7d6a-4e3f-b457-9c24d3102ced" providerId="ADAL" clId="{C5F49310-AE28-4DB2-B4F7-BC9D4B7797A6}" dt="2026-09-17T20:35:32.444" v="105" actId="403"/>
          <ac:spMkLst>
            <pc:docMk/>
            <pc:sldMk cId="0" sldId="265"/>
            <ac:spMk id="16" creationId="{00000000-0000-0000-0000-000000000000}"/>
          </ac:spMkLst>
        </pc:spChg>
        <pc:spChg chg="mod">
          <ac:chgData name="John Shorter" userId="755fde98-7d6a-4e3f-b457-9c24d3102ced" providerId="ADAL" clId="{C5F49310-AE28-4DB2-B4F7-BC9D4B7797A6}" dt="2026-09-17T20:35:32.444" v="105" actId="403"/>
          <ac:spMkLst>
            <pc:docMk/>
            <pc:sldMk cId="0" sldId="265"/>
            <ac:spMk id="17" creationId="{00000000-0000-0000-0000-000000000000}"/>
          </ac:spMkLst>
        </pc:spChg>
      </pc:sldChg>
      <pc:sldChg chg="delSp modSp mod">
        <pc:chgData name="John Shorter" userId="755fde98-7d6a-4e3f-b457-9c24d3102ced" providerId="ADAL" clId="{C5F49310-AE28-4DB2-B4F7-BC9D4B7797A6}" dt="2026-09-18T11:51:39.194" v="1111" actId="478"/>
        <pc:sldMkLst>
          <pc:docMk/>
          <pc:sldMk cId="0" sldId="266"/>
        </pc:sldMkLst>
        <pc:spChg chg="mod">
          <ac:chgData name="John Shorter" userId="755fde98-7d6a-4e3f-b457-9c24d3102ced" providerId="ADAL" clId="{C5F49310-AE28-4DB2-B4F7-BC9D4B7797A6}" dt="2026-09-18T09:40:52.668" v="942" actId="403"/>
          <ac:spMkLst>
            <pc:docMk/>
            <pc:sldMk cId="0" sldId="266"/>
            <ac:spMk id="2" creationId="{00000000-0000-0000-0000-000000000000}"/>
          </ac:spMkLst>
        </pc:spChg>
      </pc:sldChg>
      <pc:sldChg chg="ord">
        <pc:chgData name="John Shorter" userId="755fde98-7d6a-4e3f-b457-9c24d3102ced" providerId="ADAL" clId="{C5F49310-AE28-4DB2-B4F7-BC9D4B7797A6}" dt="2026-09-18T09:42:37.988" v="944"/>
        <pc:sldMkLst>
          <pc:docMk/>
          <pc:sldMk cId="0" sldId="268"/>
        </pc:sldMkLst>
      </pc:sldChg>
      <pc:sldChg chg="delSp mod">
        <pc:chgData name="John Shorter" userId="755fde98-7d6a-4e3f-b457-9c24d3102ced" providerId="ADAL" clId="{C5F49310-AE28-4DB2-B4F7-BC9D4B7797A6}" dt="2026-09-18T11:57:01" v="1144" actId="478"/>
        <pc:sldMkLst>
          <pc:docMk/>
          <pc:sldMk cId="0" sldId="269"/>
        </pc:sldMkLst>
      </pc:sldChg>
      <pc:sldChg chg="delSp modSp mod">
        <pc:chgData name="John Shorter" userId="755fde98-7d6a-4e3f-b457-9c24d3102ced" providerId="ADAL" clId="{C5F49310-AE28-4DB2-B4F7-BC9D4B7797A6}" dt="2026-09-18T12:01:00.288" v="1190" actId="403"/>
        <pc:sldMkLst>
          <pc:docMk/>
          <pc:sldMk cId="0" sldId="270"/>
        </pc:sldMkLst>
        <pc:spChg chg="mod">
          <ac:chgData name="John Shorter" userId="755fde98-7d6a-4e3f-b457-9c24d3102ced" providerId="ADAL" clId="{C5F49310-AE28-4DB2-B4F7-BC9D4B7797A6}" dt="2026-09-18T12:01:00.288" v="1190" actId="403"/>
          <ac:spMkLst>
            <pc:docMk/>
            <pc:sldMk cId="0" sldId="270"/>
            <ac:spMk id="2" creationId="{00000000-0000-0000-0000-000000000000}"/>
          </ac:spMkLst>
        </pc:spChg>
        <pc:spChg chg="mod">
          <ac:chgData name="John Shorter" userId="755fde98-7d6a-4e3f-b457-9c24d3102ced" providerId="ADAL" clId="{C5F49310-AE28-4DB2-B4F7-BC9D4B7797A6}" dt="2026-09-18T12:00:57.396" v="1189" actId="403"/>
          <ac:spMkLst>
            <pc:docMk/>
            <pc:sldMk cId="0" sldId="270"/>
            <ac:spMk id="4" creationId="{00000000-0000-0000-0000-000000000000}"/>
          </ac:spMkLst>
        </pc:spChg>
      </pc:sldChg>
      <pc:sldChg chg="modSp mod">
        <pc:chgData name="John Shorter" userId="755fde98-7d6a-4e3f-b457-9c24d3102ced" providerId="ADAL" clId="{C5F49310-AE28-4DB2-B4F7-BC9D4B7797A6}" dt="2026-09-18T11:46:20.629" v="1107" actId="20577"/>
        <pc:sldMkLst>
          <pc:docMk/>
          <pc:sldMk cId="0" sldId="271"/>
        </pc:sldMkLst>
        <pc:spChg chg="mod">
          <ac:chgData name="John Shorter" userId="755fde98-7d6a-4e3f-b457-9c24d3102ced" providerId="ADAL" clId="{C5F49310-AE28-4DB2-B4F7-BC9D4B7797A6}" dt="2026-09-18T11:46:20.629" v="1107" actId="20577"/>
          <ac:spMkLst>
            <pc:docMk/>
            <pc:sldMk cId="0" sldId="271"/>
            <ac:spMk id="9" creationId="{00000000-0000-0000-0000-000000000000}"/>
          </ac:spMkLst>
        </pc:spChg>
      </pc:sldChg>
      <pc:sldChg chg="modSp mod">
        <pc:chgData name="John Shorter" userId="755fde98-7d6a-4e3f-b457-9c24d3102ced" providerId="ADAL" clId="{C5F49310-AE28-4DB2-B4F7-BC9D4B7797A6}" dt="2026-09-21T09:37:34.937" v="1448" actId="20577"/>
        <pc:sldMkLst>
          <pc:docMk/>
          <pc:sldMk cId="0" sldId="273"/>
        </pc:sldMkLst>
        <pc:spChg chg="mod">
          <ac:chgData name="John Shorter" userId="755fde98-7d6a-4e3f-b457-9c24d3102ced" providerId="ADAL" clId="{C5F49310-AE28-4DB2-B4F7-BC9D4B7797A6}" dt="2026-09-18T11:47:27.459" v="1110" actId="20577"/>
          <ac:spMkLst>
            <pc:docMk/>
            <pc:sldMk cId="0" sldId="273"/>
            <ac:spMk id="5" creationId="{00000000-0000-0000-0000-000000000000}"/>
          </ac:spMkLst>
        </pc:spChg>
        <pc:spChg chg="mod">
          <ac:chgData name="John Shorter" userId="755fde98-7d6a-4e3f-b457-9c24d3102ced" providerId="ADAL" clId="{C5F49310-AE28-4DB2-B4F7-BC9D4B7797A6}" dt="2026-09-21T09:30:20.857" v="1305" actId="20577"/>
          <ac:spMkLst>
            <pc:docMk/>
            <pc:sldMk cId="0" sldId="273"/>
            <ac:spMk id="7" creationId="{00000000-0000-0000-0000-000000000000}"/>
          </ac:spMkLst>
        </pc:spChg>
        <pc:spChg chg="mod">
          <ac:chgData name="John Shorter" userId="755fde98-7d6a-4e3f-b457-9c24d3102ced" providerId="ADAL" clId="{C5F49310-AE28-4DB2-B4F7-BC9D4B7797A6}" dt="2026-09-21T09:37:34.937" v="1448" actId="20577"/>
          <ac:spMkLst>
            <pc:docMk/>
            <pc:sldMk cId="0" sldId="273"/>
            <ac:spMk id="8" creationId="{00000000-0000-0000-0000-000000000000}"/>
          </ac:spMkLst>
        </pc:spChg>
      </pc:sldChg>
      <pc:sldChg chg="modSp mod">
        <pc:chgData name="John Shorter" userId="755fde98-7d6a-4e3f-b457-9c24d3102ced" providerId="ADAL" clId="{C5F49310-AE28-4DB2-B4F7-BC9D4B7797A6}" dt="2026-09-21T09:38:11.703" v="1449" actId="6549"/>
        <pc:sldMkLst>
          <pc:docMk/>
          <pc:sldMk cId="0" sldId="274"/>
        </pc:sldMkLst>
        <pc:spChg chg="mod">
          <ac:chgData name="John Shorter" userId="755fde98-7d6a-4e3f-b457-9c24d3102ced" providerId="ADAL" clId="{C5F49310-AE28-4DB2-B4F7-BC9D4B7797A6}" dt="2026-09-21T09:16:40.683" v="1295"/>
          <ac:spMkLst>
            <pc:docMk/>
            <pc:sldMk cId="0" sldId="274"/>
            <ac:spMk id="3" creationId="{00000000-0000-0000-0000-000000000000}"/>
          </ac:spMkLst>
        </pc:spChg>
        <pc:spChg chg="mod">
          <ac:chgData name="John Shorter" userId="755fde98-7d6a-4e3f-b457-9c24d3102ced" providerId="ADAL" clId="{C5F49310-AE28-4DB2-B4F7-BC9D4B7797A6}" dt="2026-09-21T09:38:11.703" v="1449" actId="6549"/>
          <ac:spMkLst>
            <pc:docMk/>
            <pc:sldMk cId="0" sldId="274"/>
            <ac:spMk id="4" creationId="{00000000-0000-0000-0000-000000000000}"/>
          </ac:spMkLst>
        </pc:spChg>
      </pc:sldChg>
      <pc:sldChg chg="modSp mod modAnim">
        <pc:chgData name="John Shorter" userId="755fde98-7d6a-4e3f-b457-9c24d3102ced" providerId="ADAL" clId="{C5F49310-AE28-4DB2-B4F7-BC9D4B7797A6}" dt="2026-09-18T12:10:07.798" v="1191"/>
        <pc:sldMkLst>
          <pc:docMk/>
          <pc:sldMk cId="0" sldId="275"/>
        </pc:sldMkLst>
        <pc:spChg chg="mod">
          <ac:chgData name="John Shorter" userId="755fde98-7d6a-4e3f-b457-9c24d3102ced" providerId="ADAL" clId="{C5F49310-AE28-4DB2-B4F7-BC9D4B7797A6}" dt="2026-09-18T09:20:30.613" v="455" actId="6549"/>
          <ac:spMkLst>
            <pc:docMk/>
            <pc:sldMk cId="0" sldId="275"/>
            <ac:spMk id="5" creationId="{00000000-0000-0000-0000-000000000000}"/>
          </ac:spMkLst>
        </pc:spChg>
      </pc:sldChg>
      <pc:sldChg chg="modSp">
        <pc:chgData name="John Shorter" userId="755fde98-7d6a-4e3f-b457-9c24d3102ced" providerId="ADAL" clId="{C5F49310-AE28-4DB2-B4F7-BC9D4B7797A6}" dt="2026-09-18T09:33:27.382" v="710" actId="404"/>
        <pc:sldMkLst>
          <pc:docMk/>
          <pc:sldMk cId="0" sldId="276"/>
        </pc:sldMkLst>
        <pc:graphicFrameChg chg="mod">
          <ac:chgData name="John Shorter" userId="755fde98-7d6a-4e3f-b457-9c24d3102ced" providerId="ADAL" clId="{C5F49310-AE28-4DB2-B4F7-BC9D4B7797A6}" dt="2026-09-18T09:33:27.382" v="710" actId="404"/>
          <ac:graphicFrameMkLst>
            <pc:docMk/>
            <pc:sldMk cId="0" sldId="276"/>
            <ac:graphicFrameMk id="3" creationId="{00000000-0000-0000-0000-000000000000}"/>
          </ac:graphicFrameMkLst>
        </pc:graphicFrameChg>
      </pc:sldChg>
      <pc:sldChg chg="modSp mod">
        <pc:chgData name="John Shorter" userId="755fde98-7d6a-4e3f-b457-9c24d3102ced" providerId="ADAL" clId="{C5F49310-AE28-4DB2-B4F7-BC9D4B7797A6}" dt="2026-09-18T11:41:29.857" v="1077" actId="1035"/>
        <pc:sldMkLst>
          <pc:docMk/>
          <pc:sldMk cId="0" sldId="278"/>
        </pc:sldMkLst>
        <pc:spChg chg="mod">
          <ac:chgData name="John Shorter" userId="755fde98-7d6a-4e3f-b457-9c24d3102ced" providerId="ADAL" clId="{C5F49310-AE28-4DB2-B4F7-BC9D4B7797A6}" dt="2026-09-18T11:41:29.857" v="1077" actId="1035"/>
          <ac:spMkLst>
            <pc:docMk/>
            <pc:sldMk cId="0" sldId="278"/>
            <ac:spMk id="3"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6"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10"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15"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21"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22"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23"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25"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27" creationId="{00000000-0000-0000-0000-000000000000}"/>
          </ac:spMkLst>
        </pc:spChg>
        <pc:spChg chg="mod">
          <ac:chgData name="John Shorter" userId="755fde98-7d6a-4e3f-b457-9c24d3102ced" providerId="ADAL" clId="{C5F49310-AE28-4DB2-B4F7-BC9D4B7797A6}" dt="2026-09-18T11:41:29.857" v="1077" actId="1035"/>
          <ac:spMkLst>
            <pc:docMk/>
            <pc:sldMk cId="0" sldId="278"/>
            <ac:spMk id="28" creationId="{00000000-0000-0000-0000-000000000000}"/>
          </ac:spMkLst>
        </pc:spChg>
      </pc:sldChg>
      <pc:sldChg chg="modSp mod modAnim">
        <pc:chgData name="John Shorter" userId="755fde98-7d6a-4e3f-b457-9c24d3102ced" providerId="ADAL" clId="{C5F49310-AE28-4DB2-B4F7-BC9D4B7797A6}" dt="2026-09-18T09:39:56.442" v="934"/>
        <pc:sldMkLst>
          <pc:docMk/>
          <pc:sldMk cId="0" sldId="279"/>
        </pc:sldMkLst>
        <pc:spChg chg="mod">
          <ac:chgData name="John Shorter" userId="755fde98-7d6a-4e3f-b457-9c24d3102ced" providerId="ADAL" clId="{C5F49310-AE28-4DB2-B4F7-BC9D4B7797A6}" dt="2026-09-17T21:42:25.950" v="280" actId="20577"/>
          <ac:spMkLst>
            <pc:docMk/>
            <pc:sldMk cId="0" sldId="279"/>
            <ac:spMk id="2" creationId="{00000000-0000-0000-0000-000000000000}"/>
          </ac:spMkLst>
        </pc:spChg>
        <pc:spChg chg="mod">
          <ac:chgData name="John Shorter" userId="755fde98-7d6a-4e3f-b457-9c24d3102ced" providerId="ADAL" clId="{C5F49310-AE28-4DB2-B4F7-BC9D4B7797A6}" dt="2026-09-18T09:38:17.856" v="877" actId="20577"/>
          <ac:spMkLst>
            <pc:docMk/>
            <pc:sldMk cId="0" sldId="279"/>
            <ac:spMk id="4" creationId="{00000000-0000-0000-0000-000000000000}"/>
          </ac:spMkLst>
        </pc:spChg>
        <pc:spChg chg="mod">
          <ac:chgData name="John Shorter" userId="755fde98-7d6a-4e3f-b457-9c24d3102ced" providerId="ADAL" clId="{C5F49310-AE28-4DB2-B4F7-BC9D4B7797A6}" dt="2026-09-18T09:38:37.521" v="887" actId="20577"/>
          <ac:spMkLst>
            <pc:docMk/>
            <pc:sldMk cId="0" sldId="279"/>
            <ac:spMk id="7" creationId="{00000000-0000-0000-0000-000000000000}"/>
          </ac:spMkLst>
        </pc:spChg>
        <pc:spChg chg="mod">
          <ac:chgData name="John Shorter" userId="755fde98-7d6a-4e3f-b457-9c24d3102ced" providerId="ADAL" clId="{C5F49310-AE28-4DB2-B4F7-BC9D4B7797A6}" dt="2026-09-18T09:39:19.802" v="918" actId="20577"/>
          <ac:spMkLst>
            <pc:docMk/>
            <pc:sldMk cId="0" sldId="279"/>
            <ac:spMk id="10" creationId="{00000000-0000-0000-0000-000000000000}"/>
          </ac:spMkLst>
        </pc:spChg>
        <pc:spChg chg="mod">
          <ac:chgData name="John Shorter" userId="755fde98-7d6a-4e3f-b457-9c24d3102ced" providerId="ADAL" clId="{C5F49310-AE28-4DB2-B4F7-BC9D4B7797A6}" dt="2026-09-18T09:39:32.467" v="933" actId="20577"/>
          <ac:spMkLst>
            <pc:docMk/>
            <pc:sldMk cId="0" sldId="279"/>
            <ac:spMk id="13" creationId="{00000000-0000-0000-0000-000000000000}"/>
          </ac:spMkLst>
        </pc:spChg>
        <pc:spChg chg="mod">
          <ac:chgData name="John Shorter" userId="755fde98-7d6a-4e3f-b457-9c24d3102ced" providerId="ADAL" clId="{C5F49310-AE28-4DB2-B4F7-BC9D4B7797A6}" dt="2026-09-17T21:37:47.387" v="218" actId="20577"/>
          <ac:spMkLst>
            <pc:docMk/>
            <pc:sldMk cId="0" sldId="279"/>
            <ac:spMk id="17" creationId="{00000000-0000-0000-0000-000000000000}"/>
          </ac:spMkLst>
        </pc:spChg>
        <pc:spChg chg="mod">
          <ac:chgData name="John Shorter" userId="755fde98-7d6a-4e3f-b457-9c24d3102ced" providerId="ADAL" clId="{C5F49310-AE28-4DB2-B4F7-BC9D4B7797A6}" dt="2026-09-17T21:38:54.657" v="277" actId="20577"/>
          <ac:spMkLst>
            <pc:docMk/>
            <pc:sldMk cId="0" sldId="279"/>
            <ac:spMk id="18" creationId="{00000000-0000-0000-0000-000000000000}"/>
          </ac:spMkLst>
        </pc:spChg>
        <pc:spChg chg="mod">
          <ac:chgData name="John Shorter" userId="755fde98-7d6a-4e3f-b457-9c24d3102ced" providerId="ADAL" clId="{C5F49310-AE28-4DB2-B4F7-BC9D4B7797A6}" dt="2026-09-17T22:03:03.501" v="288" actId="20577"/>
          <ac:spMkLst>
            <pc:docMk/>
            <pc:sldMk cId="0" sldId="279"/>
            <ac:spMk id="20" creationId="{00000000-0000-0000-0000-000000000000}"/>
          </ac:spMkLst>
        </pc:spChg>
      </pc:sldChg>
      <pc:sldChg chg="ord">
        <pc:chgData name="John Shorter" userId="755fde98-7d6a-4e3f-b457-9c24d3102ced" providerId="ADAL" clId="{C5F49310-AE28-4DB2-B4F7-BC9D4B7797A6}" dt="2026-09-18T11:43:17.536" v="1105"/>
        <pc:sldMkLst>
          <pc:docMk/>
          <pc:sldMk cId="0" sldId="280"/>
        </pc:sldMkLst>
      </pc:sldChg>
      <pc:sldChg chg="addSp delSp modSp add mod">
        <pc:chgData name="John Shorter" userId="755fde98-7d6a-4e3f-b457-9c24d3102ced" providerId="ADAL" clId="{C5F49310-AE28-4DB2-B4F7-BC9D4B7797A6}" dt="2026-09-18T09:06:34.064" v="415" actId="20577"/>
        <pc:sldMkLst>
          <pc:docMk/>
          <pc:sldMk cId="731241899" sldId="281"/>
        </pc:sldMkLst>
        <pc:spChg chg="mod">
          <ac:chgData name="John Shorter" userId="755fde98-7d6a-4e3f-b457-9c24d3102ced" providerId="ADAL" clId="{C5F49310-AE28-4DB2-B4F7-BC9D4B7797A6}" dt="2026-09-18T09:06:34.064" v="415" actId="20577"/>
          <ac:spMkLst>
            <pc:docMk/>
            <pc:sldMk cId="731241899" sldId="281"/>
            <ac:spMk id="3" creationId="{30355EFF-33A9-D6DD-472E-1456E605EA03}"/>
          </ac:spMkLst>
        </pc:spChg>
        <pc:picChg chg="add mod">
          <ac:chgData name="John Shorter" userId="755fde98-7d6a-4e3f-b457-9c24d3102ced" providerId="ADAL" clId="{C5F49310-AE28-4DB2-B4F7-BC9D4B7797A6}" dt="2026-09-18T09:05:58.687" v="404" actId="1076"/>
          <ac:picMkLst>
            <pc:docMk/>
            <pc:sldMk cId="731241899" sldId="281"/>
            <ac:picMk id="8" creationId="{A5E2C2D0-486E-7CA0-5B6C-1C09D9AA0E7A}"/>
          </ac:picMkLst>
        </pc:picChg>
      </pc:sldChg>
      <pc:sldChg chg="delSp modSp add mod modAnim">
        <pc:chgData name="John Shorter" userId="755fde98-7d6a-4e3f-b457-9c24d3102ced" providerId="ADAL" clId="{C5F49310-AE28-4DB2-B4F7-BC9D4B7797A6}" dt="2026-09-18T09:32:21.794" v="708" actId="6549"/>
        <pc:sldMkLst>
          <pc:docMk/>
          <pc:sldMk cId="2180323942" sldId="282"/>
        </pc:sldMkLst>
        <pc:spChg chg="mod">
          <ac:chgData name="John Shorter" userId="755fde98-7d6a-4e3f-b457-9c24d3102ced" providerId="ADAL" clId="{C5F49310-AE28-4DB2-B4F7-BC9D4B7797A6}" dt="2026-09-18T09:32:21.794" v="708" actId="6549"/>
          <ac:spMkLst>
            <pc:docMk/>
            <pc:sldMk cId="2180323942" sldId="282"/>
            <ac:spMk id="2" creationId="{B6DF228C-F83B-0373-5B41-39AC86E9C62C}"/>
          </ac:spMkLst>
        </pc:spChg>
      </pc:sldChg>
      <pc:sldChg chg="delSp modSp add mod modAnim">
        <pc:chgData name="John Shorter" userId="755fde98-7d6a-4e3f-b457-9c24d3102ced" providerId="ADAL" clId="{C5F49310-AE28-4DB2-B4F7-BC9D4B7797A6}" dt="2026-09-18T11:26:46.901" v="1024" actId="6549"/>
        <pc:sldMkLst>
          <pc:docMk/>
          <pc:sldMk cId="785865146" sldId="283"/>
        </pc:sldMkLst>
        <pc:spChg chg="mod">
          <ac:chgData name="John Shorter" userId="755fde98-7d6a-4e3f-b457-9c24d3102ced" providerId="ADAL" clId="{C5F49310-AE28-4DB2-B4F7-BC9D4B7797A6}" dt="2026-09-18T11:26:46.901" v="1024" actId="6549"/>
          <ac:spMkLst>
            <pc:docMk/>
            <pc:sldMk cId="785865146" sldId="283"/>
            <ac:spMk id="2" creationId="{434A4F23-8180-E2A4-6C20-83B728590C89}"/>
          </ac:spMkLst>
        </pc:spChg>
      </pc:sldChg>
      <pc:sldChg chg="addSp delSp modSp new mod">
        <pc:chgData name="John Shorter" userId="755fde98-7d6a-4e3f-b457-9c24d3102ced" providerId="ADAL" clId="{C5F49310-AE28-4DB2-B4F7-BC9D4B7797A6}" dt="2026-09-18T11:53:21.876" v="1143" actId="1076"/>
        <pc:sldMkLst>
          <pc:docMk/>
          <pc:sldMk cId="3104789333" sldId="284"/>
        </pc:sldMkLst>
        <pc:spChg chg="add mod">
          <ac:chgData name="John Shorter" userId="755fde98-7d6a-4e3f-b457-9c24d3102ced" providerId="ADAL" clId="{C5F49310-AE28-4DB2-B4F7-BC9D4B7797A6}" dt="2026-09-18T11:53:17.494" v="1141" actId="14100"/>
          <ac:spMkLst>
            <pc:docMk/>
            <pc:sldMk cId="3104789333" sldId="284"/>
            <ac:spMk id="5" creationId="{CFD7C15D-658E-4F01-17E1-042042D664E3}"/>
          </ac:spMkLst>
        </pc:spChg>
        <pc:picChg chg="add mod">
          <ac:chgData name="John Shorter" userId="755fde98-7d6a-4e3f-b457-9c24d3102ced" providerId="ADAL" clId="{C5F49310-AE28-4DB2-B4F7-BC9D4B7797A6}" dt="2026-09-18T11:52:48.728" v="1117" actId="1076"/>
          <ac:picMkLst>
            <pc:docMk/>
            <pc:sldMk cId="3104789333" sldId="284"/>
            <ac:picMk id="3" creationId="{87C9491E-A815-725B-EBD8-9752480BB226}"/>
          </ac:picMkLst>
        </pc:picChg>
        <pc:picChg chg="add mod">
          <ac:chgData name="John Shorter" userId="755fde98-7d6a-4e3f-b457-9c24d3102ced" providerId="ADAL" clId="{C5F49310-AE28-4DB2-B4F7-BC9D4B7797A6}" dt="2026-09-18T11:53:21.876" v="1143" actId="1076"/>
          <ac:picMkLst>
            <pc:docMk/>
            <pc:sldMk cId="3104789333" sldId="284"/>
            <ac:picMk id="9" creationId="{31EC8978-CE9E-CB4A-67CF-B055C69A3E83}"/>
          </ac:picMkLst>
        </pc:picChg>
      </pc:sldChg>
      <pc:sldChg chg="addSp modSp new mod">
        <pc:chgData name="John Shorter" userId="755fde98-7d6a-4e3f-b457-9c24d3102ced" providerId="ADAL" clId="{C5F49310-AE28-4DB2-B4F7-BC9D4B7797A6}" dt="2026-09-18T11:59:58.698" v="1186" actId="20577"/>
        <pc:sldMkLst>
          <pc:docMk/>
          <pc:sldMk cId="1245355759" sldId="285"/>
        </pc:sldMkLst>
        <pc:spChg chg="add mod">
          <ac:chgData name="John Shorter" userId="755fde98-7d6a-4e3f-b457-9c24d3102ced" providerId="ADAL" clId="{C5F49310-AE28-4DB2-B4F7-BC9D4B7797A6}" dt="2026-09-18T11:59:58.698" v="1186" actId="20577"/>
          <ac:spMkLst>
            <pc:docMk/>
            <pc:sldMk cId="1245355759" sldId="285"/>
            <ac:spMk id="5" creationId="{61CD00D1-EE05-C42A-E1FD-5BC809C95CEF}"/>
          </ac:spMkLst>
        </pc:spChg>
        <pc:picChg chg="add mod">
          <ac:chgData name="John Shorter" userId="755fde98-7d6a-4e3f-b457-9c24d3102ced" providerId="ADAL" clId="{C5F49310-AE28-4DB2-B4F7-BC9D4B7797A6}" dt="2026-09-18T11:41:56.979" v="1095" actId="1038"/>
          <ac:picMkLst>
            <pc:docMk/>
            <pc:sldMk cId="1245355759" sldId="285"/>
            <ac:picMk id="3" creationId="{364E7870-A8F2-1E30-1025-81CC8828140F}"/>
          </ac:picMkLst>
        </pc:picChg>
        <pc:picChg chg="add mod">
          <ac:chgData name="John Shorter" userId="755fde98-7d6a-4e3f-b457-9c24d3102ced" providerId="ADAL" clId="{C5F49310-AE28-4DB2-B4F7-BC9D4B7797A6}" dt="2026-09-18T11:59:40.979" v="1146" actId="1076"/>
          <ac:picMkLst>
            <pc:docMk/>
            <pc:sldMk cId="1245355759" sldId="285"/>
            <ac:picMk id="7" creationId="{398E846B-8718-1B63-F187-97ED6F1BF7D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Living Planet Index (1970 = 1.0)</c:v>
                </c:pt>
              </c:strCache>
            </c:strRef>
          </c:tx>
          <c:spPr>
            <a:ln w="44450" cap="flat">
              <a:solidFill>
                <a:srgbClr val="C1543C"/>
              </a:solidFill>
              <a:prstDash val="solid"/>
              <a:round/>
            </a:ln>
            <a:effectLst/>
          </c:spPr>
          <c:marker>
            <c:symbol val="circle"/>
            <c:size val="6"/>
            <c:spPr>
              <a:solidFill>
                <a:srgbClr val="C1543C"/>
              </a:solidFill>
              <a:ln w="9525" cap="flat">
                <a:solidFill>
                  <a:srgbClr val="C1543C"/>
                </a:solidFill>
                <a:prstDash val="solid"/>
                <a:round/>
              </a:ln>
              <a:effectLst/>
            </c:spPr>
          </c:marker>
          <c:cat>
            <c:strRef>
              <c:f>Sheet1!$A$2:$A$7</c:f>
              <c:strCache>
                <c:ptCount val="6"/>
                <c:pt idx="0">
                  <c:v>1970</c:v>
                </c:pt>
                <c:pt idx="1">
                  <c:v>1980</c:v>
                </c:pt>
                <c:pt idx="2">
                  <c:v>1990</c:v>
                </c:pt>
                <c:pt idx="3">
                  <c:v>2000</c:v>
                </c:pt>
                <c:pt idx="4">
                  <c:v>2010</c:v>
                </c:pt>
                <c:pt idx="5">
                  <c:v>2020</c:v>
                </c:pt>
              </c:strCache>
            </c:strRef>
          </c:cat>
          <c:val>
            <c:numRef>
              <c:f>Sheet1!$B$2:$B$7</c:f>
              <c:numCache>
                <c:formatCode>General</c:formatCode>
                <c:ptCount val="6"/>
                <c:pt idx="0">
                  <c:v>1</c:v>
                </c:pt>
                <c:pt idx="1">
                  <c:v>0.87</c:v>
                </c:pt>
                <c:pt idx="2">
                  <c:v>0.72</c:v>
                </c:pt>
                <c:pt idx="3">
                  <c:v>0.57999999999999996</c:v>
                </c:pt>
                <c:pt idx="4">
                  <c:v>0.42</c:v>
                </c:pt>
                <c:pt idx="5">
                  <c:v>0.27</c:v>
                </c:pt>
              </c:numCache>
            </c:numRef>
          </c:val>
          <c:smooth val="1"/>
          <c:extLst>
            <c:ext xmlns:c16="http://schemas.microsoft.com/office/drawing/2014/chart" uri="{C3380CC4-5D6E-409C-BE32-E72D297353CC}">
              <c16:uniqueId val="{00000000-9E2B-4C2A-BE4A-63F256E429D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5E6B62"/>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3E9E4"/>
              </a:solidFill>
              <a:prstDash val="solid"/>
              <a:round/>
            </a:ln>
          </c:spPr>
        </c:majorGridlines>
        <c:title>
          <c:tx>
            <c:rich>
              <a:bodyPr/>
              <a:lstStyle/>
              <a:p>
                <a:r>
                  <a:rPr lang="en-US" sz="2000">
                    <a:solidFill>
                      <a:srgbClr val="5E6B62"/>
                    </a:solidFill>
                    <a:latin typeface="Calibri"/>
                  </a:rPr>
                  <a:t>Living Planet Index (1970 = 1.0)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5E6B62"/>
                </a:solidFill>
                <a:latin typeface="Arial"/>
              </a:defRPr>
            </a:pPr>
            <a:endParaRPr lang="en-US"/>
          </a:p>
        </c:txPr>
        <c:crossAx val="2094734554"/>
        <c:crosses val="autoZero"/>
        <c:crossBetween val="between"/>
        <c:majorUnit val="0.25"/>
      </c:valAx>
      <c:spPr>
        <a:noFill/>
        <a:ln>
          <a:noFill/>
        </a:ln>
        <a:effectLst/>
      </c:spPr>
    </c:plotArea>
    <c:plotVisOnly val="1"/>
    <c:dispBlanksAs val="span"/>
    <c:showDLblsOverMax val="1"/>
  </c:chart>
  <c:spPr>
    <a:noFill/>
    <a:ln>
      <a:noFill/>
    </a:ln>
    <a:effectLst/>
  </c:spPr>
  <c:txPr>
    <a:bodyPr/>
    <a:lstStyle/>
    <a:p>
      <a:pPr>
        <a:defRPr sz="2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Extinctions per million species-years</c:v>
                </c:pt>
              </c:strCache>
            </c:strRef>
          </c:tx>
          <c:spPr>
            <a:solidFill>
              <a:srgbClr val="2D6A4F"/>
            </a:solidFill>
            <a:effectLst/>
          </c:spPr>
          <c:invertIfNegative val="0"/>
          <c:dLbls>
            <c:numFmt formatCode="#,##0" sourceLinked="0"/>
            <c:spPr>
              <a:noFill/>
              <a:ln>
                <a:noFill/>
              </a:ln>
              <a:effectLst/>
            </c:spPr>
            <c:txPr>
              <a:bodyPr/>
              <a:lstStyle/>
              <a:p>
                <a:pPr>
                  <a:defRPr sz="2000" b="0" i="0" u="none" strike="noStrike">
                    <a:solidFill>
                      <a:srgbClr val="1D2A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Background rate
(fossil record)</c:v>
                </c:pt>
                <c:pt idx="1">
                  <c:v>Current rate
(conservative)</c:v>
                </c:pt>
                <c:pt idx="2">
                  <c:v>Some estimates</c:v>
                </c:pt>
              </c:strCache>
            </c:strRef>
          </c:cat>
          <c:val>
            <c:numRef>
              <c:f>Sheet1!$B$2:$B$4</c:f>
              <c:numCache>
                <c:formatCode>General</c:formatCode>
                <c:ptCount val="3"/>
                <c:pt idx="0">
                  <c:v>1</c:v>
                </c:pt>
                <c:pt idx="1">
                  <c:v>100</c:v>
                </c:pt>
                <c:pt idx="2">
                  <c:v>1000</c:v>
                </c:pt>
              </c:numCache>
            </c:numRef>
          </c:val>
          <c:extLst>
            <c:ext xmlns:c16="http://schemas.microsoft.com/office/drawing/2014/chart" uri="{C3380CC4-5D6E-409C-BE32-E72D297353CC}">
              <c16:uniqueId val="{00000000-6137-4BD0-BF4E-5A7AAA7BEC9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5E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9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5E6B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sz="2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Mammals</c:v>
                </c:pt>
              </c:strCache>
            </c:strRef>
          </c:tx>
          <c:spPr>
            <a:ln w="44450">
              <a:solidFill>
                <a:srgbClr val="1B4332"/>
              </a:solidFill>
            </a:ln>
          </c:spPr>
          <c:marker>
            <c:symbol val="none"/>
          </c:marker>
          <c:cat>
            <c:strRef>
              <c:f>Sheet1!$A$2:$A$6</c:f>
              <c:strCache>
                <c:ptCount val="5"/>
                <c:pt idx="0">
                  <c:v>1500–1600</c:v>
                </c:pt>
                <c:pt idx="1">
                  <c:v>1600–1700</c:v>
                </c:pt>
                <c:pt idx="2">
                  <c:v>1700–1800</c:v>
                </c:pt>
                <c:pt idx="3">
                  <c:v>1800–1900</c:v>
                </c:pt>
                <c:pt idx="4">
                  <c:v>1900–2014</c:v>
                </c:pt>
              </c:strCache>
            </c:strRef>
          </c:cat>
          <c:val>
            <c:numRef>
              <c:f>Sheet1!$B$2:$B$6</c:f>
              <c:numCache>
                <c:formatCode>General</c:formatCode>
                <c:ptCount val="5"/>
                <c:pt idx="0">
                  <c:v>0.38</c:v>
                </c:pt>
                <c:pt idx="1">
                  <c:v>0.42</c:v>
                </c:pt>
                <c:pt idx="2">
                  <c:v>0.47</c:v>
                </c:pt>
                <c:pt idx="3">
                  <c:v>0.77</c:v>
                </c:pt>
                <c:pt idx="4">
                  <c:v>1.4</c:v>
                </c:pt>
              </c:numCache>
            </c:numRef>
          </c:val>
          <c:smooth val="0"/>
          <c:extLst>
            <c:ext xmlns:c16="http://schemas.microsoft.com/office/drawing/2014/chart" uri="{C3380CC4-5D6E-409C-BE32-E72D297353CC}">
              <c16:uniqueId val="{00000000-7D60-4F8D-80A1-5EEEBAD75A69}"/>
            </c:ext>
          </c:extLst>
        </c:ser>
        <c:ser>
          <c:idx val="1"/>
          <c:order val="1"/>
          <c:tx>
            <c:strRef>
              <c:f>Sheet1!$C$1</c:f>
              <c:strCache>
                <c:ptCount val="1"/>
                <c:pt idx="0">
                  <c:v>Birds</c:v>
                </c:pt>
              </c:strCache>
            </c:strRef>
          </c:tx>
          <c:spPr>
            <a:ln w="44450">
              <a:solidFill>
                <a:srgbClr val="C1543C"/>
              </a:solidFill>
            </a:ln>
          </c:spPr>
          <c:marker>
            <c:symbol val="none"/>
          </c:marker>
          <c:cat>
            <c:strRef>
              <c:f>Sheet1!$A$2:$A$6</c:f>
              <c:strCache>
                <c:ptCount val="5"/>
                <c:pt idx="0">
                  <c:v>1500–1600</c:v>
                </c:pt>
                <c:pt idx="1">
                  <c:v>1600–1700</c:v>
                </c:pt>
                <c:pt idx="2">
                  <c:v>1700–1800</c:v>
                </c:pt>
                <c:pt idx="3">
                  <c:v>1800–1900</c:v>
                </c:pt>
                <c:pt idx="4">
                  <c:v>1900–2014</c:v>
                </c:pt>
              </c:strCache>
            </c:strRef>
          </c:cat>
          <c:val>
            <c:numRef>
              <c:f>Sheet1!$C$2:$C$6</c:f>
              <c:numCache>
                <c:formatCode>General</c:formatCode>
                <c:ptCount val="5"/>
                <c:pt idx="0">
                  <c:v>0.03</c:v>
                </c:pt>
                <c:pt idx="1">
                  <c:v>0.13</c:v>
                </c:pt>
                <c:pt idx="2">
                  <c:v>0.37</c:v>
                </c:pt>
                <c:pt idx="3">
                  <c:v>0.75</c:v>
                </c:pt>
                <c:pt idx="4">
                  <c:v>1.35</c:v>
                </c:pt>
              </c:numCache>
            </c:numRef>
          </c:val>
          <c:smooth val="0"/>
          <c:extLst>
            <c:ext xmlns:c16="http://schemas.microsoft.com/office/drawing/2014/chart" uri="{C3380CC4-5D6E-409C-BE32-E72D297353CC}">
              <c16:uniqueId val="{00000001-7D60-4F8D-80A1-5EEEBAD75A69}"/>
            </c:ext>
          </c:extLst>
        </c:ser>
        <c:ser>
          <c:idx val="2"/>
          <c:order val="2"/>
          <c:tx>
            <c:strRef>
              <c:f>Sheet1!$D$1</c:f>
              <c:strCache>
                <c:ptCount val="1"/>
                <c:pt idx="0">
                  <c:v>All vertebrates</c:v>
                </c:pt>
              </c:strCache>
            </c:strRef>
          </c:tx>
          <c:spPr>
            <a:ln w="44450">
              <a:solidFill>
                <a:srgbClr val="2D6A4F"/>
              </a:solidFill>
            </a:ln>
          </c:spPr>
          <c:marker>
            <c:symbol val="none"/>
          </c:marker>
          <c:cat>
            <c:strRef>
              <c:f>Sheet1!$A$2:$A$6</c:f>
              <c:strCache>
                <c:ptCount val="5"/>
                <c:pt idx="0">
                  <c:v>1500–1600</c:v>
                </c:pt>
                <c:pt idx="1">
                  <c:v>1600–1700</c:v>
                </c:pt>
                <c:pt idx="2">
                  <c:v>1700–1800</c:v>
                </c:pt>
                <c:pt idx="3">
                  <c:v>1800–1900</c:v>
                </c:pt>
                <c:pt idx="4">
                  <c:v>1900–2014</c:v>
                </c:pt>
              </c:strCache>
            </c:strRef>
          </c:cat>
          <c:val>
            <c:numRef>
              <c:f>Sheet1!$D$2:$D$6</c:f>
              <c:numCache>
                <c:formatCode>General</c:formatCode>
                <c:ptCount val="5"/>
                <c:pt idx="0">
                  <c:v>0.09</c:v>
                </c:pt>
                <c:pt idx="1">
                  <c:v>0.11</c:v>
                </c:pt>
                <c:pt idx="2">
                  <c:v>0.18</c:v>
                </c:pt>
                <c:pt idx="3">
                  <c:v>0.38</c:v>
                </c:pt>
                <c:pt idx="4">
                  <c:v>0.86</c:v>
                </c:pt>
              </c:numCache>
            </c:numRef>
          </c:val>
          <c:smooth val="0"/>
          <c:extLst>
            <c:ext xmlns:c16="http://schemas.microsoft.com/office/drawing/2014/chart" uri="{C3380CC4-5D6E-409C-BE32-E72D297353CC}">
              <c16:uniqueId val="{00000002-7D60-4F8D-80A1-5EEEBAD75A69}"/>
            </c:ext>
          </c:extLst>
        </c:ser>
        <c:ser>
          <c:idx val="3"/>
          <c:order val="3"/>
          <c:tx>
            <c:strRef>
              <c:f>Sheet1!$E$1</c:f>
              <c:strCache>
                <c:ptCount val="1"/>
                <c:pt idx="0">
                  <c:v>Background rate</c:v>
                </c:pt>
              </c:strCache>
            </c:strRef>
          </c:tx>
          <c:spPr>
            <a:ln w="28575">
              <a:solidFill>
                <a:srgbClr val="5E6B62"/>
              </a:solidFill>
              <a:prstDash val="sysDot"/>
            </a:ln>
          </c:spPr>
          <c:marker>
            <c:symbol val="none"/>
          </c:marker>
          <c:cat>
            <c:strRef>
              <c:f>Sheet1!$A$2:$A$6</c:f>
              <c:strCache>
                <c:ptCount val="5"/>
                <c:pt idx="0">
                  <c:v>1500–1600</c:v>
                </c:pt>
                <c:pt idx="1">
                  <c:v>1600–1700</c:v>
                </c:pt>
                <c:pt idx="2">
                  <c:v>1700–1800</c:v>
                </c:pt>
                <c:pt idx="3">
                  <c:v>1800–1900</c:v>
                </c:pt>
                <c:pt idx="4">
                  <c:v>1900–2014</c:v>
                </c:pt>
              </c:strCache>
            </c:strRef>
          </c:cat>
          <c:val>
            <c:numRef>
              <c:f>Sheet1!$E$2:$E$6</c:f>
              <c:numCache>
                <c:formatCode>General</c:formatCode>
                <c:ptCount val="5"/>
                <c:pt idx="0">
                  <c:v>0.02</c:v>
                </c:pt>
                <c:pt idx="1">
                  <c:v>3.5000000000000003E-2</c:v>
                </c:pt>
                <c:pt idx="2">
                  <c:v>0.05</c:v>
                </c:pt>
                <c:pt idx="3">
                  <c:v>6.5000000000000002E-2</c:v>
                </c:pt>
                <c:pt idx="4">
                  <c:v>8.5000000000000006E-2</c:v>
                </c:pt>
              </c:numCache>
            </c:numRef>
          </c:val>
          <c:smooth val="0"/>
          <c:extLst>
            <c:ext xmlns:c16="http://schemas.microsoft.com/office/drawing/2014/chart" uri="{C3380CC4-5D6E-409C-BE32-E72D297353CC}">
              <c16:uniqueId val="{00000003-7D60-4F8D-80A1-5EEEBAD75A69}"/>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C8D2CB"/>
            </a:solidFill>
          </a:ln>
        </c:spPr>
        <c:txPr>
          <a:bodyPr/>
          <a:lstStyle/>
          <a:p>
            <a:pPr>
              <a:defRPr sz="1600"/>
            </a:pPr>
            <a:endParaRPr lang="en-US"/>
          </a:p>
        </c:txPr>
        <c:crossAx val="2140495176"/>
        <c:crosses val="autoZero"/>
        <c:auto val="1"/>
        <c:lblAlgn val="ctr"/>
        <c:lblOffset val="100"/>
        <c:noMultiLvlLbl val="0"/>
      </c:catAx>
      <c:valAx>
        <c:axId val="2140495176"/>
        <c:scaling>
          <c:orientation val="minMax"/>
          <c:max val="1.6"/>
          <c:min val="0"/>
        </c:scaling>
        <c:delete val="0"/>
        <c:axPos val="l"/>
        <c:majorGridlines>
          <c:spPr>
            <a:ln w="9525">
              <a:solidFill>
                <a:srgbClr val="E3E9E4"/>
              </a:solidFill>
            </a:ln>
          </c:spPr>
        </c:majorGridlines>
        <c:title>
          <c:tx>
            <c:rich>
              <a:bodyPr/>
              <a:lstStyle/>
              <a:p>
                <a:r>
                  <a:rPr lang="en-US" sz="2000">
                    <a:solidFill>
                      <a:srgbClr val="5E6B62"/>
                    </a:solidFill>
                    <a:latin typeface="Calibri"/>
                  </a:rPr>
                  <a:t>Cumulative extinctions, % of species assessed</a:t>
                </a:r>
              </a:p>
            </c:rich>
          </c:tx>
          <c:overlay val="0"/>
        </c:title>
        <c:numFmt formatCode="General" sourceLinked="1"/>
        <c:majorTickMark val="out"/>
        <c:minorTickMark val="none"/>
        <c:tickLblPos val="nextTo"/>
        <c:txPr>
          <a:bodyPr/>
          <a:lstStyle/>
          <a:p>
            <a:pPr>
              <a:defRPr sz="2000"/>
            </a:pPr>
            <a:endParaRPr lang="en-US"/>
          </a:p>
        </c:txPr>
        <c:crossAx val="2118791784"/>
        <c:crosses val="autoZero"/>
        <c:crossBetween val="between"/>
      </c:valAx>
    </c:plotArea>
    <c:legend>
      <c:legendPos val="b"/>
      <c:overlay val="0"/>
      <c:txPr>
        <a:bodyPr/>
        <a:lstStyle/>
        <a:p>
          <a:pPr>
            <a:defRPr sz="2000"/>
          </a:pPr>
          <a:endParaRPr lang="en-US"/>
        </a:p>
      </c:txPr>
    </c:legend>
    <c:plotVisOnly val="1"/>
    <c:dispBlanksAs val="gap"/>
    <c:showDLblsOverMax val="0"/>
  </c:chart>
  <c:txPr>
    <a:bodyPr/>
    <a:lstStyle/>
    <a:p>
      <a:pPr>
        <a:defRPr sz="2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Living biomass extracted</c:v>
                </c:pt>
              </c:strCache>
            </c:strRef>
          </c:tx>
          <c:spPr>
            <a:solidFill>
              <a:srgbClr val="2D6A4F"/>
            </a:solidFill>
          </c:spPr>
          <c:invertIfNegative val="1"/>
          <c:dLbls>
            <c:spPr>
              <a:noFill/>
              <a:ln>
                <a:noFill/>
              </a:ln>
              <a:effectLst/>
            </c:spPr>
            <c:txPr>
              <a:bodyPr/>
              <a:lstStyle/>
              <a:p>
                <a:pPr>
                  <a:defRPr sz="20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1970</c:v>
                </c:pt>
                <c:pt idx="1">
                  <c:v>2017</c:v>
                </c:pt>
              </c:strCache>
            </c:strRef>
          </c:cat>
          <c:val>
            <c:numRef>
              <c:f>Sheet1!$B$2:$B$3</c:f>
              <c:numCache>
                <c:formatCode>General</c:formatCode>
                <c:ptCount val="2"/>
                <c:pt idx="0">
                  <c:v>9</c:v>
                </c:pt>
                <c:pt idx="1">
                  <c:v>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2B4-42DC-9E12-03956932522B}"/>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2000"/>
            </a:pPr>
            <a:endParaRPr lang="en-US"/>
          </a:p>
        </c:txPr>
        <c:crossAx val="-2113994440"/>
        <c:crosses val="autoZero"/>
        <c:auto val="1"/>
        <c:lblAlgn val="ctr"/>
        <c:lblOffset val="100"/>
        <c:noMultiLvlLbl val="0"/>
      </c:catAx>
      <c:valAx>
        <c:axId val="-2113994440"/>
        <c:scaling>
          <c:orientation val="minMax"/>
          <c:max val="30"/>
          <c:min val="0"/>
        </c:scaling>
        <c:delete val="0"/>
        <c:axPos val="l"/>
        <c:majorGridlines>
          <c:spPr>
            <a:ln>
              <a:solidFill>
                <a:srgbClr val="E3E9E4"/>
              </a:solidFill>
            </a:ln>
          </c:spPr>
        </c:majorGridlines>
        <c:title>
          <c:tx>
            <c:rich>
              <a:bodyPr/>
              <a:lstStyle/>
              <a:p>
                <a:r>
                  <a:rPr lang="en-US" sz="2000">
                    <a:solidFill>
                      <a:srgbClr val="5E6B62"/>
                    </a:solidFill>
                    <a:latin typeface="Calibri"/>
                  </a:rPr>
                  <a:t>Billion tonnes per year</a:t>
                </a:r>
              </a:p>
            </c:rich>
          </c:tx>
          <c:overlay val="0"/>
        </c:title>
        <c:numFmt formatCode="General" sourceLinked="1"/>
        <c:majorTickMark val="out"/>
        <c:minorTickMark val="none"/>
        <c:tickLblPos val="nextTo"/>
        <c:txPr>
          <a:bodyPr/>
          <a:lstStyle/>
          <a:p>
            <a:pPr>
              <a:defRPr sz="2000"/>
            </a:pPr>
            <a:endParaRPr lang="en-US"/>
          </a:p>
        </c:txPr>
        <c:crossAx val="-2068027336"/>
        <c:crosses val="autoZero"/>
        <c:crossBetween val="between"/>
      </c:valAx>
    </c:plotArea>
    <c:plotVisOnly val="1"/>
    <c:dispBlanksAs val="gap"/>
    <c:showDLblsOverMax val="1"/>
  </c:chart>
  <c:txPr>
    <a:bodyPr/>
    <a:lstStyle/>
    <a:p>
      <a:pPr>
        <a:defRPr sz="20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479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of 10. Sambach students plus open drop-ins; assume no natural science background. 14:15-16:00 with a break around 15:00.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33DF-EDC7-10D7-4084-9F880CA07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61839-B858-AE9F-090A-914686332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7D383-337E-4D0F-448B-8B828BB58088}"/>
              </a:ext>
            </a:extLst>
          </p:cNvPr>
          <p:cNvSpPr>
            <a:spLocks noGrp="1"/>
          </p:cNvSpPr>
          <p:nvPr>
            <p:ph type="body" idx="1"/>
          </p:nvPr>
        </p:nvSpPr>
        <p:spPr/>
        <p:txBody>
          <a:bodyPr/>
          <a:lstStyle/>
          <a:p>
            <a:r>
              <a:rPr lang="en-US" dirty="0"/>
              <a:t>Session 3 of 10. Sambach students plus open drop-ins; assume no natural science background. 14:15-16:00 with a break around 15:00.</a:t>
            </a:r>
          </a:p>
        </p:txBody>
      </p:sp>
      <p:sp>
        <p:nvSpPr>
          <p:cNvPr id="4" name="Slide Number Placeholder 3">
            <a:extLst>
              <a:ext uri="{FF2B5EF4-FFF2-40B4-BE49-F238E27FC236}">
                <a16:creationId xmlns:a16="http://schemas.microsoft.com/office/drawing/2014/main" id="{A5522598-080F-3EFD-5A6E-F10561B196F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63047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The point is credibility plus the bridge: genetic variation is a form of biodiversity, and it comes back in the banana case.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one idea in minute one and again at the close. Signpost the five arcs; the fifth is theirs.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slide. Stress the genetic level; social science students usually only know the species level. Sets up the banana case.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'wow' slide. Ask the room to guess the wild share before revealing. Biomass estimates are in carbon; uncertainty is real but the pattern is robust.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number AND how to read it critically. This doubles as data literacy: an index is a model choice, and the headline stat is routinely misreported. Freshwater populations declined most (-85%).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A98B8-433E-AA7C-4240-C6963C89A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67160-301F-117E-CDF1-21FE47643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4D49F-6ECB-F22B-02CF-0C47A6C7E5B3}"/>
              </a:ext>
            </a:extLst>
          </p:cNvPr>
          <p:cNvSpPr>
            <a:spLocks noGrp="1"/>
          </p:cNvSpPr>
          <p:nvPr>
            <p:ph type="body" idx="1"/>
          </p:nvPr>
        </p:nvSpPr>
        <p:spPr/>
        <p:txBody>
          <a:bodyPr/>
          <a:lstStyle/>
          <a:p>
            <a:r>
              <a:rPr lang="en-US" dirty="0"/>
              <a:t>Teach the number AND how to read it critically. This doubles as data literacy: an index is a model choice, and the headline stat is routinely misreported. Freshwater populations declined most (-85%).</a:t>
            </a:r>
          </a:p>
        </p:txBody>
      </p:sp>
      <p:sp>
        <p:nvSpPr>
          <p:cNvPr id="4" name="Slide Number Placeholder 3">
            <a:extLst>
              <a:ext uri="{FF2B5EF4-FFF2-40B4-BE49-F238E27FC236}">
                <a16:creationId xmlns:a16="http://schemas.microsoft.com/office/drawing/2014/main" id="{483507D5-F98F-6C42-FBA7-D2840756D16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36372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Uncertainty as a feature of honest science, not a reason for doubt. E/MSY = extinctions per million species-years. Ceballos et al. 2015 is the conservative-assumptions paper.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Geological deep time gives the Anthropocene framing teeth: this is where the 'geological claim' from session 1 meets biology. Percentages are species-loss estimates and vary by study.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climate change is only #3 today but climbing; the biodiversity crisis is not reducible to the climate crisis. These five categories structure the exercise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4E71E-E2AE-6467-7CEF-1E60F5323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E3DBD-D0F8-AF39-C751-778296AE7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1B1D5-7252-6AC6-8A9A-DC6BDA3F4E60}"/>
              </a:ext>
            </a:extLst>
          </p:cNvPr>
          <p:cNvSpPr>
            <a:spLocks noGrp="1"/>
          </p:cNvSpPr>
          <p:nvPr>
            <p:ph type="body" idx="1"/>
          </p:nvPr>
        </p:nvSpPr>
        <p:spPr/>
        <p:txBody>
          <a:bodyPr/>
          <a:lstStyle/>
          <a:p>
            <a:r>
              <a:rPr lang="en-US" dirty="0"/>
              <a:t>Note that climate change is only #3 today but climbing; the biodiversity crisis is not reducible to the climate crisis. These five categories structure the exercise questions.</a:t>
            </a:r>
          </a:p>
        </p:txBody>
      </p:sp>
      <p:sp>
        <p:nvSpPr>
          <p:cNvPr id="4" name="Slide Number Placeholder 3">
            <a:extLst>
              <a:ext uri="{FF2B5EF4-FFF2-40B4-BE49-F238E27FC236}">
                <a16:creationId xmlns:a16="http://schemas.microsoft.com/office/drawing/2014/main" id="{13F8FB71-B789-74C3-8713-53DE580127D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82667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Reused from my earlier lecture. Wild banana relatives carry resistance genes; should we breed or gene-edit them in? That question returns in the exercise: it is scientific AND political (who owns the solution, who bears the fungicide exposure).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caveat line is the red thread to the critical sessions. Sources: IPBES 2019 (pollination, wetlands); Newman &amp; Cragg 2020 (natural product drugs).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tipping point = self-reinforcing change that does not reverse when the pressure stops. This is why treating climate and biodiversity as separate crises fails.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red-thread slide, echoing session 1's three framings of the Anthropocene and handing off to later sessions. The closing line sets up the exercise's third question.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Denmark answer for after the break: land use. Roughly 60% of Danish land is farmed, among the highest shares in the world.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format as my bird/fossil exercise but with an explicit interdisciplinary Q3, matching learning objective 3. With ~20+ students, run duplicate groups per case and have the second group add rather than repeat.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genetic level, global commodity chain. B = ecosystem level, local and politically live. C = species level, conservation success that creates conflict. Each case has a real contested response, so Q3 has substance.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report-backs to 5 min per case. If duplicate groups, second group adds one new point only. Close the discussion by 15:55.</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for questions. Do not end on a 'Thank you' slide.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1005840"/>
            <a:ext cx="10881360" cy="457200"/>
          </a:xfrm>
          <a:prstGeom prst="rect">
            <a:avLst/>
          </a:prstGeom>
          <a:noFill/>
          <a:ln/>
        </p:spPr>
        <p:txBody>
          <a:bodyPr wrap="square" lIns="0" tIns="0" rIns="0" bIns="0" rtlCol="0" anchor="ctr">
            <a:noAutofit/>
          </a:bodyPr>
          <a:lstStyle/>
          <a:p>
            <a:pPr marL="0" indent="0">
              <a:buNone/>
            </a:pPr>
            <a:r>
              <a:rPr lang="en-US" sz="2000" kern="0" spc="200" dirty="0">
                <a:solidFill>
                  <a:srgbClr val="74A57F"/>
                </a:solidFill>
                <a:latin typeface="Calibri" pitchFamily="34" charset="0"/>
                <a:ea typeface="Calibri" pitchFamily="34" charset="-122"/>
                <a:cs typeface="Calibri" pitchFamily="34" charset="-120"/>
              </a:rPr>
              <a:t>Living in the Anthropocene</a:t>
            </a:r>
            <a:endParaRPr lang="en-US" sz="1600" dirty="0"/>
          </a:p>
        </p:txBody>
      </p:sp>
      <p:sp>
        <p:nvSpPr>
          <p:cNvPr id="3" name="Text 1"/>
          <p:cNvSpPr/>
          <p:nvPr/>
        </p:nvSpPr>
        <p:spPr>
          <a:xfrm>
            <a:off x="640080" y="1690567"/>
            <a:ext cx="6329887" cy="1371600"/>
          </a:xfrm>
          <a:prstGeom prst="rect">
            <a:avLst/>
          </a:prstGeom>
          <a:noFill/>
          <a:ln/>
        </p:spPr>
        <p:txBody>
          <a:bodyPr wrap="square" lIns="0" tIns="0" rIns="0" bIns="0" rtlCol="0" anchor="ctr">
            <a:noAutofit/>
          </a:bodyPr>
          <a:lstStyle/>
          <a:p>
            <a:pPr marL="0" indent="0">
              <a:buNone/>
            </a:pPr>
            <a:r>
              <a:rPr lang="en-US" sz="6000" b="1" dirty="0">
                <a:solidFill>
                  <a:srgbClr val="FFFFFF"/>
                </a:solidFill>
                <a:latin typeface="Cambria" pitchFamily="34" charset="0"/>
                <a:ea typeface="Cambria" pitchFamily="34" charset="-122"/>
                <a:cs typeface="Cambria" pitchFamily="34" charset="-120"/>
              </a:rPr>
              <a:t>The Biodiversity Crisis</a:t>
            </a:r>
            <a:endParaRPr lang="en-US" sz="6000" dirty="0"/>
          </a:p>
        </p:txBody>
      </p:sp>
      <p:sp>
        <p:nvSpPr>
          <p:cNvPr id="4" name="Text 2"/>
          <p:cNvSpPr/>
          <p:nvPr/>
        </p:nvSpPr>
        <p:spPr>
          <a:xfrm>
            <a:off x="640080" y="3253180"/>
            <a:ext cx="6619136" cy="1302553"/>
          </a:xfrm>
          <a:prstGeom prst="rect">
            <a:avLst/>
          </a:prstGeom>
          <a:noFill/>
          <a:ln/>
        </p:spPr>
        <p:txBody>
          <a:bodyPr wrap="square" lIns="0" tIns="0" rIns="0" bIns="0" rtlCol="0" anchor="ctr">
            <a:noAutofit/>
          </a:bodyPr>
          <a:lstStyle/>
          <a:p>
            <a:pPr marL="0" indent="0">
              <a:buNone/>
            </a:pPr>
            <a:r>
              <a:rPr lang="en-US" sz="2200" i="1" dirty="0">
                <a:solidFill>
                  <a:srgbClr val="D8E8DC"/>
                </a:solidFill>
                <a:latin typeface="Calibri" pitchFamily="34" charset="0"/>
                <a:ea typeface="Calibri" pitchFamily="34" charset="-122"/>
                <a:cs typeface="Calibri" pitchFamily="34" charset="-120"/>
              </a:rPr>
              <a:t>Earth system science, planetary boundaries, and the variety of life</a:t>
            </a:r>
            <a:endParaRPr lang="en-US" sz="2200" dirty="0"/>
          </a:p>
        </p:txBody>
      </p:sp>
      <p:sp>
        <p:nvSpPr>
          <p:cNvPr id="5" name="Text 3"/>
          <p:cNvSpPr/>
          <p:nvPr/>
        </p:nvSpPr>
        <p:spPr>
          <a:xfrm>
            <a:off x="1940766" y="4937760"/>
            <a:ext cx="9580673" cy="1188720"/>
          </a:xfrm>
          <a:prstGeom prst="rect">
            <a:avLst/>
          </a:prstGeom>
          <a:noFill/>
          <a:ln/>
        </p:spPr>
        <p:txBody>
          <a:bodyPr wrap="square" lIns="0" tIns="0" rIns="0" bIns="0" rtlCol="0" anchor="ctr">
            <a:noAutofit/>
          </a:bodyPr>
          <a:lstStyle/>
          <a:p>
            <a:pPr marL="0" indent="0">
              <a:lnSpc>
                <a:spcPct val="125000"/>
              </a:lnSpc>
              <a:buNone/>
            </a:pPr>
            <a:r>
              <a:rPr lang="en-US" sz="2000" b="1" dirty="0">
                <a:solidFill>
                  <a:srgbClr val="FFFFFF"/>
                </a:solidFill>
                <a:latin typeface="Calibri" pitchFamily="34" charset="0"/>
                <a:ea typeface="Calibri" pitchFamily="34" charset="-122"/>
                <a:cs typeface="Calibri" pitchFamily="34" charset="-120"/>
              </a:rPr>
              <a:t>John Shorter</a:t>
            </a:r>
            <a:endParaRPr lang="en-US" sz="1600" dirty="0"/>
          </a:p>
          <a:p>
            <a:pPr marL="0" indent="0">
              <a:lnSpc>
                <a:spcPct val="125000"/>
              </a:lnSpc>
              <a:buNone/>
            </a:pPr>
            <a:r>
              <a:rPr lang="en-US" sz="2000" dirty="0">
                <a:solidFill>
                  <a:srgbClr val="FFFFFF"/>
                </a:solidFill>
                <a:latin typeface="Calibri" pitchFamily="34" charset="0"/>
                <a:ea typeface="Calibri" pitchFamily="34" charset="-122"/>
                <a:cs typeface="Calibri" pitchFamily="34" charset="-120"/>
              </a:rPr>
              <a:t>Associate Professor of Biomedical Data Science, INM</a:t>
            </a:r>
            <a:endParaRPr lang="en-US" sz="1600" dirty="0"/>
          </a:p>
          <a:p>
            <a:pPr marL="0" indent="0">
              <a:lnSpc>
                <a:spcPct val="125000"/>
              </a:lnSpc>
              <a:buNone/>
            </a:pPr>
            <a:r>
              <a:rPr lang="en-US" sz="2000" dirty="0">
                <a:solidFill>
                  <a:srgbClr val="FFFFFF"/>
                </a:solidFill>
                <a:latin typeface="Calibri" pitchFamily="34" charset="0"/>
                <a:ea typeface="Calibri" pitchFamily="34" charset="-122"/>
                <a:cs typeface="Calibri" pitchFamily="34" charset="-120"/>
              </a:rPr>
              <a:t>johnsh@ruc.dk   ·   21 September 2026</a:t>
            </a:r>
            <a:endParaRPr lang="en-US" sz="1600" dirty="0"/>
          </a:p>
        </p:txBody>
      </p:sp>
      <p:pic>
        <p:nvPicPr>
          <p:cNvPr id="7" name="Picture 6">
            <a:extLst>
              <a:ext uri="{FF2B5EF4-FFF2-40B4-BE49-F238E27FC236}">
                <a16:creationId xmlns:a16="http://schemas.microsoft.com/office/drawing/2014/main" id="{CFA890C4-CE86-103C-C11B-96491A776FA9}"/>
              </a:ext>
            </a:extLst>
          </p:cNvPr>
          <p:cNvPicPr>
            <a:picLocks noChangeAspect="1"/>
          </p:cNvPicPr>
          <p:nvPr/>
        </p:nvPicPr>
        <p:blipFill>
          <a:blip r:embed="rId3"/>
          <a:stretch>
            <a:fillRect/>
          </a:stretch>
        </p:blipFill>
        <p:spPr>
          <a:xfrm>
            <a:off x="434433" y="4998674"/>
            <a:ext cx="1432684" cy="1066892"/>
          </a:xfrm>
          <a:prstGeom prst="rect">
            <a:avLst/>
          </a:prstGeom>
        </p:spPr>
      </p:pic>
      <p:pic>
        <p:nvPicPr>
          <p:cNvPr id="9" name="Picture 8">
            <a:extLst>
              <a:ext uri="{FF2B5EF4-FFF2-40B4-BE49-F238E27FC236}">
                <a16:creationId xmlns:a16="http://schemas.microsoft.com/office/drawing/2014/main" id="{1E7467E0-6C67-D31D-BFBD-EC3C3F3EAB06}"/>
              </a:ext>
            </a:extLst>
          </p:cNvPr>
          <p:cNvPicPr>
            <a:picLocks noChangeAspect="1"/>
          </p:cNvPicPr>
          <p:nvPr/>
        </p:nvPicPr>
        <p:blipFill>
          <a:blip r:embed="rId4"/>
          <a:stretch>
            <a:fillRect/>
          </a:stretch>
        </p:blipFill>
        <p:spPr>
          <a:xfrm>
            <a:off x="6969967" y="1005840"/>
            <a:ext cx="5137680" cy="4342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E6B4C956-7322-1973-8D46-E6F65EE7691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0355EFF-33A9-D6DD-472E-1456E605EA03}"/>
              </a:ext>
            </a:extLst>
          </p:cNvPr>
          <p:cNvSpPr/>
          <p:nvPr/>
        </p:nvSpPr>
        <p:spPr>
          <a:xfrm>
            <a:off x="552372" y="0"/>
            <a:ext cx="6329887" cy="6704666"/>
          </a:xfrm>
          <a:prstGeom prst="rect">
            <a:avLst/>
          </a:prstGeom>
          <a:noFill/>
          <a:ln/>
        </p:spPr>
        <p:txBody>
          <a:bodyPr wrap="square" lIns="0" tIns="0" rIns="0" bIns="0" rtlCol="0" anchor="ctr">
            <a:noAutofit/>
          </a:bodyPr>
          <a:lstStyle/>
          <a:p>
            <a:pPr marL="0" indent="0">
              <a:buNone/>
            </a:pPr>
            <a:r>
              <a:rPr lang="en-US" sz="6000" b="1" dirty="0">
                <a:solidFill>
                  <a:srgbClr val="FFFFFF"/>
                </a:solidFill>
                <a:latin typeface="Cambria" pitchFamily="34" charset="0"/>
                <a:ea typeface="Cambria" pitchFamily="34" charset="-122"/>
                <a:cs typeface="Cambria" pitchFamily="34" charset="-120"/>
              </a:rPr>
              <a:t>Want to see the teaching material, but can’t access Moodle? Visit the website via the QR code!</a:t>
            </a:r>
            <a:endParaRPr lang="en-US" sz="6000" dirty="0"/>
          </a:p>
        </p:txBody>
      </p:sp>
      <p:pic>
        <p:nvPicPr>
          <p:cNvPr id="8" name="Picture 7">
            <a:extLst>
              <a:ext uri="{FF2B5EF4-FFF2-40B4-BE49-F238E27FC236}">
                <a16:creationId xmlns:a16="http://schemas.microsoft.com/office/drawing/2014/main" id="{A5E2C2D0-486E-7CA0-5B6C-1C09D9AA0E7A}"/>
              </a:ext>
            </a:extLst>
          </p:cNvPr>
          <p:cNvPicPr>
            <a:picLocks noChangeAspect="1"/>
          </p:cNvPicPr>
          <p:nvPr/>
        </p:nvPicPr>
        <p:blipFill>
          <a:blip r:embed="rId3"/>
          <a:stretch>
            <a:fillRect/>
          </a:stretch>
        </p:blipFill>
        <p:spPr>
          <a:xfrm>
            <a:off x="7305870" y="1231330"/>
            <a:ext cx="4395340" cy="4395340"/>
          </a:xfrm>
          <a:prstGeom prst="rect">
            <a:avLst/>
          </a:prstGeom>
        </p:spPr>
      </p:pic>
    </p:spTree>
    <p:extLst>
      <p:ext uri="{BB962C8B-B14F-4D97-AF65-F5344CB8AC3E}">
        <p14:creationId xmlns:p14="http://schemas.microsoft.com/office/powerpoint/2010/main" val="731241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000" b="1" dirty="0">
                <a:solidFill>
                  <a:srgbClr val="1B4332"/>
                </a:solidFill>
                <a:latin typeface="Cambria" pitchFamily="34" charset="0"/>
                <a:ea typeface="Cambria" pitchFamily="34" charset="-122"/>
                <a:cs typeface="Cambria" pitchFamily="34" charset="-120"/>
              </a:rPr>
              <a:t>My background and why I teach this session</a:t>
            </a:r>
            <a:endParaRPr lang="en-US" sz="3000" dirty="0"/>
          </a:p>
        </p:txBody>
      </p:sp>
      <p:sp>
        <p:nvSpPr>
          <p:cNvPr id="3" name="Shape 1"/>
          <p:cNvSpPr/>
          <p:nvPr/>
        </p:nvSpPr>
        <p:spPr>
          <a:xfrm>
            <a:off x="640080" y="1645920"/>
            <a:ext cx="10881360" cy="1143000"/>
          </a:xfrm>
          <a:prstGeom prst="roundRect">
            <a:avLst>
              <a:gd name="adj" fmla="val 6400"/>
            </a:avLst>
          </a:prstGeom>
          <a:solidFill>
            <a:srgbClr val="EAF2EC"/>
          </a:solidFill>
          <a:ln/>
        </p:spPr>
        <p:txBody>
          <a:bodyPr wrap="square">
            <a:noAutofit/>
          </a:bodyPr>
          <a:lstStyle/>
          <a:p>
            <a:endParaRPr lang="en-US" sz="2400"/>
          </a:p>
        </p:txBody>
      </p:sp>
      <p:sp>
        <p:nvSpPr>
          <p:cNvPr id="4" name="Text 2"/>
          <p:cNvSpPr/>
          <p:nvPr/>
        </p:nvSpPr>
        <p:spPr>
          <a:xfrm>
            <a:off x="960120" y="1773936"/>
            <a:ext cx="4572000" cy="914400"/>
          </a:xfrm>
          <a:prstGeom prst="rect">
            <a:avLst/>
          </a:prstGeom>
          <a:noFill/>
          <a:ln/>
        </p:spPr>
        <p:txBody>
          <a:bodyPr wrap="square" lIns="0" tIns="0" rIns="0" bIns="0" rtlCol="0" anchor="ctr">
            <a:noAutofit/>
          </a:bodyPr>
          <a:lstStyle/>
          <a:p>
            <a:pPr marL="0" indent="0">
              <a:buNone/>
            </a:pPr>
            <a:r>
              <a:rPr lang="en-US" sz="2400" b="1" dirty="0">
                <a:solidFill>
                  <a:srgbClr val="1B4332"/>
                </a:solidFill>
                <a:latin typeface="Calibri" pitchFamily="34" charset="0"/>
                <a:ea typeface="Calibri" pitchFamily="34" charset="-122"/>
                <a:cs typeface="Calibri" pitchFamily="34" charset="-120"/>
              </a:rPr>
              <a:t>Ecology &amp; evolution</a:t>
            </a:r>
            <a:endParaRPr lang="en-US" sz="2400" dirty="0"/>
          </a:p>
        </p:txBody>
      </p:sp>
      <p:sp>
        <p:nvSpPr>
          <p:cNvPr id="5" name="Text 3"/>
          <p:cNvSpPr/>
          <p:nvPr/>
        </p:nvSpPr>
        <p:spPr>
          <a:xfrm>
            <a:off x="5760720" y="1773936"/>
            <a:ext cx="5486400" cy="9144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BSc Michigan, MSc Purdue, PhD Genetics (NC State, 2015)</a:t>
            </a:r>
            <a:endParaRPr lang="en-US" dirty="0"/>
          </a:p>
        </p:txBody>
      </p:sp>
      <p:sp>
        <p:nvSpPr>
          <p:cNvPr id="6" name="Shape 4"/>
          <p:cNvSpPr/>
          <p:nvPr/>
        </p:nvSpPr>
        <p:spPr>
          <a:xfrm>
            <a:off x="640080" y="3017520"/>
            <a:ext cx="10881360" cy="1143000"/>
          </a:xfrm>
          <a:prstGeom prst="roundRect">
            <a:avLst>
              <a:gd name="adj" fmla="val 6400"/>
            </a:avLst>
          </a:prstGeom>
          <a:solidFill>
            <a:srgbClr val="EAF2EC"/>
          </a:solidFill>
          <a:ln/>
        </p:spPr>
        <p:txBody>
          <a:bodyPr wrap="square">
            <a:noAutofit/>
          </a:bodyPr>
          <a:lstStyle/>
          <a:p>
            <a:endParaRPr lang="en-US" sz="2400"/>
          </a:p>
        </p:txBody>
      </p:sp>
      <p:sp>
        <p:nvSpPr>
          <p:cNvPr id="7" name="Text 5"/>
          <p:cNvSpPr/>
          <p:nvPr/>
        </p:nvSpPr>
        <p:spPr>
          <a:xfrm>
            <a:off x="960120" y="3145536"/>
            <a:ext cx="4572000" cy="914400"/>
          </a:xfrm>
          <a:prstGeom prst="rect">
            <a:avLst/>
          </a:prstGeom>
          <a:noFill/>
          <a:ln/>
        </p:spPr>
        <p:txBody>
          <a:bodyPr wrap="square" lIns="0" tIns="0" rIns="0" bIns="0" rtlCol="0" anchor="ctr">
            <a:noAutofit/>
          </a:bodyPr>
          <a:lstStyle/>
          <a:p>
            <a:pPr marL="0" indent="0">
              <a:buNone/>
            </a:pPr>
            <a:r>
              <a:rPr lang="en-US" sz="2400" b="1" dirty="0">
                <a:solidFill>
                  <a:srgbClr val="1B4332"/>
                </a:solidFill>
                <a:latin typeface="Calibri" pitchFamily="34" charset="0"/>
                <a:ea typeface="Calibri" pitchFamily="34" charset="-122"/>
                <a:cs typeface="Calibri" pitchFamily="34" charset="-120"/>
              </a:rPr>
              <a:t>Statistical and population genetics</a:t>
            </a:r>
            <a:endParaRPr lang="en-US" sz="2400" dirty="0"/>
          </a:p>
        </p:txBody>
      </p:sp>
      <p:sp>
        <p:nvSpPr>
          <p:cNvPr id="8" name="Text 6"/>
          <p:cNvSpPr/>
          <p:nvPr/>
        </p:nvSpPr>
        <p:spPr>
          <a:xfrm>
            <a:off x="5760720" y="3145536"/>
            <a:ext cx="5486400" cy="9144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Postdocs at UNC and the Institute for Biological Psychiatry</a:t>
            </a:r>
            <a:endParaRPr lang="en-US" dirty="0"/>
          </a:p>
        </p:txBody>
      </p:sp>
      <p:sp>
        <p:nvSpPr>
          <p:cNvPr id="9" name="Shape 7"/>
          <p:cNvSpPr/>
          <p:nvPr/>
        </p:nvSpPr>
        <p:spPr>
          <a:xfrm>
            <a:off x="640080" y="4389120"/>
            <a:ext cx="10881360" cy="1143000"/>
          </a:xfrm>
          <a:prstGeom prst="roundRect">
            <a:avLst>
              <a:gd name="adj" fmla="val 6400"/>
            </a:avLst>
          </a:prstGeom>
          <a:solidFill>
            <a:srgbClr val="EAF2EC"/>
          </a:solidFill>
          <a:ln/>
        </p:spPr>
        <p:txBody>
          <a:bodyPr wrap="square">
            <a:noAutofit/>
          </a:bodyPr>
          <a:lstStyle/>
          <a:p>
            <a:endParaRPr lang="en-US" sz="2400"/>
          </a:p>
        </p:txBody>
      </p:sp>
      <p:sp>
        <p:nvSpPr>
          <p:cNvPr id="10" name="Text 8"/>
          <p:cNvSpPr/>
          <p:nvPr/>
        </p:nvSpPr>
        <p:spPr>
          <a:xfrm>
            <a:off x="960120" y="4517136"/>
            <a:ext cx="4572000" cy="914400"/>
          </a:xfrm>
          <a:prstGeom prst="rect">
            <a:avLst/>
          </a:prstGeom>
          <a:noFill/>
          <a:ln/>
        </p:spPr>
        <p:txBody>
          <a:bodyPr wrap="square" lIns="0" tIns="0" rIns="0" bIns="0" rtlCol="0" anchor="ctr">
            <a:noAutofit/>
          </a:bodyPr>
          <a:lstStyle/>
          <a:p>
            <a:pPr marL="0" indent="0">
              <a:buNone/>
            </a:pPr>
            <a:r>
              <a:rPr lang="en-US" sz="2400" b="1" dirty="0">
                <a:solidFill>
                  <a:srgbClr val="1B4332"/>
                </a:solidFill>
                <a:latin typeface="Calibri" pitchFamily="34" charset="0"/>
                <a:ea typeface="Calibri" pitchFamily="34" charset="-122"/>
                <a:cs typeface="Calibri" pitchFamily="34" charset="-120"/>
              </a:rPr>
              <a:t>Biomedical data science at RUC</a:t>
            </a:r>
            <a:endParaRPr lang="en-US" sz="2400" dirty="0"/>
          </a:p>
        </p:txBody>
      </p:sp>
      <p:sp>
        <p:nvSpPr>
          <p:cNvPr id="11" name="Text 9"/>
          <p:cNvSpPr/>
          <p:nvPr/>
        </p:nvSpPr>
        <p:spPr>
          <a:xfrm>
            <a:off x="5760720" y="4517136"/>
            <a:ext cx="5486400" cy="9144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Register-based epidemiology, pharmacogenomics, Genome Wide Association Studies (since 2022)</a:t>
            </a:r>
            <a:endParaRPr lang="en-US" dirty="0"/>
          </a:p>
        </p:txBody>
      </p:sp>
      <p:sp>
        <p:nvSpPr>
          <p:cNvPr id="13" name="Text 11"/>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2/24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105156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One central idea for today</a:t>
            </a:r>
            <a:endParaRPr lang="en-US" sz="3600" dirty="0"/>
          </a:p>
        </p:txBody>
      </p:sp>
      <p:sp>
        <p:nvSpPr>
          <p:cNvPr id="3" name="Shape 1"/>
          <p:cNvSpPr/>
          <p:nvPr/>
        </p:nvSpPr>
        <p:spPr>
          <a:xfrm>
            <a:off x="640080" y="1325880"/>
            <a:ext cx="10881360" cy="1554480"/>
          </a:xfrm>
          <a:prstGeom prst="roundRect">
            <a:avLst>
              <a:gd name="adj" fmla="val 5882"/>
            </a:avLst>
          </a:prstGeom>
          <a:solidFill>
            <a:srgbClr val="1B4332"/>
          </a:solidFill>
          <a:ln/>
        </p:spPr>
        <p:txBody>
          <a:bodyPr wrap="square">
            <a:noAutofit/>
          </a:bodyPr>
          <a:lstStyle/>
          <a:p>
            <a:endParaRPr lang="en-US" sz="2400"/>
          </a:p>
        </p:txBody>
      </p:sp>
      <p:sp>
        <p:nvSpPr>
          <p:cNvPr id="4" name="Text 2"/>
          <p:cNvSpPr/>
          <p:nvPr/>
        </p:nvSpPr>
        <p:spPr>
          <a:xfrm>
            <a:off x="858416" y="1325880"/>
            <a:ext cx="10487608" cy="1554480"/>
          </a:xfrm>
          <a:prstGeom prst="rect">
            <a:avLst/>
          </a:prstGeom>
          <a:noFill/>
          <a:ln/>
        </p:spPr>
        <p:txBody>
          <a:bodyPr wrap="square" lIns="0" tIns="0" rIns="0" bIns="0" rtlCol="0" anchor="ctr">
            <a:noAutofit/>
          </a:bodyPr>
          <a:lstStyle/>
          <a:p>
            <a:pPr marL="0" indent="0">
              <a:buNone/>
            </a:pPr>
            <a:r>
              <a:rPr lang="en-US" sz="3200" b="1" dirty="0">
                <a:solidFill>
                  <a:srgbClr val="FFFFFF"/>
                </a:solidFill>
                <a:latin typeface="Cambria" pitchFamily="34" charset="0"/>
                <a:ea typeface="Cambria" pitchFamily="34" charset="-122"/>
                <a:cs typeface="Cambria" pitchFamily="34" charset="-120"/>
              </a:rPr>
              <a:t>Humans are removing the variety of life faster than at any point in our species' history, and the evidence is overwhelming!</a:t>
            </a:r>
            <a:endParaRPr lang="en-US" sz="3200" dirty="0"/>
          </a:p>
        </p:txBody>
      </p:sp>
      <p:sp>
        <p:nvSpPr>
          <p:cNvPr id="5" name="Shape 3"/>
          <p:cNvSpPr/>
          <p:nvPr/>
        </p:nvSpPr>
        <p:spPr>
          <a:xfrm>
            <a:off x="1325880" y="3383280"/>
            <a:ext cx="566928" cy="566928"/>
          </a:xfrm>
          <a:prstGeom prst="ellipse">
            <a:avLst/>
          </a:prstGeom>
          <a:solidFill>
            <a:srgbClr val="2D6A4F"/>
          </a:solidFill>
          <a:ln/>
        </p:spPr>
        <p:txBody>
          <a:bodyPr wrap="square">
            <a:noAutofit/>
          </a:bodyPr>
          <a:lstStyle/>
          <a:p>
            <a:endParaRPr lang="en-US" sz="2400"/>
          </a:p>
        </p:txBody>
      </p:sp>
      <p:sp>
        <p:nvSpPr>
          <p:cNvPr id="6" name="Text 4"/>
          <p:cNvSpPr/>
          <p:nvPr/>
        </p:nvSpPr>
        <p:spPr>
          <a:xfrm>
            <a:off x="1325880" y="3383280"/>
            <a:ext cx="566928" cy="566928"/>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534924" y="4114800"/>
            <a:ext cx="2148840" cy="73152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What biodiversity is</a:t>
            </a:r>
            <a:endParaRPr lang="en-US" sz="2000" dirty="0"/>
          </a:p>
        </p:txBody>
      </p:sp>
      <p:sp>
        <p:nvSpPr>
          <p:cNvPr id="8" name="Text 6"/>
          <p:cNvSpPr/>
          <p:nvPr/>
        </p:nvSpPr>
        <p:spPr>
          <a:xfrm>
            <a:off x="534924" y="4892040"/>
            <a:ext cx="2148840" cy="137160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genes, species, ecosystems</a:t>
            </a:r>
            <a:endParaRPr lang="en-US" sz="2000" dirty="0"/>
          </a:p>
        </p:txBody>
      </p:sp>
      <p:sp>
        <p:nvSpPr>
          <p:cNvPr id="9" name="Shape 7"/>
          <p:cNvSpPr/>
          <p:nvPr/>
        </p:nvSpPr>
        <p:spPr>
          <a:xfrm>
            <a:off x="3538728" y="3383280"/>
            <a:ext cx="566928" cy="566928"/>
          </a:xfrm>
          <a:prstGeom prst="ellipse">
            <a:avLst/>
          </a:prstGeom>
          <a:solidFill>
            <a:srgbClr val="2D6A4F"/>
          </a:solidFill>
          <a:ln/>
        </p:spPr>
        <p:txBody>
          <a:bodyPr wrap="square">
            <a:noAutofit/>
          </a:bodyPr>
          <a:lstStyle/>
          <a:p>
            <a:endParaRPr lang="en-US" sz="2400"/>
          </a:p>
        </p:txBody>
      </p:sp>
      <p:sp>
        <p:nvSpPr>
          <p:cNvPr id="10" name="Text 8"/>
          <p:cNvSpPr/>
          <p:nvPr/>
        </p:nvSpPr>
        <p:spPr>
          <a:xfrm>
            <a:off x="3538728" y="3383280"/>
            <a:ext cx="566928" cy="566928"/>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1" name="Text 9"/>
          <p:cNvSpPr/>
          <p:nvPr/>
        </p:nvSpPr>
        <p:spPr>
          <a:xfrm>
            <a:off x="2747772" y="4114800"/>
            <a:ext cx="2148840" cy="73152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The evidence</a:t>
            </a:r>
            <a:endParaRPr lang="en-US" sz="2000" dirty="0"/>
          </a:p>
        </p:txBody>
      </p:sp>
      <p:sp>
        <p:nvSpPr>
          <p:cNvPr id="12" name="Text 10"/>
          <p:cNvSpPr/>
          <p:nvPr/>
        </p:nvSpPr>
        <p:spPr>
          <a:xfrm>
            <a:off x="2747772" y="4892040"/>
            <a:ext cx="2148840" cy="137160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populations, extinctions, biomass</a:t>
            </a:r>
            <a:endParaRPr lang="en-US" sz="2000" dirty="0"/>
          </a:p>
        </p:txBody>
      </p:sp>
      <p:sp>
        <p:nvSpPr>
          <p:cNvPr id="13" name="Shape 11"/>
          <p:cNvSpPr/>
          <p:nvPr/>
        </p:nvSpPr>
        <p:spPr>
          <a:xfrm>
            <a:off x="5751576" y="3383280"/>
            <a:ext cx="566928" cy="566928"/>
          </a:xfrm>
          <a:prstGeom prst="ellipse">
            <a:avLst/>
          </a:prstGeom>
          <a:solidFill>
            <a:srgbClr val="2D6A4F"/>
          </a:solidFill>
          <a:ln/>
        </p:spPr>
        <p:txBody>
          <a:bodyPr wrap="square">
            <a:noAutofit/>
          </a:bodyPr>
          <a:lstStyle/>
          <a:p>
            <a:endParaRPr lang="en-US" sz="2400"/>
          </a:p>
        </p:txBody>
      </p:sp>
      <p:sp>
        <p:nvSpPr>
          <p:cNvPr id="14" name="Text 12"/>
          <p:cNvSpPr/>
          <p:nvPr/>
        </p:nvSpPr>
        <p:spPr>
          <a:xfrm>
            <a:off x="5751576" y="3383280"/>
            <a:ext cx="566928" cy="566928"/>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5" name="Text 13"/>
          <p:cNvSpPr/>
          <p:nvPr/>
        </p:nvSpPr>
        <p:spPr>
          <a:xfrm>
            <a:off x="4960620" y="4114800"/>
            <a:ext cx="2148840" cy="73152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The drivers</a:t>
            </a:r>
            <a:endParaRPr lang="en-US" sz="2000" dirty="0"/>
          </a:p>
        </p:txBody>
      </p:sp>
      <p:sp>
        <p:nvSpPr>
          <p:cNvPr id="16" name="Text 14"/>
          <p:cNvSpPr/>
          <p:nvPr/>
        </p:nvSpPr>
        <p:spPr>
          <a:xfrm>
            <a:off x="4960620" y="4892040"/>
            <a:ext cx="2148840" cy="137160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five ways we cause it</a:t>
            </a:r>
            <a:endParaRPr lang="en-US" sz="2000" dirty="0"/>
          </a:p>
        </p:txBody>
      </p:sp>
      <p:sp>
        <p:nvSpPr>
          <p:cNvPr id="17" name="Shape 15"/>
          <p:cNvSpPr/>
          <p:nvPr/>
        </p:nvSpPr>
        <p:spPr>
          <a:xfrm>
            <a:off x="7964424" y="3383280"/>
            <a:ext cx="566928" cy="566928"/>
          </a:xfrm>
          <a:prstGeom prst="ellipse">
            <a:avLst/>
          </a:prstGeom>
          <a:solidFill>
            <a:srgbClr val="2D6A4F"/>
          </a:solidFill>
          <a:ln/>
        </p:spPr>
        <p:txBody>
          <a:bodyPr wrap="square">
            <a:noAutofit/>
          </a:bodyPr>
          <a:lstStyle/>
          <a:p>
            <a:endParaRPr lang="en-US" sz="2400"/>
          </a:p>
        </p:txBody>
      </p:sp>
      <p:sp>
        <p:nvSpPr>
          <p:cNvPr id="18" name="Text 16"/>
          <p:cNvSpPr/>
          <p:nvPr/>
        </p:nvSpPr>
        <p:spPr>
          <a:xfrm>
            <a:off x="7964424" y="3383280"/>
            <a:ext cx="566928" cy="566928"/>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19" name="Text 17"/>
          <p:cNvSpPr/>
          <p:nvPr/>
        </p:nvSpPr>
        <p:spPr>
          <a:xfrm>
            <a:off x="7173468" y="4114800"/>
            <a:ext cx="2148840" cy="73152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The safe limits</a:t>
            </a:r>
            <a:endParaRPr lang="en-US" sz="2000" dirty="0"/>
          </a:p>
        </p:txBody>
      </p:sp>
      <p:sp>
        <p:nvSpPr>
          <p:cNvPr id="20" name="Text 18"/>
          <p:cNvSpPr/>
          <p:nvPr/>
        </p:nvSpPr>
        <p:spPr>
          <a:xfrm>
            <a:off x="7173468" y="4892040"/>
            <a:ext cx="2148840" cy="137160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planetary boundaries</a:t>
            </a:r>
            <a:endParaRPr lang="en-US" sz="2000" dirty="0"/>
          </a:p>
        </p:txBody>
      </p:sp>
      <p:sp>
        <p:nvSpPr>
          <p:cNvPr id="21" name="Shape 19"/>
          <p:cNvSpPr/>
          <p:nvPr/>
        </p:nvSpPr>
        <p:spPr>
          <a:xfrm>
            <a:off x="10177272" y="3383280"/>
            <a:ext cx="566928" cy="566928"/>
          </a:xfrm>
          <a:prstGeom prst="ellipse">
            <a:avLst/>
          </a:prstGeom>
          <a:solidFill>
            <a:srgbClr val="C1543C"/>
          </a:solidFill>
          <a:ln/>
        </p:spPr>
        <p:txBody>
          <a:bodyPr wrap="square">
            <a:noAutofit/>
          </a:bodyPr>
          <a:lstStyle/>
          <a:p>
            <a:endParaRPr lang="en-US" sz="2400"/>
          </a:p>
        </p:txBody>
      </p:sp>
      <p:sp>
        <p:nvSpPr>
          <p:cNvPr id="22" name="Text 20"/>
          <p:cNvSpPr/>
          <p:nvPr/>
        </p:nvSpPr>
        <p:spPr>
          <a:xfrm>
            <a:off x="10177272" y="3383280"/>
            <a:ext cx="566928" cy="566928"/>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23" name="Text 21"/>
          <p:cNvSpPr/>
          <p:nvPr/>
        </p:nvSpPr>
        <p:spPr>
          <a:xfrm>
            <a:off x="9386315" y="4114800"/>
            <a:ext cx="2148840" cy="73152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Your turn</a:t>
            </a:r>
            <a:endParaRPr lang="en-US" sz="2000" dirty="0"/>
          </a:p>
        </p:txBody>
      </p:sp>
      <p:sp>
        <p:nvSpPr>
          <p:cNvPr id="24" name="Text 22"/>
          <p:cNvSpPr/>
          <p:nvPr/>
        </p:nvSpPr>
        <p:spPr>
          <a:xfrm>
            <a:off x="9386315" y="4892040"/>
            <a:ext cx="2148840" cy="137160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case analysis in groups, after the break</a:t>
            </a:r>
            <a:endParaRPr lang="en-US" sz="2000" dirty="0"/>
          </a:p>
        </p:txBody>
      </p:sp>
      <p:sp>
        <p:nvSpPr>
          <p:cNvPr id="25" name="Text 23"/>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3/24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Biodiversity means variety at three levels</a:t>
            </a:r>
            <a:endParaRPr lang="en-US" sz="3200" dirty="0"/>
          </a:p>
        </p:txBody>
      </p:sp>
      <p:sp>
        <p:nvSpPr>
          <p:cNvPr id="3" name="Shape 1"/>
          <p:cNvSpPr/>
          <p:nvPr/>
        </p:nvSpPr>
        <p:spPr>
          <a:xfrm>
            <a:off x="640080" y="1645920"/>
            <a:ext cx="3429000" cy="4023360"/>
          </a:xfrm>
          <a:prstGeom prst="roundRect">
            <a:avLst>
              <a:gd name="adj" fmla="val 2667"/>
            </a:avLst>
          </a:prstGeom>
          <a:solidFill>
            <a:srgbClr val="EAF2EC"/>
          </a:solidFill>
          <a:ln w="12700">
            <a:solidFill>
              <a:srgbClr val="74A57F"/>
            </a:solidFill>
            <a:prstDash val="solid"/>
          </a:ln>
        </p:spPr>
        <p:txBody>
          <a:bodyPr wrap="square">
            <a:noAutofit/>
          </a:bodyPr>
          <a:lstStyle/>
          <a:p>
            <a:endParaRPr lang="en-US"/>
          </a:p>
        </p:txBody>
      </p:sp>
      <p:sp>
        <p:nvSpPr>
          <p:cNvPr id="4" name="Shape 2"/>
          <p:cNvSpPr/>
          <p:nvPr/>
        </p:nvSpPr>
        <p:spPr>
          <a:xfrm>
            <a:off x="1938528" y="1965960"/>
            <a:ext cx="822960" cy="822960"/>
          </a:xfrm>
          <a:prstGeom prst="ellipse">
            <a:avLst/>
          </a:prstGeom>
          <a:solidFill>
            <a:srgbClr val="2D6A4F"/>
          </a:solidFill>
          <a:ln/>
        </p:spPr>
        <p:txBody>
          <a:bodyPr wrap="square">
            <a:noAutofit/>
          </a:bodyPr>
          <a:lstStyle/>
          <a:p>
            <a:endParaRPr lang="en-US"/>
          </a:p>
        </p:txBody>
      </p:sp>
      <p:sp>
        <p:nvSpPr>
          <p:cNvPr id="5" name="Text 3"/>
          <p:cNvSpPr/>
          <p:nvPr/>
        </p:nvSpPr>
        <p:spPr>
          <a:xfrm>
            <a:off x="1938528" y="1965960"/>
            <a:ext cx="822960" cy="822960"/>
          </a:xfrm>
          <a:prstGeom prst="rect">
            <a:avLst/>
          </a:prstGeom>
          <a:noFill/>
          <a:ln/>
        </p:spPr>
        <p:txBody>
          <a:bodyPr wrap="square" lIns="0" tIns="0" rIns="0" bIns="0" rtlCol="0" anchor="ctr">
            <a:noAutofit/>
          </a:bodyP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914400" y="2971800"/>
            <a:ext cx="2880360" cy="457200"/>
          </a:xfrm>
          <a:prstGeom prst="rect">
            <a:avLst/>
          </a:prstGeom>
          <a:noFill/>
          <a:ln/>
        </p:spPr>
        <p:txBody>
          <a:bodyPr wrap="square" lIns="0" tIns="0" rIns="0" bIns="0" rtlCol="0" anchor="ctr">
            <a:noAutofit/>
          </a:bodyPr>
          <a:lstStyle/>
          <a:p>
            <a:pPr marL="0" indent="0" algn="ctr">
              <a:buNone/>
            </a:pPr>
            <a:r>
              <a:rPr lang="en-US" sz="3200" b="1" dirty="0">
                <a:solidFill>
                  <a:srgbClr val="1B4332"/>
                </a:solidFill>
                <a:latin typeface="Cambria" pitchFamily="34" charset="0"/>
                <a:ea typeface="Cambria" pitchFamily="34" charset="-122"/>
                <a:cs typeface="Cambria" pitchFamily="34" charset="-120"/>
              </a:rPr>
              <a:t>Genes</a:t>
            </a:r>
            <a:endParaRPr lang="en-US" sz="3200" dirty="0"/>
          </a:p>
        </p:txBody>
      </p:sp>
      <p:sp>
        <p:nvSpPr>
          <p:cNvPr id="7" name="Text 5"/>
          <p:cNvSpPr/>
          <p:nvPr/>
        </p:nvSpPr>
        <p:spPr>
          <a:xfrm>
            <a:off x="914400" y="3474720"/>
            <a:ext cx="2880360" cy="411480"/>
          </a:xfrm>
          <a:prstGeom prst="rect">
            <a:avLst/>
          </a:prstGeom>
          <a:noFill/>
          <a:ln/>
        </p:spPr>
        <p:txBody>
          <a:bodyPr wrap="square" lIns="0" tIns="0" rIns="0" bIns="0" rtlCol="0" anchor="ctr">
            <a:noAutofit/>
          </a:bodyPr>
          <a:lstStyle/>
          <a:p>
            <a:pPr marL="0" indent="0" algn="ctr">
              <a:buNone/>
            </a:pPr>
            <a:r>
              <a:rPr lang="en-US" sz="2000" i="1" dirty="0">
                <a:solidFill>
                  <a:srgbClr val="5E6B62"/>
                </a:solidFill>
                <a:latin typeface="Calibri" pitchFamily="34" charset="0"/>
                <a:ea typeface="Calibri" pitchFamily="34" charset="-122"/>
                <a:cs typeface="Calibri" pitchFamily="34" charset="-120"/>
              </a:rPr>
              <a:t>Variation within a species</a:t>
            </a:r>
            <a:endParaRPr lang="en-US" sz="2000" dirty="0"/>
          </a:p>
        </p:txBody>
      </p:sp>
      <p:sp>
        <p:nvSpPr>
          <p:cNvPr id="8" name="Text 6"/>
          <p:cNvSpPr/>
          <p:nvPr/>
        </p:nvSpPr>
        <p:spPr>
          <a:xfrm>
            <a:off x="960120" y="3977639"/>
            <a:ext cx="2788920" cy="1737360"/>
          </a:xfrm>
          <a:prstGeom prst="rect">
            <a:avLst/>
          </a:prstGeom>
          <a:noFill/>
          <a:ln/>
        </p:spPr>
        <p:txBody>
          <a:bodyPr wrap="square" lIns="0" tIns="0" rIns="0" bIns="0" rtlCol="0" anchor="ctr">
            <a:noAutofit/>
          </a:bodyPr>
          <a:lstStyle/>
          <a:p>
            <a:pPr marL="0" indent="0" algn="l">
              <a:buNone/>
            </a:pPr>
            <a:r>
              <a:rPr lang="en-US" sz="2000" dirty="0">
                <a:solidFill>
                  <a:srgbClr val="1D2A22"/>
                </a:solidFill>
                <a:latin typeface="Calibri" pitchFamily="34" charset="0"/>
                <a:ea typeface="Calibri" pitchFamily="34" charset="-122"/>
                <a:cs typeface="Calibri" pitchFamily="34" charset="-120"/>
              </a:rPr>
              <a:t>Wild banana relatives carry disease-resistance genes that plantation bananas lack.</a:t>
            </a:r>
            <a:endParaRPr lang="en-US" dirty="0"/>
          </a:p>
        </p:txBody>
      </p:sp>
      <p:sp>
        <p:nvSpPr>
          <p:cNvPr id="9" name="Shape 7"/>
          <p:cNvSpPr/>
          <p:nvPr/>
        </p:nvSpPr>
        <p:spPr>
          <a:xfrm>
            <a:off x="4343400" y="1645920"/>
            <a:ext cx="3429000" cy="4023360"/>
          </a:xfrm>
          <a:prstGeom prst="roundRect">
            <a:avLst>
              <a:gd name="adj" fmla="val 2667"/>
            </a:avLst>
          </a:prstGeom>
          <a:solidFill>
            <a:srgbClr val="EAF2EC"/>
          </a:solidFill>
          <a:ln w="12700">
            <a:solidFill>
              <a:srgbClr val="74A57F"/>
            </a:solidFill>
            <a:prstDash val="solid"/>
          </a:ln>
        </p:spPr>
        <p:txBody>
          <a:bodyPr wrap="square">
            <a:noAutofit/>
          </a:bodyPr>
          <a:lstStyle/>
          <a:p>
            <a:endParaRPr lang="en-US"/>
          </a:p>
        </p:txBody>
      </p:sp>
      <p:sp>
        <p:nvSpPr>
          <p:cNvPr id="10" name="Shape 8"/>
          <p:cNvSpPr/>
          <p:nvPr/>
        </p:nvSpPr>
        <p:spPr>
          <a:xfrm>
            <a:off x="5641848" y="1965960"/>
            <a:ext cx="822960" cy="822960"/>
          </a:xfrm>
          <a:prstGeom prst="ellipse">
            <a:avLst/>
          </a:prstGeom>
          <a:solidFill>
            <a:srgbClr val="2D6A4F"/>
          </a:solidFill>
          <a:ln/>
        </p:spPr>
        <p:txBody>
          <a:bodyPr wrap="square">
            <a:noAutofit/>
          </a:bodyPr>
          <a:lstStyle/>
          <a:p>
            <a:endParaRPr lang="en-US"/>
          </a:p>
        </p:txBody>
      </p:sp>
      <p:sp>
        <p:nvSpPr>
          <p:cNvPr id="11" name="Text 9"/>
          <p:cNvSpPr/>
          <p:nvPr/>
        </p:nvSpPr>
        <p:spPr>
          <a:xfrm>
            <a:off x="5641848" y="1965960"/>
            <a:ext cx="822960" cy="822960"/>
          </a:xfrm>
          <a:prstGeom prst="rect">
            <a:avLst/>
          </a:prstGeom>
          <a:noFill/>
          <a:ln/>
        </p:spPr>
        <p:txBody>
          <a:bodyPr wrap="square" lIns="0" tIns="0" rIns="0" bIns="0" rtlCol="0" anchor="ctr">
            <a:noAutofit/>
          </a:bodyP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4617720" y="2971800"/>
            <a:ext cx="2880360" cy="457200"/>
          </a:xfrm>
          <a:prstGeom prst="rect">
            <a:avLst/>
          </a:prstGeom>
          <a:noFill/>
          <a:ln/>
        </p:spPr>
        <p:txBody>
          <a:bodyPr wrap="square" lIns="0" tIns="0" rIns="0" bIns="0" rtlCol="0" anchor="ctr">
            <a:noAutofit/>
          </a:bodyPr>
          <a:lstStyle/>
          <a:p>
            <a:pPr marL="0" indent="0" algn="ctr">
              <a:buNone/>
            </a:pPr>
            <a:r>
              <a:rPr lang="en-US" sz="3200" b="1" dirty="0">
                <a:solidFill>
                  <a:srgbClr val="1B4332"/>
                </a:solidFill>
                <a:latin typeface="Cambria" pitchFamily="34" charset="0"/>
                <a:ea typeface="Cambria" pitchFamily="34" charset="-122"/>
                <a:cs typeface="Cambria" pitchFamily="34" charset="-120"/>
              </a:rPr>
              <a:t>Species</a:t>
            </a:r>
            <a:endParaRPr lang="en-US" sz="3200" dirty="0"/>
          </a:p>
        </p:txBody>
      </p:sp>
      <p:sp>
        <p:nvSpPr>
          <p:cNvPr id="13" name="Text 11"/>
          <p:cNvSpPr/>
          <p:nvPr/>
        </p:nvSpPr>
        <p:spPr>
          <a:xfrm>
            <a:off x="4617720" y="3474720"/>
            <a:ext cx="2880360" cy="411480"/>
          </a:xfrm>
          <a:prstGeom prst="rect">
            <a:avLst/>
          </a:prstGeom>
          <a:noFill/>
          <a:ln/>
        </p:spPr>
        <p:txBody>
          <a:bodyPr wrap="square" lIns="0" tIns="0" rIns="0" bIns="0" rtlCol="0" anchor="ctr">
            <a:noAutofit/>
          </a:bodyPr>
          <a:lstStyle/>
          <a:p>
            <a:pPr marL="0" indent="0" algn="ctr">
              <a:buNone/>
            </a:pPr>
            <a:r>
              <a:rPr lang="en-US" sz="2000" i="1" dirty="0">
                <a:solidFill>
                  <a:srgbClr val="5E6B62"/>
                </a:solidFill>
                <a:latin typeface="Calibri" pitchFamily="34" charset="0"/>
                <a:ea typeface="Calibri" pitchFamily="34" charset="-122"/>
                <a:cs typeface="Calibri" pitchFamily="34" charset="-120"/>
              </a:rPr>
              <a:t>Variety of organisms</a:t>
            </a:r>
            <a:endParaRPr lang="en-US" sz="2000" dirty="0"/>
          </a:p>
        </p:txBody>
      </p:sp>
      <p:sp>
        <p:nvSpPr>
          <p:cNvPr id="14" name="Text 12"/>
          <p:cNvSpPr/>
          <p:nvPr/>
        </p:nvSpPr>
        <p:spPr>
          <a:xfrm>
            <a:off x="4663440" y="3977639"/>
            <a:ext cx="2788920" cy="1737360"/>
          </a:xfrm>
          <a:prstGeom prst="rect">
            <a:avLst/>
          </a:prstGeom>
          <a:noFill/>
          <a:ln/>
        </p:spPr>
        <p:txBody>
          <a:bodyPr wrap="square" lIns="0" tIns="0" rIns="0" bIns="0" rtlCol="0" anchor="ctr">
            <a:noAutofit/>
          </a:bodyPr>
          <a:lstStyle/>
          <a:p>
            <a:pPr marL="0" indent="0" algn="l">
              <a:buNone/>
            </a:pPr>
            <a:r>
              <a:rPr lang="en-US" sz="2000" dirty="0">
                <a:solidFill>
                  <a:srgbClr val="1D2A22"/>
                </a:solidFill>
                <a:latin typeface="Calibri" pitchFamily="34" charset="0"/>
                <a:ea typeface="Calibri" pitchFamily="34" charset="-122"/>
                <a:cs typeface="Calibri" pitchFamily="34" charset="-120"/>
              </a:rPr>
              <a:t>Roughly 2 million species described; around 8 million estimated to exist.</a:t>
            </a:r>
            <a:endParaRPr lang="en-US" dirty="0"/>
          </a:p>
        </p:txBody>
      </p:sp>
      <p:sp>
        <p:nvSpPr>
          <p:cNvPr id="15" name="Shape 13"/>
          <p:cNvSpPr/>
          <p:nvPr/>
        </p:nvSpPr>
        <p:spPr>
          <a:xfrm>
            <a:off x="8046720" y="1645920"/>
            <a:ext cx="3429000" cy="4023360"/>
          </a:xfrm>
          <a:prstGeom prst="roundRect">
            <a:avLst>
              <a:gd name="adj" fmla="val 2667"/>
            </a:avLst>
          </a:prstGeom>
          <a:solidFill>
            <a:srgbClr val="EAF2EC"/>
          </a:solidFill>
          <a:ln w="12700">
            <a:solidFill>
              <a:srgbClr val="74A57F"/>
            </a:solidFill>
            <a:prstDash val="solid"/>
          </a:ln>
        </p:spPr>
        <p:txBody>
          <a:bodyPr wrap="square">
            <a:noAutofit/>
          </a:bodyPr>
          <a:lstStyle/>
          <a:p>
            <a:endParaRPr lang="en-US"/>
          </a:p>
        </p:txBody>
      </p:sp>
      <p:sp>
        <p:nvSpPr>
          <p:cNvPr id="16" name="Shape 14"/>
          <p:cNvSpPr/>
          <p:nvPr/>
        </p:nvSpPr>
        <p:spPr>
          <a:xfrm>
            <a:off x="9345168" y="1965960"/>
            <a:ext cx="822960" cy="822960"/>
          </a:xfrm>
          <a:prstGeom prst="ellipse">
            <a:avLst/>
          </a:prstGeom>
          <a:solidFill>
            <a:srgbClr val="2D6A4F"/>
          </a:solidFill>
          <a:ln/>
        </p:spPr>
        <p:txBody>
          <a:bodyPr wrap="square">
            <a:noAutofit/>
          </a:bodyPr>
          <a:lstStyle/>
          <a:p>
            <a:endParaRPr lang="en-US"/>
          </a:p>
        </p:txBody>
      </p:sp>
      <p:sp>
        <p:nvSpPr>
          <p:cNvPr id="17" name="Text 15"/>
          <p:cNvSpPr/>
          <p:nvPr/>
        </p:nvSpPr>
        <p:spPr>
          <a:xfrm>
            <a:off x="9345168" y="1965960"/>
            <a:ext cx="822960" cy="822960"/>
          </a:xfrm>
          <a:prstGeom prst="rect">
            <a:avLst/>
          </a:prstGeom>
          <a:noFill/>
          <a:ln/>
        </p:spPr>
        <p:txBody>
          <a:bodyPr wrap="square" lIns="0" tIns="0" rIns="0" bIns="0" rtlCol="0" anchor="ctr">
            <a:noAutofit/>
          </a:bodyP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8" name="Text 16"/>
          <p:cNvSpPr/>
          <p:nvPr/>
        </p:nvSpPr>
        <p:spPr>
          <a:xfrm>
            <a:off x="8321040" y="2971800"/>
            <a:ext cx="2880360" cy="457200"/>
          </a:xfrm>
          <a:prstGeom prst="rect">
            <a:avLst/>
          </a:prstGeom>
          <a:noFill/>
          <a:ln/>
        </p:spPr>
        <p:txBody>
          <a:bodyPr wrap="square" lIns="0" tIns="0" rIns="0" bIns="0" rtlCol="0" anchor="ctr">
            <a:noAutofit/>
          </a:bodyPr>
          <a:lstStyle/>
          <a:p>
            <a:pPr marL="0" indent="0" algn="ctr">
              <a:buNone/>
            </a:pPr>
            <a:r>
              <a:rPr lang="en-US" sz="3200" b="1" dirty="0">
                <a:solidFill>
                  <a:srgbClr val="1B4332"/>
                </a:solidFill>
                <a:latin typeface="Cambria" pitchFamily="34" charset="0"/>
                <a:ea typeface="Cambria" pitchFamily="34" charset="-122"/>
                <a:cs typeface="Cambria" pitchFamily="34" charset="-120"/>
              </a:rPr>
              <a:t>Ecosystems</a:t>
            </a:r>
            <a:endParaRPr lang="en-US" sz="3200" dirty="0"/>
          </a:p>
        </p:txBody>
      </p:sp>
      <p:sp>
        <p:nvSpPr>
          <p:cNvPr id="19" name="Text 17"/>
          <p:cNvSpPr/>
          <p:nvPr/>
        </p:nvSpPr>
        <p:spPr>
          <a:xfrm>
            <a:off x="8321040" y="3474720"/>
            <a:ext cx="2880360" cy="411480"/>
          </a:xfrm>
          <a:prstGeom prst="rect">
            <a:avLst/>
          </a:prstGeom>
          <a:noFill/>
          <a:ln/>
        </p:spPr>
        <p:txBody>
          <a:bodyPr wrap="square" lIns="0" tIns="0" rIns="0" bIns="0" rtlCol="0" anchor="ctr">
            <a:noAutofit/>
          </a:bodyPr>
          <a:lstStyle/>
          <a:p>
            <a:pPr marL="0" indent="0" algn="ctr">
              <a:buNone/>
            </a:pPr>
            <a:r>
              <a:rPr lang="en-US" sz="2000" i="1" dirty="0">
                <a:solidFill>
                  <a:srgbClr val="5E6B62"/>
                </a:solidFill>
                <a:latin typeface="Calibri" pitchFamily="34" charset="0"/>
                <a:ea typeface="Calibri" pitchFamily="34" charset="-122"/>
                <a:cs typeface="Calibri" pitchFamily="34" charset="-120"/>
              </a:rPr>
              <a:t>Variety of living systems</a:t>
            </a:r>
            <a:endParaRPr lang="en-US" sz="2000" dirty="0"/>
          </a:p>
        </p:txBody>
      </p:sp>
      <p:sp>
        <p:nvSpPr>
          <p:cNvPr id="20" name="Text 18"/>
          <p:cNvSpPr/>
          <p:nvPr/>
        </p:nvSpPr>
        <p:spPr>
          <a:xfrm>
            <a:off x="8366760" y="3977639"/>
            <a:ext cx="2788920" cy="1737360"/>
          </a:xfrm>
          <a:prstGeom prst="rect">
            <a:avLst/>
          </a:prstGeom>
          <a:noFill/>
          <a:ln/>
        </p:spPr>
        <p:txBody>
          <a:bodyPr wrap="square" lIns="0" tIns="0" rIns="0" bIns="0" rtlCol="0" anchor="ctr">
            <a:noAutofit/>
          </a:bodyPr>
          <a:lstStyle/>
          <a:p>
            <a:pPr marL="0" indent="0" algn="l">
              <a:buNone/>
            </a:pPr>
            <a:r>
              <a:rPr lang="en-US" sz="2000" dirty="0">
                <a:solidFill>
                  <a:srgbClr val="1D2A22"/>
                </a:solidFill>
                <a:latin typeface="Calibri" pitchFamily="34" charset="0"/>
                <a:ea typeface="Calibri" pitchFamily="34" charset="-122"/>
                <a:cs typeface="Calibri" pitchFamily="34" charset="-120"/>
              </a:rPr>
              <a:t>A Danish bog, a coral reef, and farmland soil each run on different species interactions.</a:t>
            </a:r>
            <a:endParaRPr lang="en-US" dirty="0"/>
          </a:p>
        </p:txBody>
      </p:sp>
      <p:sp>
        <p:nvSpPr>
          <p:cNvPr id="21" name="Text 19"/>
          <p:cNvSpPr/>
          <p:nvPr/>
        </p:nvSpPr>
        <p:spPr>
          <a:xfrm>
            <a:off x="640080" y="5943600"/>
            <a:ext cx="10881360" cy="548640"/>
          </a:xfrm>
          <a:prstGeom prst="rect">
            <a:avLst/>
          </a:prstGeom>
          <a:noFill/>
          <a:ln/>
        </p:spPr>
        <p:txBody>
          <a:bodyPr wrap="square" lIns="0" tIns="0" rIns="0" bIns="0" rtlCol="0" anchor="ctr">
            <a:noAutofit/>
          </a:bodyPr>
          <a:lstStyle/>
          <a:p>
            <a:pPr marL="0" indent="0">
              <a:buNone/>
            </a:pPr>
            <a:r>
              <a:rPr lang="en-US" sz="2000" i="1" dirty="0">
                <a:solidFill>
                  <a:srgbClr val="2D6A4F"/>
                </a:solidFill>
                <a:latin typeface="Calibri" pitchFamily="34" charset="0"/>
                <a:ea typeface="Calibri" pitchFamily="34" charset="-122"/>
                <a:cs typeface="Calibri" pitchFamily="34" charset="-120"/>
              </a:rPr>
              <a:t>Losing any level is a loss: a species can survive while its genetic diversity, and its options, disappear.</a:t>
            </a:r>
            <a:endParaRPr lang="en-US" sz="2000" dirty="0"/>
          </a:p>
        </p:txBody>
      </p:sp>
      <p:sp>
        <p:nvSpPr>
          <p:cNvPr id="22" name="Text 20"/>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4/24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105156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The living world is now mostly us and what we farm</a:t>
            </a:r>
            <a:endParaRPr lang="en-US" sz="4400" dirty="0"/>
          </a:p>
        </p:txBody>
      </p:sp>
      <p:sp>
        <p:nvSpPr>
          <p:cNvPr id="3" name="Text 1"/>
          <p:cNvSpPr/>
          <p:nvPr/>
        </p:nvSpPr>
        <p:spPr>
          <a:xfrm>
            <a:off x="640080" y="1691640"/>
            <a:ext cx="5486400" cy="365760"/>
          </a:xfrm>
          <a:prstGeom prst="rect">
            <a:avLst/>
          </a:prstGeom>
          <a:noFill/>
          <a:ln/>
        </p:spPr>
        <p:txBody>
          <a:bodyPr wrap="square" lIns="0" tIns="0" rIns="0" bIns="0" rtlCol="0" anchor="ctr">
            <a:noAutofit/>
          </a:bodyPr>
          <a:lstStyle/>
          <a:p>
            <a:pPr marL="0" indent="0">
              <a:buNone/>
            </a:pPr>
            <a:r>
              <a:rPr lang="en-US" sz="2400" b="1" dirty="0">
                <a:solidFill>
                  <a:srgbClr val="1D2A22"/>
                </a:solidFill>
                <a:latin typeface="Calibri" pitchFamily="34" charset="0"/>
                <a:ea typeface="Calibri" pitchFamily="34" charset="-122"/>
                <a:cs typeface="Calibri" pitchFamily="34" charset="-120"/>
              </a:rPr>
              <a:t>Share of global mammal biomass</a:t>
            </a:r>
            <a:endParaRPr lang="en-US" sz="2400" dirty="0"/>
          </a:p>
        </p:txBody>
      </p:sp>
      <p:sp>
        <p:nvSpPr>
          <p:cNvPr id="4" name="Shape 2"/>
          <p:cNvSpPr/>
          <p:nvPr/>
        </p:nvSpPr>
        <p:spPr>
          <a:xfrm>
            <a:off x="640080" y="2103120"/>
            <a:ext cx="6528816" cy="777240"/>
          </a:xfrm>
          <a:prstGeom prst="rect">
            <a:avLst/>
          </a:prstGeom>
          <a:solidFill>
            <a:srgbClr val="C1543C"/>
          </a:solidFill>
          <a:ln w="19050">
            <a:solidFill>
              <a:srgbClr val="FFFFFF"/>
            </a:solidFill>
            <a:prstDash val="solid"/>
          </a:ln>
        </p:spPr>
        <p:txBody>
          <a:bodyPr wrap="square">
            <a:noAutofit/>
          </a:bodyPr>
          <a:lstStyle/>
          <a:p>
            <a:endParaRPr lang="en-US" sz="3200"/>
          </a:p>
        </p:txBody>
      </p:sp>
      <p:sp>
        <p:nvSpPr>
          <p:cNvPr id="5" name="Text 3"/>
          <p:cNvSpPr/>
          <p:nvPr/>
        </p:nvSpPr>
        <p:spPr>
          <a:xfrm>
            <a:off x="640080" y="2103120"/>
            <a:ext cx="6528816" cy="777240"/>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Livestock  60%</a:t>
            </a:r>
            <a:endParaRPr lang="en-US" sz="2400" dirty="0"/>
          </a:p>
        </p:txBody>
      </p:sp>
      <p:sp>
        <p:nvSpPr>
          <p:cNvPr id="6" name="Shape 4"/>
          <p:cNvSpPr/>
          <p:nvPr/>
        </p:nvSpPr>
        <p:spPr>
          <a:xfrm>
            <a:off x="7168896" y="2103120"/>
            <a:ext cx="3913632" cy="777240"/>
          </a:xfrm>
          <a:prstGeom prst="rect">
            <a:avLst/>
          </a:prstGeom>
          <a:solidFill>
            <a:srgbClr val="B98A2E"/>
          </a:solidFill>
          <a:ln w="19050">
            <a:solidFill>
              <a:srgbClr val="FFFFFF"/>
            </a:solidFill>
            <a:prstDash val="solid"/>
          </a:ln>
        </p:spPr>
        <p:txBody>
          <a:bodyPr wrap="square">
            <a:noAutofit/>
          </a:bodyPr>
          <a:lstStyle/>
          <a:p>
            <a:endParaRPr lang="en-US" sz="3200"/>
          </a:p>
        </p:txBody>
      </p:sp>
      <p:sp>
        <p:nvSpPr>
          <p:cNvPr id="7" name="Text 5"/>
          <p:cNvSpPr/>
          <p:nvPr/>
        </p:nvSpPr>
        <p:spPr>
          <a:xfrm>
            <a:off x="7168896" y="2103120"/>
            <a:ext cx="3913632" cy="777240"/>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Humans  36%</a:t>
            </a:r>
            <a:endParaRPr lang="en-US" sz="2400" dirty="0"/>
          </a:p>
        </p:txBody>
      </p:sp>
      <p:sp>
        <p:nvSpPr>
          <p:cNvPr id="8" name="Shape 6"/>
          <p:cNvSpPr/>
          <p:nvPr/>
        </p:nvSpPr>
        <p:spPr>
          <a:xfrm>
            <a:off x="11082528" y="2103120"/>
            <a:ext cx="438912" cy="777240"/>
          </a:xfrm>
          <a:prstGeom prst="rect">
            <a:avLst/>
          </a:prstGeom>
          <a:solidFill>
            <a:srgbClr val="2D6A4F"/>
          </a:solidFill>
          <a:ln w="19050">
            <a:solidFill>
              <a:srgbClr val="FFFFFF"/>
            </a:solidFill>
            <a:prstDash val="solid"/>
          </a:ln>
        </p:spPr>
        <p:txBody>
          <a:bodyPr wrap="square">
            <a:noAutofit/>
          </a:bodyPr>
          <a:lstStyle/>
          <a:p>
            <a:endParaRPr lang="en-US" sz="3200"/>
          </a:p>
        </p:txBody>
      </p:sp>
      <p:sp>
        <p:nvSpPr>
          <p:cNvPr id="9" name="Text 7"/>
          <p:cNvSpPr/>
          <p:nvPr/>
        </p:nvSpPr>
        <p:spPr>
          <a:xfrm>
            <a:off x="10702212" y="2953512"/>
            <a:ext cx="1069774" cy="320040"/>
          </a:xfrm>
          <a:prstGeom prst="rect">
            <a:avLst/>
          </a:prstGeom>
          <a:noFill/>
          <a:ln/>
        </p:spPr>
        <p:txBody>
          <a:bodyPr wrap="square" lIns="0" tIns="0" rIns="0" bIns="0" rtlCol="0" anchor="ctr">
            <a:noAutofit/>
          </a:bodyPr>
          <a:lstStyle/>
          <a:p>
            <a:pPr marL="0" indent="0">
              <a:buNone/>
            </a:pPr>
            <a:r>
              <a:rPr lang="en-US" sz="2000" b="1" dirty="0">
                <a:solidFill>
                  <a:srgbClr val="2D6A4F"/>
                </a:solidFill>
                <a:latin typeface="Calibri" pitchFamily="34" charset="0"/>
                <a:ea typeface="Calibri" pitchFamily="34" charset="-122"/>
                <a:cs typeface="Calibri" pitchFamily="34" charset="-120"/>
              </a:rPr>
              <a:t>Wild  4%</a:t>
            </a:r>
            <a:endParaRPr lang="en-US" sz="2000" dirty="0"/>
          </a:p>
        </p:txBody>
      </p:sp>
      <p:sp>
        <p:nvSpPr>
          <p:cNvPr id="10" name="Shape 8"/>
          <p:cNvSpPr/>
          <p:nvPr/>
        </p:nvSpPr>
        <p:spPr>
          <a:xfrm>
            <a:off x="640080" y="3566160"/>
            <a:ext cx="3429000" cy="2103120"/>
          </a:xfrm>
          <a:prstGeom prst="roundRect">
            <a:avLst>
              <a:gd name="adj" fmla="val 4348"/>
            </a:avLst>
          </a:prstGeom>
          <a:solidFill>
            <a:srgbClr val="EAF2EC"/>
          </a:solidFill>
          <a:ln/>
        </p:spPr>
        <p:txBody>
          <a:bodyPr wrap="square">
            <a:noAutofit/>
          </a:bodyPr>
          <a:lstStyle/>
          <a:p>
            <a:endParaRPr lang="en-US" sz="3200"/>
          </a:p>
        </p:txBody>
      </p:sp>
      <p:sp>
        <p:nvSpPr>
          <p:cNvPr id="11" name="Text 9"/>
          <p:cNvSpPr/>
          <p:nvPr/>
        </p:nvSpPr>
        <p:spPr>
          <a:xfrm>
            <a:off x="822960" y="3749040"/>
            <a:ext cx="3063240" cy="914400"/>
          </a:xfrm>
          <a:prstGeom prst="rect">
            <a:avLst/>
          </a:prstGeom>
          <a:noFill/>
          <a:ln/>
        </p:spPr>
        <p:txBody>
          <a:bodyPr wrap="square" lIns="0" tIns="0" rIns="0" bIns="0" rtlCol="0" anchor="ctr">
            <a:noAutofit/>
          </a:bodyPr>
          <a:lstStyle/>
          <a:p>
            <a:pPr marL="0" indent="0" algn="ctr">
              <a:buNone/>
            </a:pPr>
            <a:r>
              <a:rPr lang="en-US" sz="7200" b="1" dirty="0">
                <a:solidFill>
                  <a:srgbClr val="1B4332"/>
                </a:solidFill>
                <a:latin typeface="Cambria" pitchFamily="34" charset="0"/>
                <a:ea typeface="Cambria" pitchFamily="34" charset="-122"/>
                <a:cs typeface="Cambria" pitchFamily="34" charset="-120"/>
              </a:rPr>
              <a:t>96%</a:t>
            </a:r>
            <a:endParaRPr lang="en-US" sz="7200" dirty="0"/>
          </a:p>
        </p:txBody>
      </p:sp>
      <p:sp>
        <p:nvSpPr>
          <p:cNvPr id="12" name="Text 10"/>
          <p:cNvSpPr/>
          <p:nvPr/>
        </p:nvSpPr>
        <p:spPr>
          <a:xfrm>
            <a:off x="960120" y="4617720"/>
            <a:ext cx="2788920" cy="1005840"/>
          </a:xfrm>
          <a:prstGeom prst="rect">
            <a:avLst/>
          </a:prstGeom>
          <a:noFill/>
          <a:ln/>
        </p:spPr>
        <p:txBody>
          <a:bodyPr wrap="square" lIns="0" tIns="0" rIns="0" bIns="0" rtlCol="0" anchor="ctr">
            <a:noAutofit/>
          </a:bodyPr>
          <a:lstStyle/>
          <a:p>
            <a:pPr marL="0" indent="0" algn="ctr">
              <a:buNone/>
            </a:pPr>
            <a:r>
              <a:rPr lang="en-US" sz="2000" dirty="0">
                <a:solidFill>
                  <a:srgbClr val="1D2A22"/>
                </a:solidFill>
                <a:latin typeface="Calibri" pitchFamily="34" charset="0"/>
                <a:ea typeface="Calibri" pitchFamily="34" charset="-122"/>
                <a:cs typeface="Calibri" pitchFamily="34" charset="-120"/>
              </a:rPr>
              <a:t>of mammal biomass is humans and livestock</a:t>
            </a:r>
            <a:endParaRPr lang="en-US" sz="2000" dirty="0"/>
          </a:p>
        </p:txBody>
      </p:sp>
      <p:sp>
        <p:nvSpPr>
          <p:cNvPr id="13" name="Shape 11"/>
          <p:cNvSpPr/>
          <p:nvPr/>
        </p:nvSpPr>
        <p:spPr>
          <a:xfrm>
            <a:off x="4343400" y="3566160"/>
            <a:ext cx="3429000" cy="2103120"/>
          </a:xfrm>
          <a:prstGeom prst="roundRect">
            <a:avLst>
              <a:gd name="adj" fmla="val 4348"/>
            </a:avLst>
          </a:prstGeom>
          <a:solidFill>
            <a:srgbClr val="EAF2EC"/>
          </a:solidFill>
          <a:ln/>
        </p:spPr>
        <p:txBody>
          <a:bodyPr wrap="square">
            <a:noAutofit/>
          </a:bodyPr>
          <a:lstStyle/>
          <a:p>
            <a:endParaRPr lang="en-US" sz="3200"/>
          </a:p>
        </p:txBody>
      </p:sp>
      <p:sp>
        <p:nvSpPr>
          <p:cNvPr id="14" name="Text 12"/>
          <p:cNvSpPr/>
          <p:nvPr/>
        </p:nvSpPr>
        <p:spPr>
          <a:xfrm>
            <a:off x="4526280" y="3749040"/>
            <a:ext cx="3063240" cy="914400"/>
          </a:xfrm>
          <a:prstGeom prst="rect">
            <a:avLst/>
          </a:prstGeom>
          <a:noFill/>
          <a:ln/>
        </p:spPr>
        <p:txBody>
          <a:bodyPr wrap="square" lIns="0" tIns="0" rIns="0" bIns="0" rtlCol="0" anchor="ctr">
            <a:noAutofit/>
          </a:bodyPr>
          <a:lstStyle/>
          <a:p>
            <a:pPr marL="0" indent="0" algn="ctr">
              <a:buNone/>
            </a:pPr>
            <a:r>
              <a:rPr lang="en-US" sz="7200" b="1" dirty="0">
                <a:solidFill>
                  <a:srgbClr val="1B4332"/>
                </a:solidFill>
                <a:latin typeface="Cambria" pitchFamily="34" charset="0"/>
                <a:ea typeface="Cambria" pitchFamily="34" charset="-122"/>
                <a:cs typeface="Cambria" pitchFamily="34" charset="-120"/>
              </a:rPr>
              <a:t>~70%</a:t>
            </a:r>
            <a:endParaRPr lang="en-US" sz="7200" dirty="0"/>
          </a:p>
        </p:txBody>
      </p:sp>
      <p:sp>
        <p:nvSpPr>
          <p:cNvPr id="15" name="Text 13"/>
          <p:cNvSpPr/>
          <p:nvPr/>
        </p:nvSpPr>
        <p:spPr>
          <a:xfrm>
            <a:off x="4663440" y="4617720"/>
            <a:ext cx="2788920" cy="1005840"/>
          </a:xfrm>
          <a:prstGeom prst="rect">
            <a:avLst/>
          </a:prstGeom>
          <a:noFill/>
          <a:ln/>
        </p:spPr>
        <p:txBody>
          <a:bodyPr wrap="square" lIns="0" tIns="0" rIns="0" bIns="0" rtlCol="0" anchor="ctr">
            <a:noAutofit/>
          </a:bodyPr>
          <a:lstStyle/>
          <a:p>
            <a:pPr marL="0" indent="0" algn="ctr">
              <a:buNone/>
            </a:pPr>
            <a:r>
              <a:rPr lang="en-US" sz="2000" dirty="0">
                <a:solidFill>
                  <a:srgbClr val="1D2A22"/>
                </a:solidFill>
                <a:latin typeface="Calibri" pitchFamily="34" charset="0"/>
                <a:ea typeface="Calibri" pitchFamily="34" charset="-122"/>
                <a:cs typeface="Calibri" pitchFamily="34" charset="-120"/>
              </a:rPr>
              <a:t>of bird biomass is farmed poultry</a:t>
            </a:r>
            <a:endParaRPr lang="en-US" sz="2000" dirty="0"/>
          </a:p>
        </p:txBody>
      </p:sp>
      <p:sp>
        <p:nvSpPr>
          <p:cNvPr id="16" name="Shape 14"/>
          <p:cNvSpPr/>
          <p:nvPr/>
        </p:nvSpPr>
        <p:spPr>
          <a:xfrm>
            <a:off x="8046720" y="3566160"/>
            <a:ext cx="3429000" cy="2103120"/>
          </a:xfrm>
          <a:prstGeom prst="roundRect">
            <a:avLst>
              <a:gd name="adj" fmla="val 4348"/>
            </a:avLst>
          </a:prstGeom>
          <a:solidFill>
            <a:srgbClr val="F6E4DE"/>
          </a:solidFill>
          <a:ln/>
        </p:spPr>
        <p:txBody>
          <a:bodyPr wrap="square">
            <a:noAutofit/>
          </a:bodyPr>
          <a:lstStyle/>
          <a:p>
            <a:endParaRPr lang="en-US" sz="3200"/>
          </a:p>
        </p:txBody>
      </p:sp>
      <p:sp>
        <p:nvSpPr>
          <p:cNvPr id="17" name="Text 15"/>
          <p:cNvSpPr/>
          <p:nvPr/>
        </p:nvSpPr>
        <p:spPr>
          <a:xfrm>
            <a:off x="8229600" y="3749040"/>
            <a:ext cx="3063240" cy="914400"/>
          </a:xfrm>
          <a:prstGeom prst="rect">
            <a:avLst/>
          </a:prstGeom>
          <a:noFill/>
          <a:ln/>
        </p:spPr>
        <p:txBody>
          <a:bodyPr wrap="square" lIns="0" tIns="0" rIns="0" bIns="0" rtlCol="0" anchor="ctr">
            <a:noAutofit/>
          </a:bodyPr>
          <a:lstStyle/>
          <a:p>
            <a:pPr marL="0" indent="0" algn="ctr">
              <a:buNone/>
            </a:pPr>
            <a:r>
              <a:rPr lang="en-US" sz="7200" b="1" dirty="0">
                <a:solidFill>
                  <a:srgbClr val="C1543C"/>
                </a:solidFill>
                <a:latin typeface="Cambria" pitchFamily="34" charset="0"/>
                <a:ea typeface="Cambria" pitchFamily="34" charset="-122"/>
                <a:cs typeface="Cambria" pitchFamily="34" charset="-120"/>
              </a:rPr>
              <a:t>75%</a:t>
            </a:r>
            <a:endParaRPr lang="en-US" sz="7200" dirty="0"/>
          </a:p>
        </p:txBody>
      </p:sp>
      <p:sp>
        <p:nvSpPr>
          <p:cNvPr id="18" name="Text 16"/>
          <p:cNvSpPr/>
          <p:nvPr/>
        </p:nvSpPr>
        <p:spPr>
          <a:xfrm>
            <a:off x="8366760" y="4617720"/>
            <a:ext cx="2788920" cy="1005840"/>
          </a:xfrm>
          <a:prstGeom prst="rect">
            <a:avLst/>
          </a:prstGeom>
          <a:noFill/>
          <a:ln/>
        </p:spPr>
        <p:txBody>
          <a:bodyPr wrap="square" lIns="0" tIns="0" rIns="0" bIns="0" rtlCol="0" anchor="ctr">
            <a:noAutofit/>
          </a:bodyPr>
          <a:lstStyle/>
          <a:p>
            <a:pPr marL="0" indent="0" algn="ctr">
              <a:buNone/>
            </a:pPr>
            <a:r>
              <a:rPr lang="en-US" sz="2000" dirty="0">
                <a:solidFill>
                  <a:srgbClr val="1D2A22"/>
                </a:solidFill>
                <a:latin typeface="Calibri" pitchFamily="34" charset="0"/>
                <a:ea typeface="Calibri" pitchFamily="34" charset="-122"/>
                <a:cs typeface="Calibri" pitchFamily="34" charset="-120"/>
              </a:rPr>
              <a:t>of the land surface significantly altered by human activity</a:t>
            </a:r>
            <a:endParaRPr lang="en-US" sz="2000" dirty="0"/>
          </a:p>
        </p:txBody>
      </p:sp>
      <p:sp>
        <p:nvSpPr>
          <p:cNvPr id="19" name="Text 17"/>
          <p:cNvSpPr/>
          <p:nvPr/>
        </p:nvSpPr>
        <p:spPr>
          <a:xfrm>
            <a:off x="640080" y="6172200"/>
            <a:ext cx="10881360" cy="320040"/>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Sources: Bar-On, Phillips &amp; Milo 2018 (PNAS); IPBES Global Assessment 2019</a:t>
            </a:r>
            <a:endParaRPr lang="en-US" sz="1600" dirty="0"/>
          </a:p>
        </p:txBody>
      </p:sp>
      <p:sp>
        <p:nvSpPr>
          <p:cNvPr id="20" name="Text 18"/>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5/24</a:t>
            </a:r>
            <a:endParaRPr lang="en-US" sz="1000" dirty="0"/>
          </a:p>
        </p:txBody>
      </p:sp>
      <p:pic>
        <p:nvPicPr>
          <p:cNvPr id="22" name="Picture 21">
            <a:extLst>
              <a:ext uri="{FF2B5EF4-FFF2-40B4-BE49-F238E27FC236}">
                <a16:creationId xmlns:a16="http://schemas.microsoft.com/office/drawing/2014/main" id="{EC4596B1-0A9C-4B4D-366C-A7AC6E3B70E5}"/>
              </a:ext>
            </a:extLst>
          </p:cNvPr>
          <p:cNvPicPr>
            <a:picLocks noChangeAspect="1"/>
          </p:cNvPicPr>
          <p:nvPr/>
        </p:nvPicPr>
        <p:blipFill>
          <a:blip r:embed="rId3"/>
          <a:stretch>
            <a:fillRect/>
          </a:stretch>
        </p:blipFill>
        <p:spPr>
          <a:xfrm>
            <a:off x="276153" y="3260584"/>
            <a:ext cx="3487834" cy="2454221"/>
          </a:xfrm>
          <a:prstGeom prst="rect">
            <a:avLst/>
          </a:prstGeom>
        </p:spPr>
      </p:pic>
      <p:pic>
        <p:nvPicPr>
          <p:cNvPr id="26" name="Picture 25">
            <a:extLst>
              <a:ext uri="{FF2B5EF4-FFF2-40B4-BE49-F238E27FC236}">
                <a16:creationId xmlns:a16="http://schemas.microsoft.com/office/drawing/2014/main" id="{678D9F72-9985-707D-768F-60500AB51B0E}"/>
              </a:ext>
            </a:extLst>
          </p:cNvPr>
          <p:cNvPicPr>
            <a:picLocks noChangeAspect="1"/>
          </p:cNvPicPr>
          <p:nvPr/>
        </p:nvPicPr>
        <p:blipFill>
          <a:blip r:embed="rId4"/>
          <a:stretch>
            <a:fillRect/>
          </a:stretch>
        </p:blipFill>
        <p:spPr>
          <a:xfrm>
            <a:off x="3813629" y="3265350"/>
            <a:ext cx="4346112" cy="2444688"/>
          </a:xfrm>
          <a:prstGeom prst="rect">
            <a:avLst/>
          </a:prstGeom>
        </p:spPr>
      </p:pic>
      <p:pic>
        <p:nvPicPr>
          <p:cNvPr id="27" name="Picture 26" descr="New Undercover Images Reveal Suffering Animals on Quebec Fur Farms ...">
            <a:extLst>
              <a:ext uri="{FF2B5EF4-FFF2-40B4-BE49-F238E27FC236}">
                <a16:creationId xmlns:a16="http://schemas.microsoft.com/office/drawing/2014/main" id="{60555220-901F-50BC-9305-7ED2E66DD8A3}"/>
              </a:ext>
            </a:extLst>
          </p:cNvPr>
          <p:cNvPicPr>
            <a:picLocks noChangeAspect="1"/>
          </p:cNvPicPr>
          <p:nvPr/>
        </p:nvPicPr>
        <p:blipFill>
          <a:blip r:embed="rId5"/>
          <a:stretch>
            <a:fillRect/>
          </a:stretch>
        </p:blipFill>
        <p:spPr>
          <a:xfrm>
            <a:off x="8229600" y="3244173"/>
            <a:ext cx="3712219" cy="24741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26"/>
                                        </p:tgtEl>
                                      </p:cBhvr>
                                    </p:animEffect>
                                    <p:set>
                                      <p:cBhvr>
                                        <p:cTn id="10" dur="1" fill="hold">
                                          <p:stCondLst>
                                            <p:cond delay="499"/>
                                          </p:stCondLst>
                                        </p:cTn>
                                        <p:tgtEl>
                                          <p:spTgt spid="26"/>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27"/>
                                        </p:tgtEl>
                                      </p:cBhvr>
                                    </p:animEffect>
                                    <p:set>
                                      <p:cBhvr>
                                        <p:cTn id="13" dur="1" fill="hold">
                                          <p:stCondLst>
                                            <p:cond delay="499"/>
                                          </p:stCondLst>
                                        </p:cTn>
                                        <p:tgtEl>
                                          <p:spTgt spid="27"/>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72084" y="384048"/>
            <a:ext cx="10908792" cy="105156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Monitored wildlife populations declined 73% on average, 1970–2020</a:t>
            </a:r>
            <a:endParaRPr lang="en-US" sz="4400" dirty="0"/>
          </a:p>
        </p:txBody>
      </p:sp>
      <p:graphicFrame>
        <p:nvGraphicFramePr>
          <p:cNvPr id="3" name="Chart 0"/>
          <p:cNvGraphicFramePr/>
          <p:nvPr>
            <p:extLst>
              <p:ext uri="{D42A27DB-BD31-4B8C-83A1-F6EECF244321}">
                <p14:modId xmlns:p14="http://schemas.microsoft.com/office/powerpoint/2010/main" val="3229362538"/>
              </p:ext>
            </p:extLst>
          </p:nvPr>
        </p:nvGraphicFramePr>
        <p:xfrm>
          <a:off x="640080" y="1554480"/>
          <a:ext cx="7040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955280" y="1737360"/>
            <a:ext cx="3566160" cy="3931920"/>
          </a:xfrm>
          <a:prstGeom prst="roundRect">
            <a:avLst>
              <a:gd name="adj" fmla="val 2564"/>
            </a:avLst>
          </a:prstGeom>
          <a:solidFill>
            <a:srgbClr val="EAF2EC"/>
          </a:solidFill>
          <a:ln/>
        </p:spPr>
        <p:txBody>
          <a:bodyPr wrap="square">
            <a:noAutofit/>
          </a:bodyPr>
          <a:lstStyle/>
          <a:p>
            <a:endParaRPr lang="en-US" sz="3200"/>
          </a:p>
        </p:txBody>
      </p:sp>
      <p:sp>
        <p:nvSpPr>
          <p:cNvPr id="5" name="Text 2"/>
          <p:cNvSpPr/>
          <p:nvPr/>
        </p:nvSpPr>
        <p:spPr>
          <a:xfrm>
            <a:off x="8092440" y="1828800"/>
            <a:ext cx="3291840" cy="3749039"/>
          </a:xfrm>
          <a:prstGeom prst="rect">
            <a:avLst/>
          </a:prstGeom>
          <a:noFill/>
          <a:ln/>
        </p:spPr>
        <p:txBody>
          <a:bodyPr wrap="square" lIns="0" tIns="0" rIns="0" bIns="0" rtlCol="0" anchor="ctr">
            <a:noAutofit/>
          </a:bodyPr>
          <a:lstStyle/>
          <a:p>
            <a:pPr marL="0" indent="0">
              <a:lnSpc>
                <a:spcPct val="110000"/>
              </a:lnSpc>
              <a:buNone/>
            </a:pPr>
            <a:r>
              <a:rPr lang="en-US" sz="2000" b="1" dirty="0">
                <a:solidFill>
                  <a:srgbClr val="1B4332"/>
                </a:solidFill>
                <a:latin typeface="Calibri" pitchFamily="34" charset="0"/>
                <a:ea typeface="Calibri" pitchFamily="34" charset="-122"/>
                <a:cs typeface="Calibri" pitchFamily="34" charset="-120"/>
              </a:rPr>
              <a:t>What this is:</a:t>
            </a:r>
            <a:endParaRPr lang="en-US" sz="2000" dirty="0"/>
          </a:p>
          <a:p>
            <a:pPr marL="0" indent="0">
              <a:lnSpc>
                <a:spcPct val="110000"/>
              </a:lnSpc>
              <a:buNone/>
            </a:pPr>
            <a:r>
              <a:rPr lang="en-US" sz="2000" dirty="0">
                <a:solidFill>
                  <a:srgbClr val="1D2A22"/>
                </a:solidFill>
                <a:latin typeface="Calibri" pitchFamily="34" charset="0"/>
                <a:ea typeface="Calibri" pitchFamily="34" charset="-122"/>
                <a:cs typeface="Calibri" pitchFamily="34" charset="-120"/>
              </a:rPr>
              <a:t>the average trend across ~35,000 vertebrate populations of 5,495 species.</a:t>
            </a:r>
            <a:endParaRPr lang="en-US" sz="2000" dirty="0"/>
          </a:p>
          <a:p>
            <a:pPr marL="0" indent="0">
              <a:lnSpc>
                <a:spcPct val="110000"/>
              </a:lnSpc>
              <a:buNone/>
            </a:pPr>
            <a:endParaRPr lang="en-US" sz="2000" dirty="0"/>
          </a:p>
          <a:p>
            <a:pPr marL="0" indent="0">
              <a:lnSpc>
                <a:spcPct val="110000"/>
              </a:lnSpc>
              <a:buNone/>
            </a:pPr>
            <a:r>
              <a:rPr lang="en-US" sz="2000" b="1" dirty="0">
                <a:solidFill>
                  <a:srgbClr val="C1543C"/>
                </a:solidFill>
                <a:latin typeface="Calibri" pitchFamily="34" charset="0"/>
                <a:ea typeface="Calibri" pitchFamily="34" charset="-122"/>
                <a:cs typeface="Calibri" pitchFamily="34" charset="-120"/>
              </a:rPr>
              <a:t>What this is not:</a:t>
            </a:r>
            <a:endParaRPr lang="en-US" sz="2000" dirty="0"/>
          </a:p>
          <a:p>
            <a:pPr marL="0" indent="0">
              <a:lnSpc>
                <a:spcPct val="110000"/>
              </a:lnSpc>
              <a:buNone/>
            </a:pPr>
            <a:r>
              <a:rPr lang="en-US" sz="2000" dirty="0">
                <a:solidFill>
                  <a:srgbClr val="1D2A22"/>
                </a:solidFill>
                <a:latin typeface="Calibri" pitchFamily="34" charset="0"/>
                <a:ea typeface="Calibri" pitchFamily="34" charset="-122"/>
                <a:cs typeface="Calibri" pitchFamily="34" charset="-120"/>
              </a:rPr>
              <a:t>“73% of animals are gone.” It is an average of population trajectories, and averages hide winners and losers.</a:t>
            </a:r>
            <a:endParaRPr lang="en-US" sz="2000" dirty="0"/>
          </a:p>
        </p:txBody>
      </p:sp>
      <p:sp>
        <p:nvSpPr>
          <p:cNvPr id="6" name="Text 3"/>
          <p:cNvSpPr/>
          <p:nvPr/>
        </p:nvSpPr>
        <p:spPr>
          <a:xfrm>
            <a:off x="640080" y="6172200"/>
            <a:ext cx="7315200" cy="320040"/>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Source: WWF/ZSL Living Planet Report 2024</a:t>
            </a:r>
            <a:endParaRPr lang="en-US" sz="1600" dirty="0"/>
          </a:p>
        </p:txBody>
      </p:sp>
      <p:sp>
        <p:nvSpPr>
          <p:cNvPr id="7" name="Text 4"/>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6/24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FF72D7-E52E-6A67-746E-8110A06460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6DF228C-F83B-0373-5B41-39AC86E9C62C}"/>
              </a:ext>
            </a:extLst>
          </p:cNvPr>
          <p:cNvSpPr/>
          <p:nvPr/>
        </p:nvSpPr>
        <p:spPr>
          <a:xfrm>
            <a:off x="672084" y="384047"/>
            <a:ext cx="10908792" cy="3768075"/>
          </a:xfrm>
          <a:prstGeom prst="rect">
            <a:avLst/>
          </a:prstGeom>
          <a:noFill/>
          <a:ln/>
        </p:spPr>
        <p:txBody>
          <a:bodyPr wrap="square" lIns="0" tIns="0" rIns="0" bIns="0" rtlCol="0" anchor="t">
            <a:noAutofit/>
          </a:bodyPr>
          <a:lstStyle/>
          <a:p>
            <a:pPr marL="0" indent="0">
              <a:buNone/>
            </a:pPr>
            <a:r>
              <a:rPr lang="en-US" sz="4000" b="1" dirty="0">
                <a:solidFill>
                  <a:srgbClr val="1B4332"/>
                </a:solidFill>
                <a:latin typeface="Cambria" pitchFamily="34" charset="0"/>
                <a:ea typeface="Cambria" pitchFamily="34" charset="-122"/>
                <a:cs typeface="Cambria" pitchFamily="34" charset="-120"/>
              </a:rPr>
              <a:t>Is extinction easy to measure?</a:t>
            </a:r>
          </a:p>
          <a:p>
            <a:pPr marL="0" indent="0">
              <a:buNone/>
            </a:pPr>
            <a:endParaRPr lang="en-US" sz="4000" b="1" dirty="0">
              <a:solidFill>
                <a:srgbClr val="1B4332"/>
              </a:solidFill>
              <a:latin typeface="Cambria" pitchFamily="34" charset="0"/>
              <a:ea typeface="Cambria" pitchFamily="34" charset="-122"/>
              <a:cs typeface="Cambria" pitchFamily="34" charset="-120"/>
            </a:endParaRPr>
          </a:p>
          <a:p>
            <a:pPr marL="0" indent="0">
              <a:buNone/>
            </a:pPr>
            <a:r>
              <a:rPr lang="en-US" sz="4000" b="1" dirty="0">
                <a:solidFill>
                  <a:srgbClr val="1B4332"/>
                </a:solidFill>
                <a:latin typeface="Cambria" pitchFamily="34" charset="0"/>
                <a:ea typeface="Cambria" pitchFamily="34" charset="-122"/>
                <a:cs typeface="Cambria" pitchFamily="34" charset="-120"/>
              </a:rPr>
              <a:t>What are some ways to measure the extinction rate of species?</a:t>
            </a:r>
          </a:p>
          <a:p>
            <a:pPr marL="0" indent="0">
              <a:buNone/>
            </a:pPr>
            <a:endParaRPr lang="en-US" sz="4000" b="1" dirty="0">
              <a:solidFill>
                <a:srgbClr val="1B4332"/>
              </a:solidFill>
              <a:latin typeface="Cambria" pitchFamily="34" charset="0"/>
              <a:ea typeface="Cambria" pitchFamily="34" charset="-122"/>
              <a:cs typeface="Cambria" pitchFamily="34" charset="-120"/>
            </a:endParaRPr>
          </a:p>
          <a:p>
            <a:pPr marL="0" indent="0">
              <a:buNone/>
            </a:pPr>
            <a:r>
              <a:rPr lang="en-US" sz="4000" b="1" dirty="0">
                <a:solidFill>
                  <a:srgbClr val="1B4332"/>
                </a:solidFill>
                <a:latin typeface="Cambria" pitchFamily="34" charset="0"/>
                <a:ea typeface="Cambria" pitchFamily="34" charset="-122"/>
                <a:cs typeface="Cambria" pitchFamily="34" charset="-120"/>
              </a:rPr>
              <a:t>How do we know if it is accelerating?</a:t>
            </a:r>
            <a:endParaRPr lang="en-US" sz="5400" dirty="0"/>
          </a:p>
        </p:txBody>
      </p:sp>
    </p:spTree>
    <p:extLst>
      <p:ext uri="{BB962C8B-B14F-4D97-AF65-F5344CB8AC3E}">
        <p14:creationId xmlns:p14="http://schemas.microsoft.com/office/powerpoint/2010/main" val="218032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105156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Extinctions now run 10–100+ times faster than the background rate</a:t>
            </a:r>
            <a:endParaRPr lang="en-US" sz="4000" dirty="0"/>
          </a:p>
        </p:txBody>
      </p:sp>
      <p:graphicFrame>
        <p:nvGraphicFramePr>
          <p:cNvPr id="3" name="Chart 0"/>
          <p:cNvGraphicFramePr/>
          <p:nvPr>
            <p:extLst>
              <p:ext uri="{D42A27DB-BD31-4B8C-83A1-F6EECF244321}">
                <p14:modId xmlns:p14="http://schemas.microsoft.com/office/powerpoint/2010/main" val="3604458945"/>
              </p:ext>
            </p:extLst>
          </p:nvPr>
        </p:nvGraphicFramePr>
        <p:xfrm>
          <a:off x="640080" y="1554480"/>
          <a:ext cx="63093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315200" y="1737360"/>
            <a:ext cx="4206240" cy="1828800"/>
          </a:xfrm>
          <a:prstGeom prst="roundRect">
            <a:avLst>
              <a:gd name="adj" fmla="val 5000"/>
            </a:avLst>
          </a:prstGeom>
          <a:solidFill>
            <a:srgbClr val="F6E4DE"/>
          </a:solidFill>
          <a:ln/>
        </p:spPr>
        <p:txBody>
          <a:bodyPr wrap="square">
            <a:noAutofit/>
          </a:bodyPr>
          <a:lstStyle/>
          <a:p>
            <a:endParaRPr lang="en-US" sz="2800"/>
          </a:p>
        </p:txBody>
      </p:sp>
      <p:sp>
        <p:nvSpPr>
          <p:cNvPr id="5" name="Text 2"/>
          <p:cNvSpPr/>
          <p:nvPr/>
        </p:nvSpPr>
        <p:spPr>
          <a:xfrm>
            <a:off x="7498080" y="1874520"/>
            <a:ext cx="3840480" cy="777240"/>
          </a:xfrm>
          <a:prstGeom prst="rect">
            <a:avLst/>
          </a:prstGeom>
          <a:noFill/>
          <a:ln/>
        </p:spPr>
        <p:txBody>
          <a:bodyPr wrap="square" lIns="0" tIns="0" rIns="0" bIns="0" rtlCol="0" anchor="ctr">
            <a:noAutofit/>
          </a:bodyPr>
          <a:lstStyle/>
          <a:p>
            <a:pPr marL="0" indent="0" algn="ctr">
              <a:buNone/>
            </a:pPr>
            <a:r>
              <a:rPr lang="en-US" sz="6000" b="1" dirty="0">
                <a:solidFill>
                  <a:srgbClr val="C1543C"/>
                </a:solidFill>
                <a:latin typeface="Cambria" pitchFamily="34" charset="0"/>
                <a:ea typeface="Cambria" pitchFamily="34" charset="-122"/>
                <a:cs typeface="Cambria" pitchFamily="34" charset="-120"/>
              </a:rPr>
              <a:t>~1 million</a:t>
            </a:r>
            <a:endParaRPr lang="en-US" sz="6000" dirty="0"/>
          </a:p>
        </p:txBody>
      </p:sp>
      <p:sp>
        <p:nvSpPr>
          <p:cNvPr id="6" name="Text 3"/>
          <p:cNvSpPr/>
          <p:nvPr/>
        </p:nvSpPr>
        <p:spPr>
          <a:xfrm>
            <a:off x="7498079" y="2697480"/>
            <a:ext cx="3840480" cy="914400"/>
          </a:xfrm>
          <a:prstGeom prst="rect">
            <a:avLst/>
          </a:prstGeom>
          <a:noFill/>
          <a:ln/>
        </p:spPr>
        <p:txBody>
          <a:bodyPr wrap="square" lIns="0" tIns="0" rIns="0" bIns="0" rtlCol="0" anchor="ctr">
            <a:noAutofit/>
          </a:bodyPr>
          <a:lstStyle/>
          <a:p>
            <a:pPr marL="0" indent="0" algn="ctr">
              <a:buNone/>
            </a:pPr>
            <a:r>
              <a:rPr lang="en-US" sz="2000" dirty="0">
                <a:solidFill>
                  <a:srgbClr val="1D2A22"/>
                </a:solidFill>
                <a:latin typeface="Calibri" pitchFamily="34" charset="0"/>
                <a:ea typeface="Calibri" pitchFamily="34" charset="-122"/>
                <a:cs typeface="Calibri" pitchFamily="34" charset="-120"/>
              </a:rPr>
              <a:t>of ~8 million species are threatened with extinction (IPBES 2019)</a:t>
            </a:r>
            <a:endParaRPr lang="en-US" dirty="0"/>
          </a:p>
        </p:txBody>
      </p:sp>
      <p:sp>
        <p:nvSpPr>
          <p:cNvPr id="7" name="Text 4"/>
          <p:cNvSpPr/>
          <p:nvPr/>
        </p:nvSpPr>
        <p:spPr>
          <a:xfrm>
            <a:off x="7269480" y="3794760"/>
            <a:ext cx="4297680" cy="2377440"/>
          </a:xfrm>
          <a:prstGeom prst="rect">
            <a:avLst/>
          </a:prstGeom>
          <a:noFill/>
          <a:ln/>
        </p:spPr>
        <p:txBody>
          <a:bodyPr wrap="square" lIns="0" tIns="0" rIns="0" bIns="0" rtlCol="0" anchor="ctr">
            <a:noAutofit/>
          </a:bodyPr>
          <a:lstStyle/>
          <a:p>
            <a:pPr marL="0" indent="0">
              <a:lnSpc>
                <a:spcPct val="110000"/>
              </a:lnSpc>
              <a:buNone/>
            </a:pPr>
            <a:r>
              <a:rPr lang="en-US" sz="2000" b="0" dirty="0">
                <a:solidFill>
                  <a:srgbClr val="1D2A22"/>
                </a:solidFill>
                <a:latin typeface="Calibri" pitchFamily="34" charset="0"/>
                <a:ea typeface="Calibri" pitchFamily="34" charset="-122"/>
                <a:cs typeface="Calibri" pitchFamily="34" charset="-120"/>
              </a:rPr>
              <a:t>The range is wide because we know only a fraction of species, extinction is hard to observe, and the background rate is itself estimated from fossils.</a:t>
            </a:r>
            <a:endParaRPr lang="en-US" dirty="0"/>
          </a:p>
          <a:p>
            <a:pPr>
              <a:spcBef>
                <a:spcPts val="1400"/>
              </a:spcBef>
            </a:pPr>
            <a:r>
              <a:rPr sz="2000" b="1" dirty="0">
                <a:solidFill>
                  <a:srgbClr val="1B4332"/>
                </a:solidFill>
                <a:latin typeface="Calibri"/>
              </a:rPr>
              <a:t>Even the conservative end is far outside anything in human history.</a:t>
            </a:r>
          </a:p>
        </p:txBody>
      </p:sp>
      <p:sp>
        <p:nvSpPr>
          <p:cNvPr id="8" name="Text 5"/>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7/24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914400"/>
          </a:xfrm>
          <a:prstGeom prst="rect">
            <a:avLst/>
          </a:prstGeom>
          <a:noFill/>
        </p:spPr>
        <p:txBody>
          <a:bodyPr wrap="square" lIns="0" tIns="0" rIns="0" bIns="0">
            <a:noAutofit/>
          </a:bodyPr>
          <a:lstStyle/>
          <a:p>
            <a:pPr algn="l"/>
            <a:r>
              <a:rPr sz="2800" b="1" i="0" dirty="0">
                <a:solidFill>
                  <a:srgbClr val="1B4332"/>
                </a:solidFill>
                <a:latin typeface="Cambria"/>
              </a:rPr>
              <a:t>Counting extinctions: 338 vertebrates verified lost since 1500</a:t>
            </a:r>
          </a:p>
        </p:txBody>
      </p:sp>
      <p:sp>
        <p:nvSpPr>
          <p:cNvPr id="3" name="TextBox 2"/>
          <p:cNvSpPr txBox="1"/>
          <p:nvPr/>
        </p:nvSpPr>
        <p:spPr>
          <a:xfrm>
            <a:off x="640080" y="1280160"/>
            <a:ext cx="10881360" cy="347472"/>
          </a:xfrm>
          <a:prstGeom prst="rect">
            <a:avLst/>
          </a:prstGeom>
          <a:noFill/>
        </p:spPr>
        <p:txBody>
          <a:bodyPr wrap="square" lIns="0" tIns="0" rIns="0" bIns="0">
            <a:noAutofit/>
          </a:bodyPr>
          <a:lstStyle/>
          <a:p>
            <a:pPr algn="l"/>
            <a:r>
              <a:rPr sz="2000" b="0" i="1">
                <a:solidFill>
                  <a:srgbClr val="5E6B62"/>
                </a:solidFill>
                <a:latin typeface="Calibri"/>
              </a:rPr>
              <a:t>EX = extinct   ·   EW = extinct in the wild   ·   PE = possibly extinct</a:t>
            </a:r>
          </a:p>
        </p:txBody>
      </p:sp>
      <p:graphicFrame>
        <p:nvGraphicFramePr>
          <p:cNvPr id="4" name="Table 3"/>
          <p:cNvGraphicFramePr>
            <a:graphicFrameLocks noGrp="1"/>
          </p:cNvGraphicFramePr>
          <p:nvPr/>
        </p:nvGraphicFramePr>
        <p:xfrm>
          <a:off x="640080" y="1783080"/>
          <a:ext cx="10881360" cy="3255264"/>
        </p:xfrm>
        <a:graphic>
          <a:graphicData uri="http://schemas.openxmlformats.org/drawingml/2006/table">
            <a:tbl>
              <a:tblPr>
                <a:tableStyleId>{5C22544A-7EE6-4342-B048-85BDC9FD1C3A}</a:tableStyleId>
              </a:tblPr>
              <a:tblGrid>
                <a:gridCol w="22402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2423160">
                  <a:extLst>
                    <a:ext uri="{9D8B030D-6E8A-4147-A177-3AD203B41FA5}">
                      <a16:colId xmlns:a16="http://schemas.microsoft.com/office/drawing/2014/main" val="20005"/>
                    </a:ext>
                  </a:extLst>
                </a:gridCol>
              </a:tblGrid>
              <a:tr h="566928">
                <a:tc rowSpan="2">
                  <a:txBody>
                    <a:bodyPr/>
                    <a:lstStyle/>
                    <a:p>
                      <a:pPr algn="l"/>
                      <a:r>
                        <a:rPr sz="2000" b="1">
                          <a:solidFill>
                            <a:srgbClr val="FFFFFF"/>
                          </a:solidFill>
                          <a:latin typeface="Calibri"/>
                        </a:rPr>
                        <a:t>Vertebrate taxon</a:t>
                      </a:r>
                    </a:p>
                  </a:txBody>
                  <a:tcPr marL="64008" marR="64008" marT="9144" marB="9144" anchor="ctr">
                    <a:solidFill>
                      <a:srgbClr val="1B4332"/>
                    </a:solidFill>
                  </a:tcPr>
                </a:tc>
                <a:tc gridSpan="2">
                  <a:txBody>
                    <a:bodyPr/>
                    <a:lstStyle/>
                    <a:p>
                      <a:pPr algn="ctr"/>
                      <a:r>
                        <a:rPr sz="2000" b="1">
                          <a:solidFill>
                            <a:srgbClr val="FFFFFF"/>
                          </a:solidFill>
                          <a:latin typeface="Calibri"/>
                        </a:rPr>
                        <a:t>Highly conservative (EX)</a:t>
                      </a:r>
                    </a:p>
                  </a:txBody>
                  <a:tcPr marL="64008" marR="64008" marT="9144" marB="9144" anchor="ctr">
                    <a:solidFill>
                      <a:srgbClr val="1B4332"/>
                    </a:solidFill>
                  </a:tcPr>
                </a:tc>
                <a:tc hMerge="1">
                  <a:txBody>
                    <a:bodyPr/>
                    <a:lstStyle/>
                    <a:p>
                      <a:endParaRPr/>
                    </a:p>
                  </a:txBody>
                  <a:tcPr/>
                </a:tc>
                <a:tc gridSpan="2">
                  <a:txBody>
                    <a:bodyPr/>
                    <a:lstStyle/>
                    <a:p>
                      <a:pPr algn="ctr"/>
                      <a:r>
                        <a:rPr sz="2000" b="1">
                          <a:solidFill>
                            <a:srgbClr val="FFFFFF"/>
                          </a:solidFill>
                          <a:latin typeface="Calibri"/>
                        </a:rPr>
                        <a:t>Conservative (EX + EW + PE)</a:t>
                      </a:r>
                    </a:p>
                  </a:txBody>
                  <a:tcPr marL="64008" marR="64008" marT="9144" marB="9144" anchor="ctr">
                    <a:solidFill>
                      <a:srgbClr val="1B4332"/>
                    </a:solidFill>
                  </a:tcPr>
                </a:tc>
                <a:tc hMerge="1">
                  <a:txBody>
                    <a:bodyPr/>
                    <a:lstStyle/>
                    <a:p>
                      <a:endParaRPr/>
                    </a:p>
                  </a:txBody>
                  <a:tcPr/>
                </a:tc>
                <a:tc rowSpan="2">
                  <a:txBody>
                    <a:bodyPr/>
                    <a:lstStyle/>
                    <a:p>
                      <a:pPr algn="ctr"/>
                      <a:r>
                        <a:rPr sz="2000" b="1">
                          <a:solidFill>
                            <a:srgbClr val="FFFFFF"/>
                          </a:solidFill>
                          <a:latin typeface="Calibri"/>
                        </a:rPr>
                        <a:t>Assessed by IUCN</a:t>
                      </a:r>
                    </a:p>
                  </a:txBody>
                  <a:tcPr marL="64008" marR="64008" marT="9144" marB="9144" anchor="ctr">
                    <a:solidFill>
                      <a:srgbClr val="C1543C"/>
                    </a:solidFill>
                  </a:tcPr>
                </a:tc>
                <a:extLst>
                  <a:ext uri="{0D108BD9-81ED-4DB2-BD59-A6C34878D82A}">
                    <a16:rowId xmlns:a16="http://schemas.microsoft.com/office/drawing/2014/main" val="10000"/>
                  </a:ext>
                </a:extLst>
              </a:tr>
              <a:tr h="384048">
                <a:tc vMerge="1">
                  <a:txBody>
                    <a:bodyPr/>
                    <a:lstStyle/>
                    <a:p>
                      <a:endParaRPr/>
                    </a:p>
                  </a:txBody>
                  <a:tcPr/>
                </a:tc>
                <a:tc>
                  <a:txBody>
                    <a:bodyPr/>
                    <a:lstStyle/>
                    <a:p>
                      <a:pPr algn="ctr"/>
                      <a:r>
                        <a:rPr sz="2000" b="1">
                          <a:solidFill>
                            <a:srgbClr val="1B4332"/>
                          </a:solidFill>
                          <a:latin typeface="Calibri"/>
                        </a:rPr>
                        <a:t>Since 1500</a:t>
                      </a:r>
                    </a:p>
                  </a:txBody>
                  <a:tcPr marL="64008" marR="64008" marT="9144" marB="9144" anchor="ctr">
                    <a:solidFill>
                      <a:srgbClr val="EAF2EC"/>
                    </a:solidFill>
                  </a:tcPr>
                </a:tc>
                <a:tc>
                  <a:txBody>
                    <a:bodyPr/>
                    <a:lstStyle/>
                    <a:p>
                      <a:pPr algn="ctr"/>
                      <a:r>
                        <a:rPr sz="2000" b="1">
                          <a:solidFill>
                            <a:srgbClr val="1B4332"/>
                          </a:solidFill>
                          <a:latin typeface="Calibri"/>
                        </a:rPr>
                        <a:t>Since 1900</a:t>
                      </a:r>
                    </a:p>
                  </a:txBody>
                  <a:tcPr marL="64008" marR="64008" marT="9144" marB="9144" anchor="ctr">
                    <a:solidFill>
                      <a:srgbClr val="EAF2EC"/>
                    </a:solidFill>
                  </a:tcPr>
                </a:tc>
                <a:tc>
                  <a:txBody>
                    <a:bodyPr/>
                    <a:lstStyle/>
                    <a:p>
                      <a:pPr algn="ctr"/>
                      <a:r>
                        <a:rPr sz="2000" b="1">
                          <a:solidFill>
                            <a:srgbClr val="1B4332"/>
                          </a:solidFill>
                          <a:latin typeface="Calibri"/>
                        </a:rPr>
                        <a:t>Since 1500</a:t>
                      </a:r>
                    </a:p>
                  </a:txBody>
                  <a:tcPr marL="64008" marR="64008" marT="9144" marB="9144" anchor="ctr">
                    <a:solidFill>
                      <a:srgbClr val="EAF2EC"/>
                    </a:solidFill>
                  </a:tcPr>
                </a:tc>
                <a:tc>
                  <a:txBody>
                    <a:bodyPr/>
                    <a:lstStyle/>
                    <a:p>
                      <a:pPr algn="ctr"/>
                      <a:r>
                        <a:rPr sz="2000" b="1">
                          <a:solidFill>
                            <a:srgbClr val="1B4332"/>
                          </a:solidFill>
                          <a:latin typeface="Calibri"/>
                        </a:rPr>
                        <a:t>Since 1900</a:t>
                      </a:r>
                    </a:p>
                  </a:txBody>
                  <a:tcPr marL="64008" marR="64008" marT="9144" marB="9144" anchor="ctr">
                    <a:solidFill>
                      <a:srgbClr val="EAF2EC"/>
                    </a:solidFill>
                  </a:tcPr>
                </a:tc>
                <a:tc vMerge="1">
                  <a:txBody>
                    <a:bodyPr/>
                    <a:lstStyle/>
                    <a:p>
                      <a:endParaRPr/>
                    </a:p>
                  </a:txBody>
                  <a:tcPr/>
                </a:tc>
                <a:extLst>
                  <a:ext uri="{0D108BD9-81ED-4DB2-BD59-A6C34878D82A}">
                    <a16:rowId xmlns:a16="http://schemas.microsoft.com/office/drawing/2014/main" val="10001"/>
                  </a:ext>
                </a:extLst>
              </a:tr>
              <a:tr h="384048">
                <a:tc>
                  <a:txBody>
                    <a:bodyPr/>
                    <a:lstStyle/>
                    <a:p>
                      <a:pPr algn="l"/>
                      <a:r>
                        <a:rPr sz="2000" b="1">
                          <a:solidFill>
                            <a:srgbClr val="1B4332"/>
                          </a:solidFill>
                          <a:latin typeface="Calibri"/>
                        </a:rPr>
                        <a:t>Vertebrates</a:t>
                      </a:r>
                    </a:p>
                  </a:txBody>
                  <a:tcPr marL="64008" marR="64008" marT="9144" marB="9144" anchor="ctr">
                    <a:solidFill>
                      <a:srgbClr val="EAF2EC"/>
                    </a:solidFill>
                  </a:tcPr>
                </a:tc>
                <a:tc>
                  <a:txBody>
                    <a:bodyPr/>
                    <a:lstStyle/>
                    <a:p>
                      <a:pPr algn="ctr"/>
                      <a:r>
                        <a:rPr sz="2000" b="1">
                          <a:solidFill>
                            <a:srgbClr val="1D2A22"/>
                          </a:solidFill>
                          <a:latin typeface="Calibri"/>
                        </a:rPr>
                        <a:t>338</a:t>
                      </a:r>
                    </a:p>
                  </a:txBody>
                  <a:tcPr marL="64008" marR="64008" marT="9144" marB="9144" anchor="ctr">
                    <a:solidFill>
                      <a:srgbClr val="EAF2EC"/>
                    </a:solidFill>
                  </a:tcPr>
                </a:tc>
                <a:tc>
                  <a:txBody>
                    <a:bodyPr/>
                    <a:lstStyle/>
                    <a:p>
                      <a:pPr algn="ctr"/>
                      <a:r>
                        <a:rPr sz="2000" b="1">
                          <a:solidFill>
                            <a:srgbClr val="1D2A22"/>
                          </a:solidFill>
                          <a:latin typeface="Calibri"/>
                        </a:rPr>
                        <a:t>198</a:t>
                      </a:r>
                    </a:p>
                  </a:txBody>
                  <a:tcPr marL="64008" marR="64008" marT="9144" marB="9144" anchor="ctr">
                    <a:solidFill>
                      <a:srgbClr val="EAF2EC"/>
                    </a:solidFill>
                  </a:tcPr>
                </a:tc>
                <a:tc>
                  <a:txBody>
                    <a:bodyPr/>
                    <a:lstStyle/>
                    <a:p>
                      <a:pPr algn="ctr"/>
                      <a:r>
                        <a:rPr sz="2000" b="1">
                          <a:solidFill>
                            <a:srgbClr val="1D2A22"/>
                          </a:solidFill>
                          <a:latin typeface="Calibri"/>
                        </a:rPr>
                        <a:t>617</a:t>
                      </a:r>
                    </a:p>
                  </a:txBody>
                  <a:tcPr marL="64008" marR="64008" marT="9144" marB="9144" anchor="ctr">
                    <a:solidFill>
                      <a:srgbClr val="EAF2EC"/>
                    </a:solidFill>
                  </a:tcPr>
                </a:tc>
                <a:tc>
                  <a:txBody>
                    <a:bodyPr/>
                    <a:lstStyle/>
                    <a:p>
                      <a:pPr algn="ctr"/>
                      <a:r>
                        <a:rPr sz="2000" b="1">
                          <a:solidFill>
                            <a:srgbClr val="1D2A22"/>
                          </a:solidFill>
                          <a:latin typeface="Calibri"/>
                        </a:rPr>
                        <a:t>477</a:t>
                      </a:r>
                    </a:p>
                  </a:txBody>
                  <a:tcPr marL="64008" marR="64008" marT="9144" marB="9144" anchor="ctr">
                    <a:solidFill>
                      <a:srgbClr val="EAF2EC"/>
                    </a:solidFill>
                  </a:tcPr>
                </a:tc>
                <a:tc>
                  <a:txBody>
                    <a:bodyPr/>
                    <a:lstStyle/>
                    <a:p>
                      <a:pPr algn="ctr"/>
                      <a:r>
                        <a:rPr sz="2000" b="1">
                          <a:solidFill>
                            <a:srgbClr val="C1543C"/>
                          </a:solidFill>
                          <a:latin typeface="Calibri"/>
                        </a:rPr>
                        <a:t>59%  (39,223)</a:t>
                      </a:r>
                    </a:p>
                  </a:txBody>
                  <a:tcPr marL="64008" marR="64008" marT="9144" marB="9144" anchor="ctr">
                    <a:solidFill>
                      <a:srgbClr val="F6E4DE"/>
                    </a:solidFill>
                  </a:tcPr>
                </a:tc>
                <a:extLst>
                  <a:ext uri="{0D108BD9-81ED-4DB2-BD59-A6C34878D82A}">
                    <a16:rowId xmlns:a16="http://schemas.microsoft.com/office/drawing/2014/main" val="10002"/>
                  </a:ext>
                </a:extLst>
              </a:tr>
              <a:tr h="384048">
                <a:tc>
                  <a:txBody>
                    <a:bodyPr/>
                    <a:lstStyle/>
                    <a:p>
                      <a:pPr algn="l"/>
                      <a:r>
                        <a:rPr sz="2000" b="1">
                          <a:solidFill>
                            <a:srgbClr val="1D2A22"/>
                          </a:solidFill>
                          <a:latin typeface="Calibri"/>
                        </a:rPr>
                        <a:t>Mammals</a:t>
                      </a:r>
                    </a:p>
                  </a:txBody>
                  <a:tcPr marL="64008" marR="64008" marT="9144" marB="9144" anchor="ctr">
                    <a:noFill/>
                  </a:tcPr>
                </a:tc>
                <a:tc>
                  <a:txBody>
                    <a:bodyPr/>
                    <a:lstStyle/>
                    <a:p>
                      <a:pPr algn="ctr"/>
                      <a:r>
                        <a:rPr sz="2000" b="0">
                          <a:solidFill>
                            <a:srgbClr val="1D2A22"/>
                          </a:solidFill>
                          <a:latin typeface="Calibri"/>
                        </a:rPr>
                        <a:t>77</a:t>
                      </a:r>
                    </a:p>
                  </a:txBody>
                  <a:tcPr marL="64008" marR="64008" marT="9144" marB="9144" anchor="ctr">
                    <a:noFill/>
                  </a:tcPr>
                </a:tc>
                <a:tc>
                  <a:txBody>
                    <a:bodyPr/>
                    <a:lstStyle/>
                    <a:p>
                      <a:pPr algn="ctr"/>
                      <a:r>
                        <a:rPr sz="2000" b="0">
                          <a:solidFill>
                            <a:srgbClr val="1D2A22"/>
                          </a:solidFill>
                          <a:latin typeface="Calibri"/>
                        </a:rPr>
                        <a:t>35</a:t>
                      </a:r>
                    </a:p>
                  </a:txBody>
                  <a:tcPr marL="64008" marR="64008" marT="9144" marB="9144" anchor="ctr">
                    <a:noFill/>
                  </a:tcPr>
                </a:tc>
                <a:tc>
                  <a:txBody>
                    <a:bodyPr/>
                    <a:lstStyle/>
                    <a:p>
                      <a:pPr algn="ctr"/>
                      <a:r>
                        <a:rPr sz="2000" b="0">
                          <a:solidFill>
                            <a:srgbClr val="1D2A22"/>
                          </a:solidFill>
                          <a:latin typeface="Calibri"/>
                        </a:rPr>
                        <a:t>111</a:t>
                      </a:r>
                    </a:p>
                  </a:txBody>
                  <a:tcPr marL="64008" marR="64008" marT="9144" marB="9144" anchor="ctr">
                    <a:noFill/>
                  </a:tcPr>
                </a:tc>
                <a:tc>
                  <a:txBody>
                    <a:bodyPr/>
                    <a:lstStyle/>
                    <a:p>
                      <a:pPr algn="ctr"/>
                      <a:r>
                        <a:rPr sz="2000" b="0">
                          <a:solidFill>
                            <a:srgbClr val="1D2A22"/>
                          </a:solidFill>
                          <a:latin typeface="Calibri"/>
                        </a:rPr>
                        <a:t>69</a:t>
                      </a:r>
                    </a:p>
                  </a:txBody>
                  <a:tcPr marL="64008" marR="64008" marT="9144" marB="9144" anchor="ctr">
                    <a:noFill/>
                  </a:tcPr>
                </a:tc>
                <a:tc>
                  <a:txBody>
                    <a:bodyPr/>
                    <a:lstStyle/>
                    <a:p>
                      <a:pPr algn="ctr"/>
                      <a:r>
                        <a:rPr sz="2000" b="0">
                          <a:solidFill>
                            <a:srgbClr val="C1543C"/>
                          </a:solidFill>
                          <a:latin typeface="Calibri"/>
                        </a:rPr>
                        <a:t>100%  (5,513)</a:t>
                      </a:r>
                    </a:p>
                  </a:txBody>
                  <a:tcPr marL="64008" marR="64008" marT="9144" marB="9144" anchor="ctr">
                    <a:solidFill>
                      <a:srgbClr val="F6E4DE"/>
                    </a:solidFill>
                  </a:tcPr>
                </a:tc>
                <a:extLst>
                  <a:ext uri="{0D108BD9-81ED-4DB2-BD59-A6C34878D82A}">
                    <a16:rowId xmlns:a16="http://schemas.microsoft.com/office/drawing/2014/main" val="10003"/>
                  </a:ext>
                </a:extLst>
              </a:tr>
              <a:tr h="384048">
                <a:tc>
                  <a:txBody>
                    <a:bodyPr/>
                    <a:lstStyle/>
                    <a:p>
                      <a:pPr algn="l"/>
                      <a:r>
                        <a:rPr sz="2000" b="1">
                          <a:solidFill>
                            <a:srgbClr val="1D2A22"/>
                          </a:solidFill>
                          <a:latin typeface="Calibri"/>
                        </a:rPr>
                        <a:t>Birds</a:t>
                      </a:r>
                    </a:p>
                  </a:txBody>
                  <a:tcPr marL="64008" marR="64008" marT="9144" marB="9144" anchor="ctr">
                    <a:noFill/>
                  </a:tcPr>
                </a:tc>
                <a:tc>
                  <a:txBody>
                    <a:bodyPr/>
                    <a:lstStyle/>
                    <a:p>
                      <a:pPr algn="ctr"/>
                      <a:r>
                        <a:rPr sz="2000" b="0">
                          <a:solidFill>
                            <a:srgbClr val="1D2A22"/>
                          </a:solidFill>
                          <a:latin typeface="Calibri"/>
                        </a:rPr>
                        <a:t>140</a:t>
                      </a:r>
                    </a:p>
                  </a:txBody>
                  <a:tcPr marL="64008" marR="64008" marT="9144" marB="9144" anchor="ctr">
                    <a:noFill/>
                  </a:tcPr>
                </a:tc>
                <a:tc>
                  <a:txBody>
                    <a:bodyPr/>
                    <a:lstStyle/>
                    <a:p>
                      <a:pPr algn="ctr"/>
                      <a:r>
                        <a:rPr sz="2000" b="0">
                          <a:solidFill>
                            <a:srgbClr val="1D2A22"/>
                          </a:solidFill>
                          <a:latin typeface="Calibri"/>
                        </a:rPr>
                        <a:t>57</a:t>
                      </a:r>
                    </a:p>
                  </a:txBody>
                  <a:tcPr marL="64008" marR="64008" marT="9144" marB="9144" anchor="ctr">
                    <a:noFill/>
                  </a:tcPr>
                </a:tc>
                <a:tc>
                  <a:txBody>
                    <a:bodyPr/>
                    <a:lstStyle/>
                    <a:p>
                      <a:pPr algn="ctr"/>
                      <a:r>
                        <a:rPr sz="2000" b="0">
                          <a:solidFill>
                            <a:srgbClr val="1D2A22"/>
                          </a:solidFill>
                          <a:latin typeface="Calibri"/>
                        </a:rPr>
                        <a:t>163</a:t>
                      </a:r>
                    </a:p>
                  </a:txBody>
                  <a:tcPr marL="64008" marR="64008" marT="9144" marB="9144" anchor="ctr">
                    <a:noFill/>
                  </a:tcPr>
                </a:tc>
                <a:tc>
                  <a:txBody>
                    <a:bodyPr/>
                    <a:lstStyle/>
                    <a:p>
                      <a:pPr algn="ctr"/>
                      <a:r>
                        <a:rPr sz="2000" b="0">
                          <a:solidFill>
                            <a:srgbClr val="1D2A22"/>
                          </a:solidFill>
                          <a:latin typeface="Calibri"/>
                        </a:rPr>
                        <a:t>80</a:t>
                      </a:r>
                    </a:p>
                  </a:txBody>
                  <a:tcPr marL="64008" marR="64008" marT="9144" marB="9144" anchor="ctr">
                    <a:noFill/>
                  </a:tcPr>
                </a:tc>
                <a:tc>
                  <a:txBody>
                    <a:bodyPr/>
                    <a:lstStyle/>
                    <a:p>
                      <a:pPr algn="ctr"/>
                      <a:r>
                        <a:rPr sz="2000" b="0">
                          <a:solidFill>
                            <a:srgbClr val="C1543C"/>
                          </a:solidFill>
                          <a:latin typeface="Calibri"/>
                        </a:rPr>
                        <a:t>100%  (10,425)</a:t>
                      </a:r>
                    </a:p>
                  </a:txBody>
                  <a:tcPr marL="64008" marR="64008" marT="9144" marB="9144" anchor="ctr">
                    <a:solidFill>
                      <a:srgbClr val="F6E4DE"/>
                    </a:solidFill>
                  </a:tcPr>
                </a:tc>
                <a:extLst>
                  <a:ext uri="{0D108BD9-81ED-4DB2-BD59-A6C34878D82A}">
                    <a16:rowId xmlns:a16="http://schemas.microsoft.com/office/drawing/2014/main" val="10004"/>
                  </a:ext>
                </a:extLst>
              </a:tr>
              <a:tr h="384048">
                <a:tc>
                  <a:txBody>
                    <a:bodyPr/>
                    <a:lstStyle/>
                    <a:p>
                      <a:pPr algn="l"/>
                      <a:r>
                        <a:rPr sz="2000" b="1">
                          <a:solidFill>
                            <a:srgbClr val="1D2A22"/>
                          </a:solidFill>
                          <a:latin typeface="Calibri"/>
                        </a:rPr>
                        <a:t>Reptiles</a:t>
                      </a:r>
                    </a:p>
                  </a:txBody>
                  <a:tcPr marL="64008" marR="64008" marT="9144" marB="9144" anchor="ctr">
                    <a:noFill/>
                  </a:tcPr>
                </a:tc>
                <a:tc>
                  <a:txBody>
                    <a:bodyPr/>
                    <a:lstStyle/>
                    <a:p>
                      <a:pPr algn="ctr"/>
                      <a:r>
                        <a:rPr sz="2000" b="0">
                          <a:solidFill>
                            <a:srgbClr val="1D2A22"/>
                          </a:solidFill>
                          <a:latin typeface="Calibri"/>
                        </a:rPr>
                        <a:t>21</a:t>
                      </a:r>
                    </a:p>
                  </a:txBody>
                  <a:tcPr marL="64008" marR="64008" marT="9144" marB="9144" anchor="ctr">
                    <a:noFill/>
                  </a:tcPr>
                </a:tc>
                <a:tc>
                  <a:txBody>
                    <a:bodyPr/>
                    <a:lstStyle/>
                    <a:p>
                      <a:pPr algn="ctr"/>
                      <a:r>
                        <a:rPr sz="2000" b="0">
                          <a:solidFill>
                            <a:srgbClr val="1D2A22"/>
                          </a:solidFill>
                          <a:latin typeface="Calibri"/>
                        </a:rPr>
                        <a:t>8</a:t>
                      </a:r>
                    </a:p>
                  </a:txBody>
                  <a:tcPr marL="64008" marR="64008" marT="9144" marB="9144" anchor="ctr">
                    <a:noFill/>
                  </a:tcPr>
                </a:tc>
                <a:tc>
                  <a:txBody>
                    <a:bodyPr/>
                    <a:lstStyle/>
                    <a:p>
                      <a:pPr algn="ctr"/>
                      <a:r>
                        <a:rPr sz="2000" b="0">
                          <a:solidFill>
                            <a:srgbClr val="1D2A22"/>
                          </a:solidFill>
                          <a:latin typeface="Calibri"/>
                        </a:rPr>
                        <a:t>37</a:t>
                      </a:r>
                    </a:p>
                  </a:txBody>
                  <a:tcPr marL="64008" marR="64008" marT="9144" marB="9144" anchor="ctr">
                    <a:noFill/>
                  </a:tcPr>
                </a:tc>
                <a:tc>
                  <a:txBody>
                    <a:bodyPr/>
                    <a:lstStyle/>
                    <a:p>
                      <a:pPr algn="ctr"/>
                      <a:r>
                        <a:rPr sz="2000" b="0">
                          <a:solidFill>
                            <a:srgbClr val="1D2A22"/>
                          </a:solidFill>
                          <a:latin typeface="Calibri"/>
                        </a:rPr>
                        <a:t>24</a:t>
                      </a:r>
                    </a:p>
                  </a:txBody>
                  <a:tcPr marL="64008" marR="64008" marT="9144" marB="9144" anchor="ctr">
                    <a:noFill/>
                  </a:tcPr>
                </a:tc>
                <a:tc>
                  <a:txBody>
                    <a:bodyPr/>
                    <a:lstStyle/>
                    <a:p>
                      <a:pPr algn="ctr"/>
                      <a:r>
                        <a:rPr sz="2000" b="0">
                          <a:solidFill>
                            <a:srgbClr val="C1543C"/>
                          </a:solidFill>
                          <a:latin typeface="Calibri"/>
                        </a:rPr>
                        <a:t>44%  (4,414)</a:t>
                      </a:r>
                    </a:p>
                  </a:txBody>
                  <a:tcPr marL="64008" marR="64008" marT="9144" marB="9144" anchor="ctr">
                    <a:solidFill>
                      <a:srgbClr val="F6E4DE"/>
                    </a:solidFill>
                  </a:tcPr>
                </a:tc>
                <a:extLst>
                  <a:ext uri="{0D108BD9-81ED-4DB2-BD59-A6C34878D82A}">
                    <a16:rowId xmlns:a16="http://schemas.microsoft.com/office/drawing/2014/main" val="10005"/>
                  </a:ext>
                </a:extLst>
              </a:tr>
              <a:tr h="384048">
                <a:tc>
                  <a:txBody>
                    <a:bodyPr/>
                    <a:lstStyle/>
                    <a:p>
                      <a:pPr algn="l"/>
                      <a:r>
                        <a:rPr sz="2000" b="1">
                          <a:solidFill>
                            <a:srgbClr val="1D2A22"/>
                          </a:solidFill>
                          <a:latin typeface="Calibri"/>
                        </a:rPr>
                        <a:t>Amphibians</a:t>
                      </a:r>
                    </a:p>
                  </a:txBody>
                  <a:tcPr marL="64008" marR="64008" marT="9144" marB="9144" anchor="ctr">
                    <a:noFill/>
                  </a:tcPr>
                </a:tc>
                <a:tc>
                  <a:txBody>
                    <a:bodyPr/>
                    <a:lstStyle/>
                    <a:p>
                      <a:pPr algn="ctr"/>
                      <a:r>
                        <a:rPr sz="2000" b="0">
                          <a:solidFill>
                            <a:srgbClr val="1D2A22"/>
                          </a:solidFill>
                          <a:latin typeface="Calibri"/>
                        </a:rPr>
                        <a:t>34</a:t>
                      </a:r>
                    </a:p>
                  </a:txBody>
                  <a:tcPr marL="64008" marR="64008" marT="9144" marB="9144" anchor="ctr">
                    <a:noFill/>
                  </a:tcPr>
                </a:tc>
                <a:tc>
                  <a:txBody>
                    <a:bodyPr/>
                    <a:lstStyle/>
                    <a:p>
                      <a:pPr algn="ctr"/>
                      <a:r>
                        <a:rPr sz="2000" b="0">
                          <a:solidFill>
                            <a:srgbClr val="1D2A22"/>
                          </a:solidFill>
                          <a:latin typeface="Calibri"/>
                        </a:rPr>
                        <a:t>32</a:t>
                      </a:r>
                    </a:p>
                  </a:txBody>
                  <a:tcPr marL="64008" marR="64008" marT="9144" marB="9144" anchor="ctr">
                    <a:noFill/>
                  </a:tcPr>
                </a:tc>
                <a:tc>
                  <a:txBody>
                    <a:bodyPr/>
                    <a:lstStyle/>
                    <a:p>
                      <a:pPr algn="ctr"/>
                      <a:r>
                        <a:rPr sz="2000" b="0">
                          <a:solidFill>
                            <a:srgbClr val="1D2A22"/>
                          </a:solidFill>
                          <a:latin typeface="Calibri"/>
                        </a:rPr>
                        <a:t>148</a:t>
                      </a:r>
                    </a:p>
                  </a:txBody>
                  <a:tcPr marL="64008" marR="64008" marT="9144" marB="9144" anchor="ctr">
                    <a:noFill/>
                  </a:tcPr>
                </a:tc>
                <a:tc>
                  <a:txBody>
                    <a:bodyPr/>
                    <a:lstStyle/>
                    <a:p>
                      <a:pPr algn="ctr"/>
                      <a:r>
                        <a:rPr sz="2000" b="0">
                          <a:solidFill>
                            <a:srgbClr val="1D2A22"/>
                          </a:solidFill>
                          <a:latin typeface="Calibri"/>
                        </a:rPr>
                        <a:t>146</a:t>
                      </a:r>
                    </a:p>
                  </a:txBody>
                  <a:tcPr marL="64008" marR="64008" marT="9144" marB="9144" anchor="ctr">
                    <a:noFill/>
                  </a:tcPr>
                </a:tc>
                <a:tc>
                  <a:txBody>
                    <a:bodyPr/>
                    <a:lstStyle/>
                    <a:p>
                      <a:pPr algn="ctr"/>
                      <a:r>
                        <a:rPr sz="2000" b="0">
                          <a:solidFill>
                            <a:srgbClr val="C1543C"/>
                          </a:solidFill>
                          <a:latin typeface="Calibri"/>
                        </a:rPr>
                        <a:t>88%  (6,414)</a:t>
                      </a:r>
                    </a:p>
                  </a:txBody>
                  <a:tcPr marL="64008" marR="64008" marT="9144" marB="9144" anchor="ctr">
                    <a:solidFill>
                      <a:srgbClr val="F6E4DE"/>
                    </a:solidFill>
                  </a:tcPr>
                </a:tc>
                <a:extLst>
                  <a:ext uri="{0D108BD9-81ED-4DB2-BD59-A6C34878D82A}">
                    <a16:rowId xmlns:a16="http://schemas.microsoft.com/office/drawing/2014/main" val="10006"/>
                  </a:ext>
                </a:extLst>
              </a:tr>
              <a:tr h="384048">
                <a:tc>
                  <a:txBody>
                    <a:bodyPr/>
                    <a:lstStyle/>
                    <a:p>
                      <a:pPr algn="l"/>
                      <a:r>
                        <a:rPr sz="2000" b="1">
                          <a:solidFill>
                            <a:srgbClr val="1D2A22"/>
                          </a:solidFill>
                          <a:latin typeface="Calibri"/>
                        </a:rPr>
                        <a:t>Fishes</a:t>
                      </a:r>
                    </a:p>
                  </a:txBody>
                  <a:tcPr marL="64008" marR="64008" marT="9144" marB="9144" anchor="ctr">
                    <a:noFill/>
                  </a:tcPr>
                </a:tc>
                <a:tc>
                  <a:txBody>
                    <a:bodyPr/>
                    <a:lstStyle/>
                    <a:p>
                      <a:pPr algn="ctr"/>
                      <a:r>
                        <a:rPr sz="2000" b="0">
                          <a:solidFill>
                            <a:srgbClr val="1D2A22"/>
                          </a:solidFill>
                          <a:latin typeface="Calibri"/>
                        </a:rPr>
                        <a:t>66</a:t>
                      </a:r>
                    </a:p>
                  </a:txBody>
                  <a:tcPr marL="64008" marR="64008" marT="9144" marB="9144" anchor="ctr">
                    <a:noFill/>
                  </a:tcPr>
                </a:tc>
                <a:tc>
                  <a:txBody>
                    <a:bodyPr/>
                    <a:lstStyle/>
                    <a:p>
                      <a:pPr algn="ctr"/>
                      <a:r>
                        <a:rPr sz="2000" b="0">
                          <a:solidFill>
                            <a:srgbClr val="1D2A22"/>
                          </a:solidFill>
                          <a:latin typeface="Calibri"/>
                        </a:rPr>
                        <a:t>66</a:t>
                      </a:r>
                    </a:p>
                  </a:txBody>
                  <a:tcPr marL="64008" marR="64008" marT="9144" marB="9144" anchor="ctr">
                    <a:noFill/>
                  </a:tcPr>
                </a:tc>
                <a:tc>
                  <a:txBody>
                    <a:bodyPr/>
                    <a:lstStyle/>
                    <a:p>
                      <a:pPr algn="ctr"/>
                      <a:r>
                        <a:rPr sz="2000" b="0">
                          <a:solidFill>
                            <a:srgbClr val="1D2A22"/>
                          </a:solidFill>
                          <a:latin typeface="Calibri"/>
                        </a:rPr>
                        <a:t>158</a:t>
                      </a:r>
                    </a:p>
                  </a:txBody>
                  <a:tcPr marL="64008" marR="64008" marT="9144" marB="9144" anchor="ctr">
                    <a:noFill/>
                  </a:tcPr>
                </a:tc>
                <a:tc>
                  <a:txBody>
                    <a:bodyPr/>
                    <a:lstStyle/>
                    <a:p>
                      <a:pPr algn="ctr"/>
                      <a:r>
                        <a:rPr sz="2000" b="0">
                          <a:solidFill>
                            <a:srgbClr val="1D2A22"/>
                          </a:solidFill>
                          <a:latin typeface="Calibri"/>
                        </a:rPr>
                        <a:t>158</a:t>
                      </a:r>
                    </a:p>
                  </a:txBody>
                  <a:tcPr marL="64008" marR="64008" marT="9144" marB="9144" anchor="ctr">
                    <a:noFill/>
                  </a:tcPr>
                </a:tc>
                <a:tc>
                  <a:txBody>
                    <a:bodyPr/>
                    <a:lstStyle/>
                    <a:p>
                      <a:pPr algn="ctr"/>
                      <a:r>
                        <a:rPr sz="2000" b="0">
                          <a:solidFill>
                            <a:srgbClr val="C1543C"/>
                          </a:solidFill>
                          <a:latin typeface="Calibri"/>
                        </a:rPr>
                        <a:t>38%  (12,457)</a:t>
                      </a:r>
                    </a:p>
                  </a:txBody>
                  <a:tcPr marL="64008" marR="64008" marT="9144" marB="9144" anchor="ctr">
                    <a:solidFill>
                      <a:srgbClr val="F6E4DE"/>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640080" y="5175504"/>
            <a:ext cx="10881360" cy="914400"/>
          </a:xfrm>
          <a:prstGeom prst="roundRect">
            <a:avLst>
              <a:gd name="adj" fmla="val 10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292608" rIns="292608" rtlCol="0" anchor="ctr">
            <a:noAutofit/>
          </a:bodyPr>
          <a:lstStyle/>
          <a:p>
            <a:pPr algn="l"/>
            <a:r>
              <a:rPr sz="2000" b="1" dirty="0">
                <a:solidFill>
                  <a:srgbClr val="AECFB8"/>
                </a:solidFill>
                <a:latin typeface="Calibri"/>
              </a:rPr>
              <a:t>These are counts of documented losses. </a:t>
            </a:r>
            <a:r>
              <a:rPr sz="2000" b="0" i="0" dirty="0">
                <a:solidFill>
                  <a:srgbClr val="FFFFFF"/>
                </a:solidFill>
                <a:latin typeface="Calibri"/>
              </a:rPr>
              <a:t>Every mammal and bird species has been assessed; only 38% of fishes have, so the total is a </a:t>
            </a:r>
            <a:r>
              <a:rPr lang="en-US" sz="2000" b="0" i="0" dirty="0">
                <a:solidFill>
                  <a:srgbClr val="FFFFFF"/>
                </a:solidFill>
                <a:latin typeface="Calibri"/>
              </a:rPr>
              <a:t>minimum estimate!</a:t>
            </a:r>
            <a:endParaRPr sz="2000" b="0" i="0" dirty="0">
              <a:solidFill>
                <a:srgbClr val="FFFFFF"/>
              </a:solidFill>
              <a:latin typeface="Calibri"/>
            </a:endParaRPr>
          </a:p>
        </p:txBody>
      </p:sp>
      <p:sp>
        <p:nvSpPr>
          <p:cNvPr id="6" name="TextBox 5"/>
          <p:cNvSpPr txBox="1"/>
          <p:nvPr/>
        </p:nvSpPr>
        <p:spPr>
          <a:xfrm>
            <a:off x="640080" y="6217920"/>
            <a:ext cx="10881360" cy="310896"/>
          </a:xfrm>
          <a:prstGeom prst="rect">
            <a:avLst/>
          </a:prstGeom>
          <a:noFill/>
        </p:spPr>
        <p:txBody>
          <a:bodyPr wrap="square" lIns="0" tIns="0" rIns="0" bIns="0">
            <a:noAutofit/>
          </a:bodyPr>
          <a:lstStyle/>
          <a:p>
            <a:pPr algn="l"/>
            <a:r>
              <a:rPr sz="2000" b="0" i="0">
                <a:solidFill>
                  <a:srgbClr val="5E6B62"/>
                </a:solidFill>
                <a:latin typeface="Calibri"/>
              </a:rPr>
              <a:t>Source: Ceballos et al. 2015, Science Advances 1:e1400253, Table 1</a:t>
            </a:r>
          </a:p>
        </p:txBody>
      </p:sp>
      <p:sp>
        <p:nvSpPr>
          <p:cNvPr id="7" name="TextBox 6"/>
          <p:cNvSpPr txBox="1"/>
          <p:nvPr/>
        </p:nvSpPr>
        <p:spPr>
          <a:xfrm>
            <a:off x="640080" y="6565392"/>
            <a:ext cx="6400800" cy="292608"/>
          </a:xfrm>
          <a:prstGeom prst="rect">
            <a:avLst/>
          </a:prstGeom>
          <a:noFill/>
        </p:spPr>
        <p:txBody>
          <a:bodyPr wrap="square" lIns="0" tIns="0" rIns="0" bIns="0">
            <a:noAutofit/>
          </a:bodyPr>
          <a:lstStyle/>
          <a:p>
            <a:pPr algn="l"/>
            <a:r>
              <a:rPr sz="2000" b="0" i="0">
                <a:solidFill>
                  <a:srgbClr val="5E6B62"/>
                </a:solidFill>
                <a:latin typeface="Calibri"/>
              </a:rPr>
              <a:t>Part 1 · The crisis   ·   slide 8/24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1051560"/>
          </a:xfrm>
          <a:prstGeom prst="rect">
            <a:avLst/>
          </a:prstGeom>
          <a:noFill/>
        </p:spPr>
        <p:txBody>
          <a:bodyPr wrap="square" lIns="0" tIns="0" rIns="0" bIns="0" anchor="t">
            <a:noAutofit/>
          </a:bodyPr>
          <a:lstStyle/>
          <a:p>
            <a:pPr algn="l"/>
            <a:r>
              <a:rPr sz="3200" b="1" i="0">
                <a:solidFill>
                  <a:srgbClr val="1B4332"/>
                </a:solidFill>
                <a:latin typeface="Cambria"/>
              </a:rPr>
              <a:t>Every group is losing species far faster than the fossil record predicts</a:t>
            </a:r>
          </a:p>
        </p:txBody>
      </p:sp>
      <p:graphicFrame>
        <p:nvGraphicFramePr>
          <p:cNvPr id="3" name="Chart 2"/>
          <p:cNvGraphicFramePr>
            <a:graphicFrameLocks noGrp="1"/>
          </p:cNvGraphicFramePr>
          <p:nvPr>
            <p:extLst>
              <p:ext uri="{D42A27DB-BD31-4B8C-83A1-F6EECF244321}">
                <p14:modId xmlns:p14="http://schemas.microsoft.com/office/powerpoint/2010/main" val="1842471202"/>
              </p:ext>
            </p:extLst>
          </p:nvPr>
        </p:nvGraphicFramePr>
        <p:xfrm>
          <a:off x="640080" y="1600200"/>
          <a:ext cx="740664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4" name="Rounded Rectangle 3"/>
          <p:cNvSpPr/>
          <p:nvPr/>
        </p:nvSpPr>
        <p:spPr>
          <a:xfrm>
            <a:off x="8275320" y="1600200"/>
            <a:ext cx="3246120" cy="2148840"/>
          </a:xfrm>
          <a:prstGeom prst="roundRect">
            <a:avLst>
              <a:gd name="adj" fmla="val 9000"/>
            </a:avLst>
          </a:prstGeom>
          <a:solidFill>
            <a:srgbClr val="F6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0" y="1783080"/>
            <a:ext cx="2788920" cy="1783080"/>
          </a:xfrm>
          <a:prstGeom prst="rect">
            <a:avLst/>
          </a:prstGeom>
          <a:noFill/>
        </p:spPr>
        <p:txBody>
          <a:bodyPr wrap="square" lIns="0" tIns="0" rIns="0" bIns="0" anchor="t">
            <a:noAutofit/>
          </a:bodyPr>
          <a:lstStyle/>
          <a:p>
            <a:pPr algn="l"/>
            <a:r>
              <a:rPr sz="2000" b="1" i="0">
                <a:solidFill>
                  <a:srgbClr val="8A2F1D"/>
                </a:solidFill>
                <a:latin typeface="Calibri"/>
              </a:rPr>
              <a:t>Losses since 1900 would have taken 800 to 10,000 years at the background rate.</a:t>
            </a:r>
          </a:p>
        </p:txBody>
      </p:sp>
      <p:sp>
        <p:nvSpPr>
          <p:cNvPr id="6" name="TextBox 5"/>
          <p:cNvSpPr txBox="1"/>
          <p:nvPr/>
        </p:nvSpPr>
        <p:spPr>
          <a:xfrm>
            <a:off x="8275320" y="3977639"/>
            <a:ext cx="3246120" cy="1828800"/>
          </a:xfrm>
          <a:prstGeom prst="rect">
            <a:avLst/>
          </a:prstGeom>
          <a:noFill/>
        </p:spPr>
        <p:txBody>
          <a:bodyPr wrap="square" lIns="0" tIns="0" rIns="0" bIns="0" anchor="t">
            <a:noAutofit/>
          </a:bodyPr>
          <a:lstStyle/>
          <a:p>
            <a:pPr algn="l"/>
            <a:r>
              <a:rPr sz="2000" b="0" i="0">
                <a:solidFill>
                  <a:srgbClr val="1D2A22"/>
                </a:solidFill>
                <a:latin typeface="Calibri"/>
              </a:rPr>
              <a:t>The dotted line is the same 500 years at 2 extinctions per million species-years, the rate the fossil record gives. The distance between it and the rest is the finding.</a:t>
            </a:r>
          </a:p>
        </p:txBody>
      </p:sp>
      <p:sp>
        <p:nvSpPr>
          <p:cNvPr id="7" name="TextBox 6"/>
          <p:cNvSpPr txBox="1"/>
          <p:nvPr/>
        </p:nvSpPr>
        <p:spPr>
          <a:xfrm>
            <a:off x="640080" y="5989320"/>
            <a:ext cx="10881360" cy="365760"/>
          </a:xfrm>
          <a:prstGeom prst="rect">
            <a:avLst/>
          </a:prstGeom>
          <a:noFill/>
        </p:spPr>
        <p:txBody>
          <a:bodyPr wrap="square" lIns="0" tIns="0" rIns="0" bIns="0" anchor="t">
            <a:noAutofit/>
          </a:bodyPr>
          <a:lstStyle/>
          <a:p>
            <a:pPr algn="l"/>
            <a:r>
              <a:rPr sz="2000" b="0" i="0">
                <a:solidFill>
                  <a:srgbClr val="5E6B62"/>
                </a:solidFill>
                <a:latin typeface="Calibri"/>
              </a:rPr>
              <a:t>Redrawn from Ceballos et al. 2015, Science Advances 1:e1400253, Fig. 1A (highly conservative estimate)</a:t>
            </a:r>
          </a:p>
        </p:txBody>
      </p:sp>
      <p:sp>
        <p:nvSpPr>
          <p:cNvPr id="8" name="TextBox 7"/>
          <p:cNvSpPr txBox="1"/>
          <p:nvPr/>
        </p:nvSpPr>
        <p:spPr>
          <a:xfrm>
            <a:off x="640080" y="6565392"/>
            <a:ext cx="6400800" cy="292608"/>
          </a:xfrm>
          <a:prstGeom prst="rect">
            <a:avLst/>
          </a:prstGeom>
          <a:noFill/>
        </p:spPr>
        <p:txBody>
          <a:bodyPr wrap="square" lIns="0" tIns="0" rIns="0" bIns="0" anchor="t">
            <a:noAutofit/>
          </a:bodyPr>
          <a:lstStyle/>
          <a:p>
            <a:pPr algn="l"/>
            <a:r>
              <a:rPr sz="2000" b="0" i="0">
                <a:solidFill>
                  <a:srgbClr val="5E6B62"/>
                </a:solidFill>
                <a:latin typeface="Calibri"/>
              </a:rPr>
              <a:t>Part 1 · The crisis   ·   slide 9/24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105156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Five mass extinctions in 540 million years. Is this the sixth?</a:t>
            </a:r>
            <a:endParaRPr lang="en-US" sz="4400" dirty="0"/>
          </a:p>
        </p:txBody>
      </p:sp>
      <p:sp>
        <p:nvSpPr>
          <p:cNvPr id="3" name="Shape 1"/>
          <p:cNvSpPr/>
          <p:nvPr/>
        </p:nvSpPr>
        <p:spPr>
          <a:xfrm>
            <a:off x="640080" y="3063240"/>
            <a:ext cx="10881360" cy="0"/>
          </a:xfrm>
          <a:prstGeom prst="line">
            <a:avLst/>
          </a:prstGeom>
          <a:noFill/>
          <a:ln w="31750">
            <a:solidFill>
              <a:srgbClr val="74A57F"/>
            </a:solidFill>
            <a:prstDash val="solid"/>
          </a:ln>
        </p:spPr>
        <p:txBody>
          <a:bodyPr wrap="square">
            <a:noAutofit/>
          </a:bodyPr>
          <a:lstStyle/>
          <a:p>
            <a:endParaRPr lang="en-US" sz="2800"/>
          </a:p>
        </p:txBody>
      </p:sp>
      <p:sp>
        <p:nvSpPr>
          <p:cNvPr id="4" name="Shape 2"/>
          <p:cNvSpPr/>
          <p:nvPr/>
        </p:nvSpPr>
        <p:spPr>
          <a:xfrm>
            <a:off x="1234440" y="2862072"/>
            <a:ext cx="411480" cy="411480"/>
          </a:xfrm>
          <a:prstGeom prst="ellipse">
            <a:avLst/>
          </a:prstGeom>
          <a:solidFill>
            <a:srgbClr val="1B4332"/>
          </a:solidFill>
          <a:ln w="25400">
            <a:solidFill>
              <a:srgbClr val="FFFFFF"/>
            </a:solidFill>
            <a:prstDash val="solid"/>
          </a:ln>
        </p:spPr>
        <p:txBody>
          <a:bodyPr wrap="square">
            <a:noAutofit/>
          </a:bodyPr>
          <a:lstStyle/>
          <a:p>
            <a:endParaRPr lang="en-US" sz="2800"/>
          </a:p>
        </p:txBody>
      </p:sp>
      <p:sp>
        <p:nvSpPr>
          <p:cNvPr id="5" name="Text 3"/>
          <p:cNvSpPr/>
          <p:nvPr/>
        </p:nvSpPr>
        <p:spPr>
          <a:xfrm>
            <a:off x="594360" y="2103120"/>
            <a:ext cx="1737360" cy="365760"/>
          </a:xfrm>
          <a:prstGeom prst="rect">
            <a:avLst/>
          </a:prstGeom>
          <a:noFill/>
          <a:ln/>
        </p:spPr>
        <p:txBody>
          <a:bodyPr wrap="square" lIns="0" tIns="0" rIns="0" bIns="0" rtlCol="0" anchor="ctr">
            <a:noAutofit/>
          </a:bodyPr>
          <a:lstStyle/>
          <a:p>
            <a:pPr marL="0" indent="0" algn="ctr">
              <a:buNone/>
            </a:pPr>
            <a:r>
              <a:rPr lang="en-US" sz="2000" b="1" dirty="0">
                <a:solidFill>
                  <a:srgbClr val="1B4332"/>
                </a:solidFill>
                <a:latin typeface="Cambria" pitchFamily="34" charset="0"/>
                <a:ea typeface="Cambria" pitchFamily="34" charset="-122"/>
                <a:cs typeface="Cambria" pitchFamily="34" charset="-120"/>
              </a:rPr>
              <a:t>444 Mya</a:t>
            </a:r>
            <a:endParaRPr lang="en-US" sz="2000" dirty="0"/>
          </a:p>
        </p:txBody>
      </p:sp>
      <p:sp>
        <p:nvSpPr>
          <p:cNvPr id="6" name="Text 4"/>
          <p:cNvSpPr/>
          <p:nvPr/>
        </p:nvSpPr>
        <p:spPr>
          <a:xfrm>
            <a:off x="411480" y="3401568"/>
            <a:ext cx="2103120" cy="41148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Ordovician</a:t>
            </a:r>
            <a:endParaRPr lang="en-US" dirty="0"/>
          </a:p>
        </p:txBody>
      </p:sp>
      <p:sp>
        <p:nvSpPr>
          <p:cNvPr id="7" name="Text 5"/>
          <p:cNvSpPr/>
          <p:nvPr/>
        </p:nvSpPr>
        <p:spPr>
          <a:xfrm>
            <a:off x="411480" y="3840480"/>
            <a:ext cx="2103120" cy="100584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~85% of species</a:t>
            </a:r>
            <a:endParaRPr lang="en-US" sz="1600" dirty="0"/>
          </a:p>
        </p:txBody>
      </p:sp>
      <p:sp>
        <p:nvSpPr>
          <p:cNvPr id="8" name="Shape 6"/>
          <p:cNvSpPr/>
          <p:nvPr/>
        </p:nvSpPr>
        <p:spPr>
          <a:xfrm>
            <a:off x="3044952" y="2862072"/>
            <a:ext cx="411480" cy="411480"/>
          </a:xfrm>
          <a:prstGeom prst="ellipse">
            <a:avLst/>
          </a:prstGeom>
          <a:solidFill>
            <a:srgbClr val="1B4332"/>
          </a:solidFill>
          <a:ln w="25400">
            <a:solidFill>
              <a:srgbClr val="FFFFFF"/>
            </a:solidFill>
            <a:prstDash val="solid"/>
          </a:ln>
        </p:spPr>
        <p:txBody>
          <a:bodyPr wrap="square">
            <a:noAutofit/>
          </a:bodyPr>
          <a:lstStyle/>
          <a:p>
            <a:endParaRPr lang="en-US" sz="2800"/>
          </a:p>
        </p:txBody>
      </p:sp>
      <p:sp>
        <p:nvSpPr>
          <p:cNvPr id="9" name="Text 7"/>
          <p:cNvSpPr/>
          <p:nvPr/>
        </p:nvSpPr>
        <p:spPr>
          <a:xfrm>
            <a:off x="2404872" y="2103120"/>
            <a:ext cx="1737360" cy="365760"/>
          </a:xfrm>
          <a:prstGeom prst="rect">
            <a:avLst/>
          </a:prstGeom>
          <a:noFill/>
          <a:ln/>
        </p:spPr>
        <p:txBody>
          <a:bodyPr wrap="square" lIns="0" tIns="0" rIns="0" bIns="0" rtlCol="0" anchor="ctr">
            <a:noAutofit/>
          </a:bodyPr>
          <a:lstStyle/>
          <a:p>
            <a:pPr marL="0" indent="0" algn="ctr">
              <a:buNone/>
            </a:pPr>
            <a:r>
              <a:rPr lang="en-US" sz="2000" b="1" dirty="0">
                <a:solidFill>
                  <a:srgbClr val="1B4332"/>
                </a:solidFill>
                <a:latin typeface="Cambria" pitchFamily="34" charset="0"/>
                <a:ea typeface="Cambria" pitchFamily="34" charset="-122"/>
                <a:cs typeface="Cambria" pitchFamily="34" charset="-120"/>
              </a:rPr>
              <a:t>372 Mya</a:t>
            </a:r>
            <a:endParaRPr lang="en-US" sz="2000" dirty="0"/>
          </a:p>
        </p:txBody>
      </p:sp>
      <p:sp>
        <p:nvSpPr>
          <p:cNvPr id="10" name="Text 8"/>
          <p:cNvSpPr/>
          <p:nvPr/>
        </p:nvSpPr>
        <p:spPr>
          <a:xfrm>
            <a:off x="2221991" y="3401568"/>
            <a:ext cx="2103120" cy="41148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Devonian</a:t>
            </a:r>
            <a:endParaRPr lang="en-US" dirty="0"/>
          </a:p>
        </p:txBody>
      </p:sp>
      <p:sp>
        <p:nvSpPr>
          <p:cNvPr id="11" name="Text 9"/>
          <p:cNvSpPr/>
          <p:nvPr/>
        </p:nvSpPr>
        <p:spPr>
          <a:xfrm>
            <a:off x="2221991" y="3840480"/>
            <a:ext cx="2103120" cy="100584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~75%</a:t>
            </a:r>
            <a:endParaRPr lang="en-US" sz="1600" dirty="0"/>
          </a:p>
        </p:txBody>
      </p:sp>
      <p:sp>
        <p:nvSpPr>
          <p:cNvPr id="12" name="Shape 10"/>
          <p:cNvSpPr/>
          <p:nvPr/>
        </p:nvSpPr>
        <p:spPr>
          <a:xfrm>
            <a:off x="4855464" y="2862072"/>
            <a:ext cx="411480" cy="411480"/>
          </a:xfrm>
          <a:prstGeom prst="ellipse">
            <a:avLst/>
          </a:prstGeom>
          <a:solidFill>
            <a:srgbClr val="1B4332"/>
          </a:solidFill>
          <a:ln w="25400">
            <a:solidFill>
              <a:srgbClr val="FFFFFF"/>
            </a:solidFill>
            <a:prstDash val="solid"/>
          </a:ln>
        </p:spPr>
        <p:txBody>
          <a:bodyPr wrap="square">
            <a:noAutofit/>
          </a:bodyPr>
          <a:lstStyle/>
          <a:p>
            <a:endParaRPr lang="en-US" sz="2800"/>
          </a:p>
        </p:txBody>
      </p:sp>
      <p:sp>
        <p:nvSpPr>
          <p:cNvPr id="13" name="Text 11"/>
          <p:cNvSpPr/>
          <p:nvPr/>
        </p:nvSpPr>
        <p:spPr>
          <a:xfrm>
            <a:off x="4215384" y="2103120"/>
            <a:ext cx="1737360" cy="365760"/>
          </a:xfrm>
          <a:prstGeom prst="rect">
            <a:avLst/>
          </a:prstGeom>
          <a:noFill/>
          <a:ln/>
        </p:spPr>
        <p:txBody>
          <a:bodyPr wrap="square" lIns="0" tIns="0" rIns="0" bIns="0" rtlCol="0" anchor="ctr">
            <a:noAutofit/>
          </a:bodyPr>
          <a:lstStyle/>
          <a:p>
            <a:pPr marL="0" indent="0" algn="ctr">
              <a:buNone/>
            </a:pPr>
            <a:r>
              <a:rPr lang="en-US" sz="2000" b="1" dirty="0">
                <a:solidFill>
                  <a:srgbClr val="1B4332"/>
                </a:solidFill>
                <a:latin typeface="Cambria" pitchFamily="34" charset="0"/>
                <a:ea typeface="Cambria" pitchFamily="34" charset="-122"/>
                <a:cs typeface="Cambria" pitchFamily="34" charset="-120"/>
              </a:rPr>
              <a:t>252 Mya</a:t>
            </a:r>
            <a:endParaRPr lang="en-US" sz="2000" dirty="0"/>
          </a:p>
        </p:txBody>
      </p:sp>
      <p:sp>
        <p:nvSpPr>
          <p:cNvPr id="14" name="Text 12"/>
          <p:cNvSpPr/>
          <p:nvPr/>
        </p:nvSpPr>
        <p:spPr>
          <a:xfrm>
            <a:off x="4032504" y="3401568"/>
            <a:ext cx="2103120" cy="41148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Permian</a:t>
            </a:r>
            <a:endParaRPr lang="en-US" dirty="0"/>
          </a:p>
        </p:txBody>
      </p:sp>
      <p:sp>
        <p:nvSpPr>
          <p:cNvPr id="15" name="Text 13"/>
          <p:cNvSpPr/>
          <p:nvPr/>
        </p:nvSpPr>
        <p:spPr>
          <a:xfrm>
            <a:off x="4032504" y="3840480"/>
            <a:ext cx="2103120" cy="100584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~95% of marine species</a:t>
            </a:r>
            <a:endParaRPr lang="en-US" sz="1600" dirty="0"/>
          </a:p>
        </p:txBody>
      </p:sp>
      <p:sp>
        <p:nvSpPr>
          <p:cNvPr id="16" name="Shape 14"/>
          <p:cNvSpPr/>
          <p:nvPr/>
        </p:nvSpPr>
        <p:spPr>
          <a:xfrm>
            <a:off x="6665976" y="2862072"/>
            <a:ext cx="411480" cy="411480"/>
          </a:xfrm>
          <a:prstGeom prst="ellipse">
            <a:avLst/>
          </a:prstGeom>
          <a:solidFill>
            <a:srgbClr val="1B4332"/>
          </a:solidFill>
          <a:ln w="25400">
            <a:solidFill>
              <a:srgbClr val="FFFFFF"/>
            </a:solidFill>
            <a:prstDash val="solid"/>
          </a:ln>
        </p:spPr>
        <p:txBody>
          <a:bodyPr wrap="square">
            <a:noAutofit/>
          </a:bodyPr>
          <a:lstStyle/>
          <a:p>
            <a:endParaRPr lang="en-US" sz="2800"/>
          </a:p>
        </p:txBody>
      </p:sp>
      <p:sp>
        <p:nvSpPr>
          <p:cNvPr id="17" name="Text 15"/>
          <p:cNvSpPr/>
          <p:nvPr/>
        </p:nvSpPr>
        <p:spPr>
          <a:xfrm>
            <a:off x="6025896" y="2103120"/>
            <a:ext cx="1737360" cy="365760"/>
          </a:xfrm>
          <a:prstGeom prst="rect">
            <a:avLst/>
          </a:prstGeom>
          <a:noFill/>
          <a:ln/>
        </p:spPr>
        <p:txBody>
          <a:bodyPr wrap="square" lIns="0" tIns="0" rIns="0" bIns="0" rtlCol="0" anchor="ctr">
            <a:noAutofit/>
          </a:bodyPr>
          <a:lstStyle/>
          <a:p>
            <a:pPr marL="0" indent="0" algn="ctr">
              <a:buNone/>
            </a:pPr>
            <a:r>
              <a:rPr lang="en-US" sz="2000" b="1" dirty="0">
                <a:solidFill>
                  <a:srgbClr val="1B4332"/>
                </a:solidFill>
                <a:latin typeface="Cambria" pitchFamily="34" charset="0"/>
                <a:ea typeface="Cambria" pitchFamily="34" charset="-122"/>
                <a:cs typeface="Cambria" pitchFamily="34" charset="-120"/>
              </a:rPr>
              <a:t>201 Mya</a:t>
            </a:r>
            <a:endParaRPr lang="en-US" sz="2000" dirty="0"/>
          </a:p>
        </p:txBody>
      </p:sp>
      <p:sp>
        <p:nvSpPr>
          <p:cNvPr id="18" name="Text 16"/>
          <p:cNvSpPr/>
          <p:nvPr/>
        </p:nvSpPr>
        <p:spPr>
          <a:xfrm>
            <a:off x="5843016" y="3401568"/>
            <a:ext cx="2103120" cy="41148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Triassic</a:t>
            </a:r>
            <a:endParaRPr lang="en-US" dirty="0"/>
          </a:p>
        </p:txBody>
      </p:sp>
      <p:sp>
        <p:nvSpPr>
          <p:cNvPr id="19" name="Text 17"/>
          <p:cNvSpPr/>
          <p:nvPr/>
        </p:nvSpPr>
        <p:spPr>
          <a:xfrm>
            <a:off x="5843016" y="3840480"/>
            <a:ext cx="2103120" cy="100584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~80%</a:t>
            </a:r>
            <a:endParaRPr lang="en-US" sz="1600" dirty="0"/>
          </a:p>
        </p:txBody>
      </p:sp>
      <p:sp>
        <p:nvSpPr>
          <p:cNvPr id="20" name="Shape 18"/>
          <p:cNvSpPr/>
          <p:nvPr/>
        </p:nvSpPr>
        <p:spPr>
          <a:xfrm>
            <a:off x="8476488" y="2862072"/>
            <a:ext cx="411480" cy="411480"/>
          </a:xfrm>
          <a:prstGeom prst="ellipse">
            <a:avLst/>
          </a:prstGeom>
          <a:solidFill>
            <a:srgbClr val="1B4332"/>
          </a:solidFill>
          <a:ln w="25400">
            <a:solidFill>
              <a:srgbClr val="FFFFFF"/>
            </a:solidFill>
            <a:prstDash val="solid"/>
          </a:ln>
        </p:spPr>
        <p:txBody>
          <a:bodyPr wrap="square">
            <a:noAutofit/>
          </a:bodyPr>
          <a:lstStyle/>
          <a:p>
            <a:endParaRPr lang="en-US" sz="2800"/>
          </a:p>
        </p:txBody>
      </p:sp>
      <p:sp>
        <p:nvSpPr>
          <p:cNvPr id="21" name="Text 19"/>
          <p:cNvSpPr/>
          <p:nvPr/>
        </p:nvSpPr>
        <p:spPr>
          <a:xfrm>
            <a:off x="7836408" y="2103120"/>
            <a:ext cx="1737360" cy="365760"/>
          </a:xfrm>
          <a:prstGeom prst="rect">
            <a:avLst/>
          </a:prstGeom>
          <a:noFill/>
          <a:ln/>
        </p:spPr>
        <p:txBody>
          <a:bodyPr wrap="square" lIns="0" tIns="0" rIns="0" bIns="0" rtlCol="0" anchor="ctr">
            <a:noAutofit/>
          </a:bodyPr>
          <a:lstStyle/>
          <a:p>
            <a:pPr marL="0" indent="0" algn="ctr">
              <a:buNone/>
            </a:pPr>
            <a:r>
              <a:rPr lang="en-US" sz="2000" b="1" dirty="0">
                <a:solidFill>
                  <a:srgbClr val="1B4332"/>
                </a:solidFill>
                <a:latin typeface="Cambria" pitchFamily="34" charset="0"/>
                <a:ea typeface="Cambria" pitchFamily="34" charset="-122"/>
                <a:cs typeface="Cambria" pitchFamily="34" charset="-120"/>
              </a:rPr>
              <a:t>66 Mya</a:t>
            </a:r>
            <a:endParaRPr lang="en-US" sz="2000" dirty="0"/>
          </a:p>
        </p:txBody>
      </p:sp>
      <p:sp>
        <p:nvSpPr>
          <p:cNvPr id="22" name="Text 20"/>
          <p:cNvSpPr/>
          <p:nvPr/>
        </p:nvSpPr>
        <p:spPr>
          <a:xfrm>
            <a:off x="7653528" y="3401568"/>
            <a:ext cx="2103120" cy="41148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Cretaceous</a:t>
            </a:r>
            <a:endParaRPr lang="en-US" dirty="0"/>
          </a:p>
        </p:txBody>
      </p:sp>
      <p:sp>
        <p:nvSpPr>
          <p:cNvPr id="23" name="Text 21"/>
          <p:cNvSpPr/>
          <p:nvPr/>
        </p:nvSpPr>
        <p:spPr>
          <a:xfrm>
            <a:off x="7653528" y="3840480"/>
            <a:ext cx="2103120" cy="100584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~76%, end of dinosaurs</a:t>
            </a:r>
            <a:endParaRPr lang="en-US" sz="1600" dirty="0"/>
          </a:p>
        </p:txBody>
      </p:sp>
      <p:sp>
        <p:nvSpPr>
          <p:cNvPr id="24" name="Shape 22"/>
          <p:cNvSpPr/>
          <p:nvPr/>
        </p:nvSpPr>
        <p:spPr>
          <a:xfrm>
            <a:off x="10287000" y="2862072"/>
            <a:ext cx="411480" cy="411480"/>
          </a:xfrm>
          <a:prstGeom prst="ellipse">
            <a:avLst/>
          </a:prstGeom>
          <a:solidFill>
            <a:srgbClr val="C1543C"/>
          </a:solidFill>
          <a:ln w="25400">
            <a:solidFill>
              <a:srgbClr val="FFFFFF"/>
            </a:solidFill>
            <a:prstDash val="solid"/>
          </a:ln>
        </p:spPr>
        <p:txBody>
          <a:bodyPr wrap="square">
            <a:noAutofit/>
          </a:bodyPr>
          <a:lstStyle/>
          <a:p>
            <a:endParaRPr lang="en-US" sz="2800"/>
          </a:p>
        </p:txBody>
      </p:sp>
      <p:sp>
        <p:nvSpPr>
          <p:cNvPr id="25" name="Text 23"/>
          <p:cNvSpPr/>
          <p:nvPr/>
        </p:nvSpPr>
        <p:spPr>
          <a:xfrm>
            <a:off x="9646920" y="2103120"/>
            <a:ext cx="1737360" cy="365760"/>
          </a:xfrm>
          <a:prstGeom prst="rect">
            <a:avLst/>
          </a:prstGeom>
          <a:noFill/>
          <a:ln/>
        </p:spPr>
        <p:txBody>
          <a:bodyPr wrap="square" lIns="0" tIns="0" rIns="0" bIns="0" rtlCol="0" anchor="ctr">
            <a:noAutofit/>
          </a:bodyPr>
          <a:lstStyle/>
          <a:p>
            <a:pPr marL="0" indent="0" algn="ctr">
              <a:buNone/>
            </a:pPr>
            <a:r>
              <a:rPr lang="en-US" sz="2800" b="1" dirty="0">
                <a:solidFill>
                  <a:srgbClr val="C1543C"/>
                </a:solidFill>
                <a:latin typeface="Cambria" pitchFamily="34" charset="0"/>
                <a:ea typeface="Cambria" pitchFamily="34" charset="-122"/>
                <a:cs typeface="Cambria" pitchFamily="34" charset="-120"/>
              </a:rPr>
              <a:t>Now</a:t>
            </a:r>
            <a:endParaRPr lang="en-US" sz="2800" dirty="0"/>
          </a:p>
        </p:txBody>
      </p:sp>
      <p:sp>
        <p:nvSpPr>
          <p:cNvPr id="26" name="Text 24"/>
          <p:cNvSpPr/>
          <p:nvPr/>
        </p:nvSpPr>
        <p:spPr>
          <a:xfrm>
            <a:off x="9464040" y="3401568"/>
            <a:ext cx="2103120" cy="411480"/>
          </a:xfrm>
          <a:prstGeom prst="rect">
            <a:avLst/>
          </a:prstGeom>
          <a:noFill/>
          <a:ln/>
        </p:spPr>
        <p:txBody>
          <a:bodyPr wrap="square" lIns="0" tIns="0" rIns="0" bIns="0" rtlCol="0" anchor="ctr">
            <a:noAutofit/>
          </a:bodyPr>
          <a:lstStyle/>
          <a:p>
            <a:pPr marL="0" indent="0" algn="ctr">
              <a:buNone/>
            </a:pPr>
            <a:r>
              <a:rPr lang="en-US" sz="2000" b="1" dirty="0">
                <a:solidFill>
                  <a:srgbClr val="1D2A22"/>
                </a:solidFill>
                <a:latin typeface="Calibri" pitchFamily="34" charset="0"/>
                <a:ea typeface="Calibri" pitchFamily="34" charset="-122"/>
                <a:cs typeface="Calibri" pitchFamily="34" charset="-120"/>
              </a:rPr>
              <a:t>Anthropocene?</a:t>
            </a:r>
            <a:endParaRPr lang="en-US" dirty="0"/>
          </a:p>
        </p:txBody>
      </p:sp>
      <p:sp>
        <p:nvSpPr>
          <p:cNvPr id="27" name="Text 25"/>
          <p:cNvSpPr/>
          <p:nvPr/>
        </p:nvSpPr>
        <p:spPr>
          <a:xfrm>
            <a:off x="9464040" y="3840480"/>
            <a:ext cx="2103120" cy="1005840"/>
          </a:xfrm>
          <a:prstGeom prst="rect">
            <a:avLst/>
          </a:prstGeom>
          <a:noFill/>
          <a:ln/>
        </p:spPr>
        <p:txBody>
          <a:bodyPr wrap="square" lIns="0" tIns="0" rIns="0" bIns="0" rtlCol="0" anchor="ctr">
            <a:noAutofit/>
          </a:bodyPr>
          <a:lstStyle/>
          <a:p>
            <a:pPr marL="0" indent="0" algn="ctr">
              <a:buNone/>
            </a:pPr>
            <a:r>
              <a:rPr lang="en-US" sz="2000" dirty="0">
                <a:solidFill>
                  <a:srgbClr val="5E6B62"/>
                </a:solidFill>
                <a:latin typeface="Calibri" pitchFamily="34" charset="0"/>
                <a:ea typeface="Calibri" pitchFamily="34" charset="-122"/>
                <a:cs typeface="Calibri" pitchFamily="34" charset="-120"/>
              </a:rPr>
              <a:t>caused by one species</a:t>
            </a:r>
            <a:endParaRPr lang="en-US" sz="1600" dirty="0"/>
          </a:p>
        </p:txBody>
      </p:sp>
      <p:sp>
        <p:nvSpPr>
          <p:cNvPr id="28" name="Shape 26"/>
          <p:cNvSpPr/>
          <p:nvPr/>
        </p:nvSpPr>
        <p:spPr>
          <a:xfrm>
            <a:off x="640080" y="4846320"/>
            <a:ext cx="10881360" cy="1188720"/>
          </a:xfrm>
          <a:prstGeom prst="roundRect">
            <a:avLst>
              <a:gd name="adj" fmla="val 7692"/>
            </a:avLst>
          </a:prstGeom>
          <a:solidFill>
            <a:srgbClr val="EAF2EC"/>
          </a:solidFill>
          <a:ln/>
        </p:spPr>
        <p:txBody>
          <a:bodyPr wrap="square">
            <a:noAutofit/>
          </a:bodyPr>
          <a:lstStyle/>
          <a:p>
            <a:endParaRPr lang="en-US" sz="2800"/>
          </a:p>
        </p:txBody>
      </p:sp>
      <p:sp>
        <p:nvSpPr>
          <p:cNvPr id="29" name="Text 27"/>
          <p:cNvSpPr/>
          <p:nvPr/>
        </p:nvSpPr>
        <p:spPr>
          <a:xfrm>
            <a:off x="1060704" y="4818888"/>
            <a:ext cx="10149840" cy="13716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The five earlier events took thousands to millions of years and were driven by volcanism, asteroids, and climate shifts. The current pulse is unfolding over centuries. Whether it qualifies as a “mass extinction” yet is debated; the rate is not.</a:t>
            </a:r>
            <a:endParaRPr lang="en-US" sz="2000" dirty="0"/>
          </a:p>
        </p:txBody>
      </p:sp>
      <p:sp>
        <p:nvSpPr>
          <p:cNvPr id="30" name="Text 28"/>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10/24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105156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Five direct drivers, ranked by global impact (IPBES 2019)</a:t>
            </a:r>
            <a:endParaRPr lang="en-US" sz="4400" dirty="0"/>
          </a:p>
        </p:txBody>
      </p:sp>
      <p:sp>
        <p:nvSpPr>
          <p:cNvPr id="3" name="Shape 1"/>
          <p:cNvSpPr/>
          <p:nvPr/>
        </p:nvSpPr>
        <p:spPr>
          <a:xfrm>
            <a:off x="640080" y="1554480"/>
            <a:ext cx="5120640" cy="749808"/>
          </a:xfrm>
          <a:prstGeom prst="roundRect">
            <a:avLst>
              <a:gd name="adj" fmla="val 9756"/>
            </a:avLst>
          </a:prstGeom>
          <a:solidFill>
            <a:srgbClr val="2D6A4F"/>
          </a:solidFill>
          <a:ln/>
        </p:spPr>
        <p:txBody>
          <a:bodyPr wrap="square">
            <a:noAutofit/>
          </a:bodyPr>
          <a:lstStyle/>
          <a:p>
            <a:endParaRPr lang="en-US" sz="3200"/>
          </a:p>
        </p:txBody>
      </p:sp>
      <p:sp>
        <p:nvSpPr>
          <p:cNvPr id="4" name="Shape 2"/>
          <p:cNvSpPr/>
          <p:nvPr/>
        </p:nvSpPr>
        <p:spPr>
          <a:xfrm>
            <a:off x="777240" y="1673352"/>
            <a:ext cx="512064" cy="512064"/>
          </a:xfrm>
          <a:prstGeom prst="ellipse">
            <a:avLst/>
          </a:prstGeom>
          <a:solidFill>
            <a:srgbClr val="1B4332"/>
          </a:solidFill>
          <a:ln/>
        </p:spPr>
        <p:txBody>
          <a:bodyPr wrap="square">
            <a:noAutofit/>
          </a:bodyPr>
          <a:lstStyle/>
          <a:p>
            <a:endParaRPr lang="en-US" sz="3200"/>
          </a:p>
        </p:txBody>
      </p:sp>
      <p:sp>
        <p:nvSpPr>
          <p:cNvPr id="5" name="Text 3"/>
          <p:cNvSpPr/>
          <p:nvPr/>
        </p:nvSpPr>
        <p:spPr>
          <a:xfrm>
            <a:off x="777240" y="1673352"/>
            <a:ext cx="512064" cy="512064"/>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1463040" y="1554480"/>
            <a:ext cx="4160520" cy="749808"/>
          </a:xfrm>
          <a:prstGeom prst="rect">
            <a:avLst/>
          </a:prstGeom>
          <a:noFill/>
          <a:ln/>
        </p:spPr>
        <p:txBody>
          <a:bodyPr wrap="square" lIns="0" tIns="0" rIns="0" bIns="0" rtlCol="0" anchor="ctr">
            <a:noAutofit/>
          </a:bodyPr>
          <a:lstStyle/>
          <a:p>
            <a:pPr marL="0" indent="0">
              <a:buNone/>
            </a:pPr>
            <a:r>
              <a:rPr lang="en-US" sz="2400" b="1" dirty="0">
                <a:solidFill>
                  <a:srgbClr val="FFFFFF"/>
                </a:solidFill>
                <a:latin typeface="Calibri" pitchFamily="34" charset="0"/>
                <a:ea typeface="Calibri" pitchFamily="34" charset="-122"/>
                <a:cs typeface="Calibri" pitchFamily="34" charset="-120"/>
              </a:rPr>
              <a:t>Land- and sea-use change</a:t>
            </a:r>
            <a:endParaRPr lang="en-US" sz="2400" dirty="0"/>
          </a:p>
        </p:txBody>
      </p:sp>
      <p:sp>
        <p:nvSpPr>
          <p:cNvPr id="7" name="Text 5"/>
          <p:cNvSpPr/>
          <p:nvPr/>
        </p:nvSpPr>
        <p:spPr>
          <a:xfrm>
            <a:off x="5806440" y="1554480"/>
            <a:ext cx="5715000" cy="749808"/>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Agriculture, logging, urbanization. The single largest driver on land.</a:t>
            </a:r>
            <a:endParaRPr lang="en-US" sz="2000" dirty="0"/>
          </a:p>
        </p:txBody>
      </p:sp>
      <p:sp>
        <p:nvSpPr>
          <p:cNvPr id="8" name="Shape 6"/>
          <p:cNvSpPr/>
          <p:nvPr/>
        </p:nvSpPr>
        <p:spPr>
          <a:xfrm>
            <a:off x="640080" y="2450592"/>
            <a:ext cx="4800600" cy="749808"/>
          </a:xfrm>
          <a:prstGeom prst="roundRect">
            <a:avLst>
              <a:gd name="adj" fmla="val 9756"/>
            </a:avLst>
          </a:prstGeom>
          <a:solidFill>
            <a:srgbClr val="EAF2EC"/>
          </a:solidFill>
          <a:ln/>
        </p:spPr>
        <p:txBody>
          <a:bodyPr wrap="square">
            <a:noAutofit/>
          </a:bodyPr>
          <a:lstStyle/>
          <a:p>
            <a:endParaRPr lang="en-US" sz="3200"/>
          </a:p>
        </p:txBody>
      </p:sp>
      <p:sp>
        <p:nvSpPr>
          <p:cNvPr id="9" name="Shape 7"/>
          <p:cNvSpPr/>
          <p:nvPr/>
        </p:nvSpPr>
        <p:spPr>
          <a:xfrm>
            <a:off x="777240" y="2569464"/>
            <a:ext cx="512064" cy="512064"/>
          </a:xfrm>
          <a:prstGeom prst="ellipse">
            <a:avLst/>
          </a:prstGeom>
          <a:solidFill>
            <a:srgbClr val="2D6A4F"/>
          </a:solidFill>
          <a:ln/>
        </p:spPr>
        <p:txBody>
          <a:bodyPr wrap="square">
            <a:noAutofit/>
          </a:bodyPr>
          <a:lstStyle/>
          <a:p>
            <a:endParaRPr lang="en-US" sz="3200"/>
          </a:p>
        </p:txBody>
      </p:sp>
      <p:sp>
        <p:nvSpPr>
          <p:cNvPr id="10" name="Text 8"/>
          <p:cNvSpPr/>
          <p:nvPr/>
        </p:nvSpPr>
        <p:spPr>
          <a:xfrm>
            <a:off x="777240" y="2569464"/>
            <a:ext cx="512064" cy="512064"/>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1" name="Text 9"/>
          <p:cNvSpPr/>
          <p:nvPr/>
        </p:nvSpPr>
        <p:spPr>
          <a:xfrm>
            <a:off x="1463040" y="2450592"/>
            <a:ext cx="3840480" cy="749808"/>
          </a:xfrm>
          <a:prstGeom prst="rect">
            <a:avLst/>
          </a:prstGeom>
          <a:noFill/>
          <a:ln/>
        </p:spPr>
        <p:txBody>
          <a:bodyPr wrap="square" lIns="0" tIns="0" rIns="0" bIns="0" rtlCol="0" anchor="ctr">
            <a:noAutofit/>
          </a:bodyPr>
          <a:lstStyle/>
          <a:p>
            <a:pPr marL="0" indent="0">
              <a:buNone/>
            </a:pPr>
            <a:r>
              <a:rPr lang="en-US" sz="2400" b="1" dirty="0">
                <a:solidFill>
                  <a:srgbClr val="1B4332"/>
                </a:solidFill>
                <a:latin typeface="Calibri" pitchFamily="34" charset="0"/>
                <a:ea typeface="Calibri" pitchFamily="34" charset="-122"/>
                <a:cs typeface="Calibri" pitchFamily="34" charset="-120"/>
              </a:rPr>
              <a:t>Direct exploitation</a:t>
            </a:r>
            <a:endParaRPr lang="en-US" sz="2400" dirty="0"/>
          </a:p>
        </p:txBody>
      </p:sp>
      <p:sp>
        <p:nvSpPr>
          <p:cNvPr id="12" name="Text 10"/>
          <p:cNvSpPr/>
          <p:nvPr/>
        </p:nvSpPr>
        <p:spPr>
          <a:xfrm>
            <a:off x="5806440" y="2450592"/>
            <a:ext cx="5715000" cy="749808"/>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Fishing, hunting, harvesting. The largest driver in the ocean.</a:t>
            </a:r>
            <a:endParaRPr lang="en-US" sz="2000" dirty="0"/>
          </a:p>
        </p:txBody>
      </p:sp>
      <p:sp>
        <p:nvSpPr>
          <p:cNvPr id="13" name="Shape 11"/>
          <p:cNvSpPr/>
          <p:nvPr/>
        </p:nvSpPr>
        <p:spPr>
          <a:xfrm>
            <a:off x="640080" y="3346704"/>
            <a:ext cx="4480560" cy="749808"/>
          </a:xfrm>
          <a:prstGeom prst="roundRect">
            <a:avLst>
              <a:gd name="adj" fmla="val 9756"/>
            </a:avLst>
          </a:prstGeom>
          <a:solidFill>
            <a:srgbClr val="EAF2EC"/>
          </a:solidFill>
          <a:ln/>
        </p:spPr>
        <p:txBody>
          <a:bodyPr wrap="square">
            <a:noAutofit/>
          </a:bodyPr>
          <a:lstStyle/>
          <a:p>
            <a:endParaRPr lang="en-US" sz="3200"/>
          </a:p>
        </p:txBody>
      </p:sp>
      <p:sp>
        <p:nvSpPr>
          <p:cNvPr id="14" name="Shape 12"/>
          <p:cNvSpPr/>
          <p:nvPr/>
        </p:nvSpPr>
        <p:spPr>
          <a:xfrm>
            <a:off x="777240" y="3465576"/>
            <a:ext cx="512064" cy="512064"/>
          </a:xfrm>
          <a:prstGeom prst="ellipse">
            <a:avLst/>
          </a:prstGeom>
          <a:solidFill>
            <a:srgbClr val="2D6A4F"/>
          </a:solidFill>
          <a:ln/>
        </p:spPr>
        <p:txBody>
          <a:bodyPr wrap="square">
            <a:noAutofit/>
          </a:bodyPr>
          <a:lstStyle/>
          <a:p>
            <a:endParaRPr lang="en-US" sz="3200"/>
          </a:p>
        </p:txBody>
      </p:sp>
      <p:sp>
        <p:nvSpPr>
          <p:cNvPr id="15" name="Text 13"/>
          <p:cNvSpPr/>
          <p:nvPr/>
        </p:nvSpPr>
        <p:spPr>
          <a:xfrm>
            <a:off x="777240" y="3465576"/>
            <a:ext cx="512064" cy="512064"/>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6" name="Text 14"/>
          <p:cNvSpPr/>
          <p:nvPr/>
        </p:nvSpPr>
        <p:spPr>
          <a:xfrm>
            <a:off x="1463040" y="3346704"/>
            <a:ext cx="3520440" cy="749808"/>
          </a:xfrm>
          <a:prstGeom prst="rect">
            <a:avLst/>
          </a:prstGeom>
          <a:noFill/>
          <a:ln/>
        </p:spPr>
        <p:txBody>
          <a:bodyPr wrap="square" lIns="0" tIns="0" rIns="0" bIns="0" rtlCol="0" anchor="ctr">
            <a:noAutofit/>
          </a:bodyPr>
          <a:lstStyle/>
          <a:p>
            <a:pPr marL="0" indent="0">
              <a:buNone/>
            </a:pPr>
            <a:r>
              <a:rPr lang="en-US" sz="2400" b="1" dirty="0">
                <a:solidFill>
                  <a:srgbClr val="1B4332"/>
                </a:solidFill>
                <a:latin typeface="Calibri" pitchFamily="34" charset="0"/>
                <a:ea typeface="Calibri" pitchFamily="34" charset="-122"/>
                <a:cs typeface="Calibri" pitchFamily="34" charset="-120"/>
              </a:rPr>
              <a:t>Climate change</a:t>
            </a:r>
            <a:endParaRPr lang="en-US" sz="2400" dirty="0"/>
          </a:p>
        </p:txBody>
      </p:sp>
      <p:sp>
        <p:nvSpPr>
          <p:cNvPr id="17" name="Text 15"/>
          <p:cNvSpPr/>
          <p:nvPr/>
        </p:nvSpPr>
        <p:spPr>
          <a:xfrm>
            <a:off x="5806440" y="3346704"/>
            <a:ext cx="5715000" cy="749808"/>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Shifting ranges, bleaching reefs. Rising fast; interacts with all the others.</a:t>
            </a:r>
            <a:endParaRPr lang="en-US" sz="2000" dirty="0"/>
          </a:p>
        </p:txBody>
      </p:sp>
      <p:sp>
        <p:nvSpPr>
          <p:cNvPr id="18" name="Shape 16"/>
          <p:cNvSpPr/>
          <p:nvPr/>
        </p:nvSpPr>
        <p:spPr>
          <a:xfrm>
            <a:off x="640080" y="4242816"/>
            <a:ext cx="4160520" cy="749808"/>
          </a:xfrm>
          <a:prstGeom prst="roundRect">
            <a:avLst>
              <a:gd name="adj" fmla="val 9756"/>
            </a:avLst>
          </a:prstGeom>
          <a:solidFill>
            <a:srgbClr val="EAF2EC"/>
          </a:solidFill>
          <a:ln/>
        </p:spPr>
        <p:txBody>
          <a:bodyPr wrap="square">
            <a:noAutofit/>
          </a:bodyPr>
          <a:lstStyle/>
          <a:p>
            <a:endParaRPr lang="en-US" sz="3200"/>
          </a:p>
        </p:txBody>
      </p:sp>
      <p:sp>
        <p:nvSpPr>
          <p:cNvPr id="19" name="Shape 17"/>
          <p:cNvSpPr/>
          <p:nvPr/>
        </p:nvSpPr>
        <p:spPr>
          <a:xfrm>
            <a:off x="777240" y="4361688"/>
            <a:ext cx="512064" cy="512064"/>
          </a:xfrm>
          <a:prstGeom prst="ellipse">
            <a:avLst/>
          </a:prstGeom>
          <a:solidFill>
            <a:srgbClr val="2D6A4F"/>
          </a:solidFill>
          <a:ln/>
        </p:spPr>
        <p:txBody>
          <a:bodyPr wrap="square">
            <a:noAutofit/>
          </a:bodyPr>
          <a:lstStyle/>
          <a:p>
            <a:endParaRPr lang="en-US" sz="3200"/>
          </a:p>
        </p:txBody>
      </p:sp>
      <p:sp>
        <p:nvSpPr>
          <p:cNvPr id="20" name="Text 18"/>
          <p:cNvSpPr/>
          <p:nvPr/>
        </p:nvSpPr>
        <p:spPr>
          <a:xfrm>
            <a:off x="777240" y="4361688"/>
            <a:ext cx="512064" cy="512064"/>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21" name="Text 19"/>
          <p:cNvSpPr/>
          <p:nvPr/>
        </p:nvSpPr>
        <p:spPr>
          <a:xfrm>
            <a:off x="1463040" y="4242816"/>
            <a:ext cx="3200400" cy="749808"/>
          </a:xfrm>
          <a:prstGeom prst="rect">
            <a:avLst/>
          </a:prstGeom>
          <a:noFill/>
          <a:ln/>
        </p:spPr>
        <p:txBody>
          <a:bodyPr wrap="square" lIns="0" tIns="0" rIns="0" bIns="0" rtlCol="0" anchor="ctr">
            <a:noAutofit/>
          </a:bodyPr>
          <a:lstStyle/>
          <a:p>
            <a:pPr marL="0" indent="0">
              <a:buNone/>
            </a:pPr>
            <a:r>
              <a:rPr lang="en-US" sz="2400" b="1" dirty="0">
                <a:solidFill>
                  <a:srgbClr val="1B4332"/>
                </a:solidFill>
                <a:latin typeface="Calibri" pitchFamily="34" charset="0"/>
                <a:ea typeface="Calibri" pitchFamily="34" charset="-122"/>
                <a:cs typeface="Calibri" pitchFamily="34" charset="-120"/>
              </a:rPr>
              <a:t>Pollution</a:t>
            </a:r>
            <a:endParaRPr lang="en-US" sz="2400" dirty="0"/>
          </a:p>
        </p:txBody>
      </p:sp>
      <p:sp>
        <p:nvSpPr>
          <p:cNvPr id="22" name="Text 20"/>
          <p:cNvSpPr/>
          <p:nvPr/>
        </p:nvSpPr>
        <p:spPr>
          <a:xfrm>
            <a:off x="5806440" y="4242816"/>
            <a:ext cx="5715000" cy="749808"/>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Nitrogen, pesticides, plastics. Nutrient runoff hits freshwater hardest.</a:t>
            </a:r>
            <a:endParaRPr lang="en-US" sz="2000" dirty="0"/>
          </a:p>
        </p:txBody>
      </p:sp>
      <p:sp>
        <p:nvSpPr>
          <p:cNvPr id="23" name="Shape 21"/>
          <p:cNvSpPr/>
          <p:nvPr/>
        </p:nvSpPr>
        <p:spPr>
          <a:xfrm>
            <a:off x="640080" y="5138928"/>
            <a:ext cx="3840480" cy="749808"/>
          </a:xfrm>
          <a:prstGeom prst="roundRect">
            <a:avLst>
              <a:gd name="adj" fmla="val 9756"/>
            </a:avLst>
          </a:prstGeom>
          <a:solidFill>
            <a:srgbClr val="EAF2EC"/>
          </a:solidFill>
          <a:ln/>
        </p:spPr>
        <p:txBody>
          <a:bodyPr wrap="square">
            <a:noAutofit/>
          </a:bodyPr>
          <a:lstStyle/>
          <a:p>
            <a:endParaRPr lang="en-US" sz="3200"/>
          </a:p>
        </p:txBody>
      </p:sp>
      <p:sp>
        <p:nvSpPr>
          <p:cNvPr id="24" name="Shape 22"/>
          <p:cNvSpPr/>
          <p:nvPr/>
        </p:nvSpPr>
        <p:spPr>
          <a:xfrm>
            <a:off x="777240" y="5257800"/>
            <a:ext cx="512064" cy="512064"/>
          </a:xfrm>
          <a:prstGeom prst="ellipse">
            <a:avLst/>
          </a:prstGeom>
          <a:solidFill>
            <a:srgbClr val="2D6A4F"/>
          </a:solidFill>
          <a:ln/>
        </p:spPr>
        <p:txBody>
          <a:bodyPr wrap="square">
            <a:noAutofit/>
          </a:bodyPr>
          <a:lstStyle/>
          <a:p>
            <a:endParaRPr lang="en-US" sz="3200"/>
          </a:p>
        </p:txBody>
      </p:sp>
      <p:sp>
        <p:nvSpPr>
          <p:cNvPr id="25" name="Text 23"/>
          <p:cNvSpPr/>
          <p:nvPr/>
        </p:nvSpPr>
        <p:spPr>
          <a:xfrm>
            <a:off x="777240" y="5257800"/>
            <a:ext cx="512064" cy="512064"/>
          </a:xfrm>
          <a:prstGeom prst="rect">
            <a:avLst/>
          </a:prstGeom>
          <a:noFill/>
          <a:ln/>
        </p:spPr>
        <p:txBody>
          <a:bodyPr wrap="square" lIns="0" tIns="0" rIns="0" bIns="0" rtlCol="0" anchor="ctr">
            <a:noAutofit/>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26" name="Text 24"/>
          <p:cNvSpPr/>
          <p:nvPr/>
        </p:nvSpPr>
        <p:spPr>
          <a:xfrm>
            <a:off x="1463040" y="5138928"/>
            <a:ext cx="2880360" cy="749808"/>
          </a:xfrm>
          <a:prstGeom prst="rect">
            <a:avLst/>
          </a:prstGeom>
          <a:noFill/>
          <a:ln/>
        </p:spPr>
        <p:txBody>
          <a:bodyPr wrap="square" lIns="0" tIns="0" rIns="0" bIns="0" rtlCol="0" anchor="ctr">
            <a:noAutofit/>
          </a:bodyPr>
          <a:lstStyle/>
          <a:p>
            <a:pPr marL="0" indent="0">
              <a:buNone/>
            </a:pPr>
            <a:r>
              <a:rPr lang="en-US" sz="2400" b="1" dirty="0">
                <a:solidFill>
                  <a:srgbClr val="1B4332"/>
                </a:solidFill>
                <a:latin typeface="Calibri" pitchFamily="34" charset="0"/>
                <a:ea typeface="Calibri" pitchFamily="34" charset="-122"/>
                <a:cs typeface="Calibri" pitchFamily="34" charset="-120"/>
              </a:rPr>
              <a:t>Invasive species</a:t>
            </a:r>
            <a:endParaRPr lang="en-US" sz="2400" dirty="0"/>
          </a:p>
        </p:txBody>
      </p:sp>
      <p:sp>
        <p:nvSpPr>
          <p:cNvPr id="27" name="Text 25"/>
          <p:cNvSpPr/>
          <p:nvPr/>
        </p:nvSpPr>
        <p:spPr>
          <a:xfrm>
            <a:off x="5806440" y="5138928"/>
            <a:ext cx="5715000" cy="749808"/>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Moved by trade and travel; islands are most vulnerable.</a:t>
            </a:r>
            <a:endParaRPr lang="en-US" sz="2000" dirty="0"/>
          </a:p>
        </p:txBody>
      </p:sp>
      <p:sp>
        <p:nvSpPr>
          <p:cNvPr id="29" name="Text 27"/>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11/24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FEC7BD-2863-B203-7B4B-F1EA3DA37F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4A4F23-8180-E2A4-6C20-83B728590C89}"/>
              </a:ext>
            </a:extLst>
          </p:cNvPr>
          <p:cNvSpPr/>
          <p:nvPr/>
        </p:nvSpPr>
        <p:spPr>
          <a:xfrm>
            <a:off x="640080" y="384047"/>
            <a:ext cx="10908792" cy="5270304"/>
          </a:xfrm>
          <a:prstGeom prst="rect">
            <a:avLst/>
          </a:prstGeom>
          <a:noFill/>
          <a:ln/>
        </p:spPr>
        <p:txBody>
          <a:bodyPr wrap="square" lIns="0" tIns="0" rIns="0" bIns="0" rtlCol="0" anchor="t">
            <a:noAutofit/>
          </a:bodyPr>
          <a:lstStyle/>
          <a:p>
            <a:pPr marL="0" indent="0">
              <a:buNone/>
            </a:pPr>
            <a:r>
              <a:rPr lang="en-US" sz="4000" b="1" dirty="0">
                <a:solidFill>
                  <a:srgbClr val="1B4332"/>
                </a:solidFill>
                <a:latin typeface="Cambria" pitchFamily="34" charset="0"/>
                <a:ea typeface="Cambria" pitchFamily="34" charset="-122"/>
                <a:cs typeface="Cambria" pitchFamily="34" charset="-120"/>
              </a:rPr>
              <a:t>The reduction in biodiversity directly impacts you, and the food you eat!</a:t>
            </a:r>
          </a:p>
          <a:p>
            <a:pPr marL="0" indent="0">
              <a:buNone/>
            </a:pPr>
            <a:endParaRPr lang="en-US" sz="4000" b="1" dirty="0">
              <a:solidFill>
                <a:srgbClr val="1B4332"/>
              </a:solidFill>
              <a:latin typeface="Cambria" pitchFamily="34" charset="0"/>
              <a:ea typeface="Cambria" pitchFamily="34" charset="-122"/>
              <a:cs typeface="Cambria" pitchFamily="34" charset="-120"/>
            </a:endParaRPr>
          </a:p>
          <a:p>
            <a:pPr marL="0" indent="0">
              <a:buNone/>
            </a:pPr>
            <a:r>
              <a:rPr lang="en-US" sz="4000" b="1" dirty="0">
                <a:solidFill>
                  <a:srgbClr val="1B4332"/>
                </a:solidFill>
                <a:latin typeface="Cambria" pitchFamily="34" charset="0"/>
                <a:ea typeface="Cambria" pitchFamily="34" charset="-122"/>
                <a:cs typeface="Cambria" pitchFamily="34" charset="-120"/>
              </a:rPr>
              <a:t>Large scale agriculture reduces food biodiversity</a:t>
            </a:r>
          </a:p>
          <a:p>
            <a:pPr marL="0" indent="0">
              <a:buNone/>
            </a:pPr>
            <a:endParaRPr lang="en-US" sz="4000" b="1" dirty="0">
              <a:solidFill>
                <a:srgbClr val="1B4332"/>
              </a:solidFill>
              <a:latin typeface="Cambria" pitchFamily="34" charset="0"/>
              <a:ea typeface="Cambria" pitchFamily="34" charset="-122"/>
            </a:endParaRPr>
          </a:p>
          <a:p>
            <a:pPr marL="0" indent="0">
              <a:buNone/>
            </a:pPr>
            <a:r>
              <a:rPr lang="en-US" sz="4000" b="1" dirty="0">
                <a:solidFill>
                  <a:srgbClr val="1B4332"/>
                </a:solidFill>
                <a:latin typeface="Cambria" pitchFamily="34" charset="0"/>
                <a:ea typeface="Cambria" pitchFamily="34" charset="-122"/>
              </a:rPr>
              <a:t>How easy is it to find different varieties of bananas in your local store?</a:t>
            </a:r>
            <a:endParaRPr lang="en-US" sz="5400" dirty="0"/>
          </a:p>
        </p:txBody>
      </p:sp>
    </p:spTree>
    <p:extLst>
      <p:ext uri="{BB962C8B-B14F-4D97-AF65-F5344CB8AC3E}">
        <p14:creationId xmlns:p14="http://schemas.microsoft.com/office/powerpoint/2010/main" val="785865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72084" y="384048"/>
            <a:ext cx="10908792" cy="1051560"/>
          </a:xfrm>
          <a:prstGeom prst="rect">
            <a:avLst/>
          </a:prstGeom>
          <a:noFill/>
          <a:ln/>
        </p:spPr>
        <p:txBody>
          <a:bodyPr wrap="square" lIns="0" tIns="0" rIns="0" bIns="0" rtlCol="0" anchor="t">
            <a:noAutofit/>
          </a:bodyPr>
          <a:lstStyle/>
          <a:p>
            <a:pPr marL="0" indent="0">
              <a:buNone/>
            </a:pPr>
            <a:r>
              <a:rPr lang="en-US" sz="3200" b="1" dirty="0">
                <a:solidFill>
                  <a:srgbClr val="1B4332"/>
                </a:solidFill>
                <a:latin typeface="Cambria" pitchFamily="34" charset="0"/>
                <a:ea typeface="Cambria" pitchFamily="34" charset="-122"/>
                <a:cs typeface="Cambria" pitchFamily="34" charset="-120"/>
              </a:rPr>
              <a:t>Your banana is a genetic monoculture</a:t>
            </a:r>
            <a:endParaRPr lang="en-US" sz="4400" dirty="0"/>
          </a:p>
        </p:txBody>
      </p:sp>
      <p:sp>
        <p:nvSpPr>
          <p:cNvPr id="3" name="Shape 1"/>
          <p:cNvSpPr/>
          <p:nvPr/>
        </p:nvSpPr>
        <p:spPr>
          <a:xfrm>
            <a:off x="640080" y="1600200"/>
            <a:ext cx="3429000" cy="3200400"/>
          </a:xfrm>
          <a:prstGeom prst="roundRect">
            <a:avLst>
              <a:gd name="adj" fmla="val 2857"/>
            </a:avLst>
          </a:prstGeom>
          <a:solidFill>
            <a:srgbClr val="EAF2EC"/>
          </a:solidFill>
          <a:ln/>
        </p:spPr>
        <p:txBody>
          <a:bodyPr wrap="square">
            <a:noAutofit/>
          </a:bodyPr>
          <a:lstStyle/>
          <a:p>
            <a:endParaRPr lang="en-US" sz="3200"/>
          </a:p>
        </p:txBody>
      </p:sp>
      <p:sp>
        <p:nvSpPr>
          <p:cNvPr id="4" name="Text 2"/>
          <p:cNvSpPr/>
          <p:nvPr/>
        </p:nvSpPr>
        <p:spPr>
          <a:xfrm>
            <a:off x="914400" y="1828800"/>
            <a:ext cx="2880360" cy="502920"/>
          </a:xfrm>
          <a:prstGeom prst="rect">
            <a:avLst/>
          </a:prstGeom>
          <a:noFill/>
          <a:ln/>
        </p:spPr>
        <p:txBody>
          <a:bodyPr wrap="square" lIns="0" tIns="0" rIns="0" bIns="0" rtlCol="0" anchor="ctr">
            <a:noAutofit/>
          </a:bodyPr>
          <a:lstStyle/>
          <a:p>
            <a:pPr marL="0" indent="0">
              <a:buNone/>
            </a:pPr>
            <a:r>
              <a:rPr lang="en-US" sz="4000" b="1" dirty="0">
                <a:solidFill>
                  <a:srgbClr val="1B4332"/>
                </a:solidFill>
                <a:latin typeface="Cambria" pitchFamily="34" charset="0"/>
                <a:ea typeface="Cambria" pitchFamily="34" charset="-122"/>
                <a:cs typeface="Cambria" pitchFamily="34" charset="-120"/>
              </a:rPr>
              <a:t>1950s</a:t>
            </a:r>
            <a:endParaRPr lang="en-US" sz="4000" dirty="0"/>
          </a:p>
        </p:txBody>
      </p:sp>
      <p:sp>
        <p:nvSpPr>
          <p:cNvPr id="5" name="Text 3"/>
          <p:cNvSpPr/>
          <p:nvPr/>
        </p:nvSpPr>
        <p:spPr>
          <a:xfrm>
            <a:off x="914400" y="2377440"/>
            <a:ext cx="2880360" cy="685800"/>
          </a:xfrm>
          <a:prstGeom prst="rect">
            <a:avLst/>
          </a:prstGeom>
          <a:noFill/>
          <a:ln/>
        </p:spPr>
        <p:txBody>
          <a:bodyPr wrap="square" lIns="0" tIns="0" rIns="0" bIns="0" rtlCol="0" anchor="ctr">
            <a:noAutofit/>
          </a:bodyPr>
          <a:lstStyle/>
          <a:p>
            <a:pPr marL="0" indent="0">
              <a:buNone/>
            </a:pPr>
            <a:r>
              <a:rPr lang="en-US" sz="2400" b="1" dirty="0">
                <a:solidFill>
                  <a:srgbClr val="1D2A22"/>
                </a:solidFill>
                <a:latin typeface="Calibri" pitchFamily="34" charset="0"/>
                <a:ea typeface="Calibri" pitchFamily="34" charset="-122"/>
                <a:cs typeface="Calibri" pitchFamily="34" charset="-120"/>
              </a:rPr>
              <a:t>One clone feeds the world</a:t>
            </a:r>
            <a:endParaRPr lang="en-US" sz="2400" dirty="0"/>
          </a:p>
        </p:txBody>
      </p:sp>
      <p:sp>
        <p:nvSpPr>
          <p:cNvPr id="6" name="Text 4"/>
          <p:cNvSpPr/>
          <p:nvPr/>
        </p:nvSpPr>
        <p:spPr>
          <a:xfrm>
            <a:off x="914400" y="3017520"/>
            <a:ext cx="2880360" cy="18288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Gros Michel, grown clonally on vast plantations, dominates the export trade.</a:t>
            </a:r>
            <a:endParaRPr lang="en-US" sz="2000" dirty="0"/>
          </a:p>
        </p:txBody>
      </p:sp>
      <p:sp>
        <p:nvSpPr>
          <p:cNvPr id="8" name="Shape 6"/>
          <p:cNvSpPr/>
          <p:nvPr/>
        </p:nvSpPr>
        <p:spPr>
          <a:xfrm>
            <a:off x="4343400" y="1600200"/>
            <a:ext cx="3429000" cy="3200400"/>
          </a:xfrm>
          <a:prstGeom prst="roundRect">
            <a:avLst>
              <a:gd name="adj" fmla="val 2857"/>
            </a:avLst>
          </a:prstGeom>
          <a:solidFill>
            <a:srgbClr val="EAF2EC"/>
          </a:solidFill>
          <a:ln/>
        </p:spPr>
        <p:txBody>
          <a:bodyPr wrap="square">
            <a:noAutofit/>
          </a:bodyPr>
          <a:lstStyle/>
          <a:p>
            <a:endParaRPr lang="en-US" sz="3200"/>
          </a:p>
        </p:txBody>
      </p:sp>
      <p:sp>
        <p:nvSpPr>
          <p:cNvPr id="9" name="Text 7"/>
          <p:cNvSpPr/>
          <p:nvPr/>
        </p:nvSpPr>
        <p:spPr>
          <a:xfrm>
            <a:off x="4617720" y="1828800"/>
            <a:ext cx="2880360" cy="502920"/>
          </a:xfrm>
          <a:prstGeom prst="rect">
            <a:avLst/>
          </a:prstGeom>
          <a:noFill/>
          <a:ln/>
        </p:spPr>
        <p:txBody>
          <a:bodyPr wrap="square" lIns="0" tIns="0" rIns="0" bIns="0" rtlCol="0" anchor="ctr">
            <a:noAutofit/>
          </a:bodyPr>
          <a:lstStyle/>
          <a:p>
            <a:pPr marL="0" indent="0">
              <a:buNone/>
            </a:pPr>
            <a:r>
              <a:rPr lang="en-US" sz="4000" b="1" dirty="0">
                <a:solidFill>
                  <a:srgbClr val="1B4332"/>
                </a:solidFill>
                <a:latin typeface="Cambria" pitchFamily="34" charset="0"/>
                <a:ea typeface="Cambria" pitchFamily="34" charset="-122"/>
                <a:cs typeface="Cambria" pitchFamily="34" charset="-120"/>
              </a:rPr>
              <a:t>1960s</a:t>
            </a:r>
            <a:endParaRPr lang="en-US" sz="4000" dirty="0"/>
          </a:p>
        </p:txBody>
      </p:sp>
      <p:sp>
        <p:nvSpPr>
          <p:cNvPr id="10" name="Text 8"/>
          <p:cNvSpPr/>
          <p:nvPr/>
        </p:nvSpPr>
        <p:spPr>
          <a:xfrm>
            <a:off x="4617720" y="2377440"/>
            <a:ext cx="2880360" cy="685800"/>
          </a:xfrm>
          <a:prstGeom prst="rect">
            <a:avLst/>
          </a:prstGeom>
          <a:noFill/>
          <a:ln/>
        </p:spPr>
        <p:txBody>
          <a:bodyPr wrap="square" lIns="0" tIns="0" rIns="0" bIns="0" rtlCol="0" anchor="ctr">
            <a:noAutofit/>
          </a:bodyPr>
          <a:lstStyle/>
          <a:p>
            <a:pPr marL="0" indent="0">
              <a:buNone/>
            </a:pPr>
            <a:r>
              <a:rPr lang="en-US" sz="2400" b="1" dirty="0">
                <a:solidFill>
                  <a:srgbClr val="1D2A22"/>
                </a:solidFill>
                <a:latin typeface="Calibri" pitchFamily="34" charset="0"/>
                <a:ea typeface="Calibri" pitchFamily="34" charset="-122"/>
                <a:cs typeface="Calibri" pitchFamily="34" charset="-120"/>
              </a:rPr>
              <a:t>One fungus ends it</a:t>
            </a:r>
            <a:endParaRPr lang="en-US" sz="2400" dirty="0"/>
          </a:p>
        </p:txBody>
      </p:sp>
      <p:sp>
        <p:nvSpPr>
          <p:cNvPr id="11" name="Text 9"/>
          <p:cNvSpPr/>
          <p:nvPr/>
        </p:nvSpPr>
        <p:spPr>
          <a:xfrm>
            <a:off x="4617720" y="3017520"/>
            <a:ext cx="2880360" cy="18288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Panama disease (Fusarium wilt) sweeps through; with no genetic variation, no plants resist. Commercial collapse.</a:t>
            </a:r>
            <a:endParaRPr lang="en-US" sz="2000" dirty="0"/>
          </a:p>
        </p:txBody>
      </p:sp>
      <p:sp>
        <p:nvSpPr>
          <p:cNvPr id="13" name="Shape 11"/>
          <p:cNvSpPr/>
          <p:nvPr/>
        </p:nvSpPr>
        <p:spPr>
          <a:xfrm>
            <a:off x="8046720" y="1600200"/>
            <a:ext cx="3429000" cy="3200400"/>
          </a:xfrm>
          <a:prstGeom prst="roundRect">
            <a:avLst>
              <a:gd name="adj" fmla="val 2857"/>
            </a:avLst>
          </a:prstGeom>
          <a:solidFill>
            <a:srgbClr val="F6E4DE"/>
          </a:solidFill>
          <a:ln/>
        </p:spPr>
        <p:txBody>
          <a:bodyPr wrap="square">
            <a:noAutofit/>
          </a:bodyPr>
          <a:lstStyle/>
          <a:p>
            <a:endParaRPr lang="en-US" sz="3200"/>
          </a:p>
        </p:txBody>
      </p:sp>
      <p:sp>
        <p:nvSpPr>
          <p:cNvPr id="14" name="Text 12"/>
          <p:cNvSpPr/>
          <p:nvPr/>
        </p:nvSpPr>
        <p:spPr>
          <a:xfrm>
            <a:off x="8321040" y="1828800"/>
            <a:ext cx="2880360" cy="502920"/>
          </a:xfrm>
          <a:prstGeom prst="rect">
            <a:avLst/>
          </a:prstGeom>
          <a:noFill/>
          <a:ln/>
        </p:spPr>
        <p:txBody>
          <a:bodyPr wrap="square" lIns="0" tIns="0" rIns="0" bIns="0" rtlCol="0" anchor="ctr">
            <a:noAutofit/>
          </a:bodyPr>
          <a:lstStyle/>
          <a:p>
            <a:pPr marL="0" indent="0">
              <a:buNone/>
            </a:pPr>
            <a:r>
              <a:rPr lang="en-US" sz="4000" b="1" dirty="0">
                <a:solidFill>
                  <a:srgbClr val="C1543C"/>
                </a:solidFill>
                <a:latin typeface="Cambria" pitchFamily="34" charset="0"/>
                <a:ea typeface="Cambria" pitchFamily="34" charset="-122"/>
                <a:cs typeface="Cambria" pitchFamily="34" charset="-120"/>
              </a:rPr>
              <a:t>Today</a:t>
            </a:r>
            <a:endParaRPr lang="en-US" sz="4000" dirty="0"/>
          </a:p>
        </p:txBody>
      </p:sp>
      <p:sp>
        <p:nvSpPr>
          <p:cNvPr id="15" name="Text 13"/>
          <p:cNvSpPr/>
          <p:nvPr/>
        </p:nvSpPr>
        <p:spPr>
          <a:xfrm>
            <a:off x="8321040" y="2377440"/>
            <a:ext cx="2880360" cy="685800"/>
          </a:xfrm>
          <a:prstGeom prst="rect">
            <a:avLst/>
          </a:prstGeom>
          <a:noFill/>
          <a:ln/>
        </p:spPr>
        <p:txBody>
          <a:bodyPr wrap="square" lIns="0" tIns="0" rIns="0" bIns="0" rtlCol="0" anchor="ctr">
            <a:noAutofit/>
          </a:bodyPr>
          <a:lstStyle/>
          <a:p>
            <a:pPr marL="0" indent="0">
              <a:buNone/>
            </a:pPr>
            <a:r>
              <a:rPr lang="en-US" sz="2400" b="1" dirty="0">
                <a:solidFill>
                  <a:srgbClr val="1D2A22"/>
                </a:solidFill>
                <a:latin typeface="Calibri" pitchFamily="34" charset="0"/>
                <a:ea typeface="Calibri" pitchFamily="34" charset="-122"/>
                <a:cs typeface="Calibri" pitchFamily="34" charset="-120"/>
              </a:rPr>
              <a:t>We are doing it again!</a:t>
            </a:r>
            <a:endParaRPr lang="en-US" sz="2400" dirty="0"/>
          </a:p>
        </p:txBody>
      </p:sp>
      <p:sp>
        <p:nvSpPr>
          <p:cNvPr id="16" name="Text 14"/>
          <p:cNvSpPr/>
          <p:nvPr/>
        </p:nvSpPr>
        <p:spPr>
          <a:xfrm>
            <a:off x="8321040" y="3017520"/>
            <a:ext cx="2880360" cy="18288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The replacement, Cavendish, is 99% of export bananas and just as clonal. Fusarium TR4 reached Latin America in 2019.</a:t>
            </a:r>
            <a:endParaRPr lang="en-US" sz="2000" dirty="0"/>
          </a:p>
        </p:txBody>
      </p:sp>
      <p:sp>
        <p:nvSpPr>
          <p:cNvPr id="17" name="Shape 15"/>
          <p:cNvSpPr/>
          <p:nvPr/>
        </p:nvSpPr>
        <p:spPr>
          <a:xfrm>
            <a:off x="640080" y="5074920"/>
            <a:ext cx="10881360" cy="1005840"/>
          </a:xfrm>
          <a:prstGeom prst="roundRect">
            <a:avLst>
              <a:gd name="adj" fmla="val 9091"/>
            </a:avLst>
          </a:prstGeom>
          <a:solidFill>
            <a:srgbClr val="1B4332"/>
          </a:solidFill>
          <a:ln/>
        </p:spPr>
        <p:txBody>
          <a:bodyPr wrap="square">
            <a:noAutofit/>
          </a:bodyPr>
          <a:lstStyle/>
          <a:p>
            <a:endParaRPr lang="en-US" sz="3200"/>
          </a:p>
        </p:txBody>
      </p:sp>
      <p:sp>
        <p:nvSpPr>
          <p:cNvPr id="18" name="Text 16"/>
          <p:cNvSpPr/>
          <p:nvPr/>
        </p:nvSpPr>
        <p:spPr>
          <a:xfrm>
            <a:off x="1005840" y="5074920"/>
            <a:ext cx="10149840" cy="1005840"/>
          </a:xfrm>
          <a:prstGeom prst="rect">
            <a:avLst/>
          </a:prstGeom>
          <a:noFill/>
          <a:ln/>
        </p:spPr>
        <p:txBody>
          <a:bodyPr wrap="square" lIns="0" tIns="0" rIns="0" bIns="0" rtlCol="0" anchor="ctr">
            <a:noAutofit/>
          </a:bodyPr>
          <a:lstStyle/>
          <a:p>
            <a:pPr marL="0" indent="0">
              <a:buNone/>
            </a:pPr>
            <a:r>
              <a:rPr lang="en-US" sz="2400" b="1" dirty="0">
                <a:solidFill>
                  <a:srgbClr val="FFFFFF"/>
                </a:solidFill>
                <a:latin typeface="Calibri" pitchFamily="34" charset="0"/>
                <a:ea typeface="Calibri" pitchFamily="34" charset="-122"/>
                <a:cs typeface="Calibri" pitchFamily="34" charset="-120"/>
              </a:rPr>
              <a:t>Genetic diversity is an insurance policy. Industrial agriculture systematically cancels it, then pays with fungicides, and eventually with collapse.</a:t>
            </a:r>
            <a:endParaRPr lang="en-US" sz="2400" dirty="0"/>
          </a:p>
        </p:txBody>
      </p:sp>
      <p:sp>
        <p:nvSpPr>
          <p:cNvPr id="19" name="Text 17"/>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12/24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1051560"/>
          </a:xfrm>
          <a:prstGeom prst="rect">
            <a:avLst/>
          </a:prstGeom>
          <a:noFill/>
        </p:spPr>
        <p:txBody>
          <a:bodyPr wrap="square" lIns="0" tIns="0" rIns="0" bIns="0" anchor="t">
            <a:noAutofit/>
          </a:bodyPr>
          <a:lstStyle/>
          <a:p>
            <a:pPr algn="l"/>
            <a:r>
              <a:rPr lang="en-US" sz="3200" b="1" i="0" dirty="0">
                <a:solidFill>
                  <a:srgbClr val="1B4332"/>
                </a:solidFill>
                <a:latin typeface="Cambria"/>
              </a:rPr>
              <a:t>The flavor outlived the variety: Tasting extinction?</a:t>
            </a:r>
            <a:endParaRPr sz="3200" b="1" i="0" dirty="0">
              <a:solidFill>
                <a:srgbClr val="1B4332"/>
              </a:solidFill>
              <a:latin typeface="Cambria"/>
            </a:endParaRPr>
          </a:p>
        </p:txBody>
      </p:sp>
      <p:sp>
        <p:nvSpPr>
          <p:cNvPr id="3" name="Rounded Rectangle 2"/>
          <p:cNvSpPr/>
          <p:nvPr/>
        </p:nvSpPr>
        <p:spPr>
          <a:xfrm>
            <a:off x="640080" y="1572768"/>
            <a:ext cx="5120640" cy="3200400"/>
          </a:xfrm>
          <a:prstGeom prst="roundRect">
            <a:avLst>
              <a:gd name="adj" fmla="val 9000"/>
            </a:avLst>
          </a:prstGeom>
          <a:solidFill>
            <a:srgbClr val="EA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14400" y="1783080"/>
            <a:ext cx="4572000" cy="411480"/>
          </a:xfrm>
          <a:prstGeom prst="rect">
            <a:avLst/>
          </a:prstGeom>
          <a:noFill/>
        </p:spPr>
        <p:txBody>
          <a:bodyPr wrap="square" lIns="0" tIns="0" rIns="0" bIns="0" anchor="t">
            <a:noAutofit/>
          </a:bodyPr>
          <a:lstStyle/>
          <a:p>
            <a:pPr algn="l"/>
            <a:r>
              <a:rPr sz="2200" b="1" i="0" dirty="0">
                <a:solidFill>
                  <a:srgbClr val="1B4332"/>
                </a:solidFill>
                <a:latin typeface="Calibri"/>
              </a:rPr>
              <a:t>Pass the </a:t>
            </a:r>
            <a:r>
              <a:rPr lang="en-US" sz="2200" b="1" i="0" dirty="0">
                <a:solidFill>
                  <a:srgbClr val="1B4332"/>
                </a:solidFill>
                <a:latin typeface="Calibri"/>
              </a:rPr>
              <a:t>snacks</a:t>
            </a:r>
            <a:r>
              <a:rPr sz="2200" b="1" i="0" dirty="0">
                <a:solidFill>
                  <a:srgbClr val="1B4332"/>
                </a:solidFill>
                <a:latin typeface="Calibri"/>
              </a:rPr>
              <a:t> around</a:t>
            </a:r>
          </a:p>
        </p:txBody>
      </p:sp>
      <p:sp>
        <p:nvSpPr>
          <p:cNvPr id="5" name="Oval 4"/>
          <p:cNvSpPr/>
          <p:nvPr/>
        </p:nvSpPr>
        <p:spPr>
          <a:xfrm>
            <a:off x="914400" y="2286000"/>
            <a:ext cx="384048" cy="38404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14400" y="2286000"/>
            <a:ext cx="384048" cy="384048"/>
          </a:xfrm>
          <a:prstGeom prst="rect">
            <a:avLst/>
          </a:prstGeom>
          <a:noFill/>
        </p:spPr>
        <p:txBody>
          <a:bodyPr wrap="square" lIns="0" tIns="0" rIns="0" bIns="0" anchor="ctr">
            <a:noAutofit/>
          </a:bodyPr>
          <a:lstStyle/>
          <a:p>
            <a:pPr algn="ctr"/>
            <a:r>
              <a:rPr sz="2000" b="1" i="0">
                <a:solidFill>
                  <a:srgbClr val="FFFFFF"/>
                </a:solidFill>
                <a:latin typeface="Calibri"/>
              </a:rPr>
              <a:t>1</a:t>
            </a:r>
          </a:p>
        </p:txBody>
      </p:sp>
      <p:sp>
        <p:nvSpPr>
          <p:cNvPr id="7" name="TextBox 6"/>
          <p:cNvSpPr txBox="1"/>
          <p:nvPr/>
        </p:nvSpPr>
        <p:spPr>
          <a:xfrm>
            <a:off x="1463040" y="2267712"/>
            <a:ext cx="4023360" cy="822960"/>
          </a:xfrm>
          <a:prstGeom prst="rect">
            <a:avLst/>
          </a:prstGeom>
          <a:noFill/>
        </p:spPr>
        <p:txBody>
          <a:bodyPr wrap="square" lIns="0" tIns="0" rIns="0" bIns="0" anchor="t">
            <a:noAutofit/>
          </a:bodyPr>
          <a:lstStyle/>
          <a:p>
            <a:pPr algn="l"/>
            <a:r>
              <a:rPr sz="2000" b="0" i="0" dirty="0">
                <a:solidFill>
                  <a:srgbClr val="1D2A22"/>
                </a:solidFill>
                <a:latin typeface="Calibri"/>
              </a:rPr>
              <a:t>Take one banana and </a:t>
            </a:r>
            <a:r>
              <a:rPr lang="en-US" sz="2000" b="0" i="0" dirty="0">
                <a:solidFill>
                  <a:srgbClr val="1D2A22"/>
                </a:solidFill>
                <a:latin typeface="Calibri"/>
              </a:rPr>
              <a:t>some</a:t>
            </a:r>
            <a:r>
              <a:rPr sz="2000" b="0" i="0" dirty="0">
                <a:solidFill>
                  <a:srgbClr val="1D2A22"/>
                </a:solidFill>
                <a:latin typeface="Calibri"/>
              </a:rPr>
              <a:t> banana </a:t>
            </a:r>
            <a:r>
              <a:rPr lang="en-US" sz="2000" b="0" i="0" dirty="0">
                <a:solidFill>
                  <a:srgbClr val="1D2A22"/>
                </a:solidFill>
                <a:latin typeface="Calibri"/>
              </a:rPr>
              <a:t>candy</a:t>
            </a:r>
            <a:r>
              <a:rPr sz="2000" b="0" i="0" dirty="0">
                <a:solidFill>
                  <a:srgbClr val="1D2A22"/>
                </a:solidFill>
                <a:latin typeface="Calibri"/>
              </a:rPr>
              <a:t>.</a:t>
            </a:r>
          </a:p>
        </p:txBody>
      </p:sp>
      <p:sp>
        <p:nvSpPr>
          <p:cNvPr id="8" name="Oval 7"/>
          <p:cNvSpPr/>
          <p:nvPr/>
        </p:nvSpPr>
        <p:spPr>
          <a:xfrm>
            <a:off x="914400" y="3063240"/>
            <a:ext cx="384048" cy="38404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14400" y="3063240"/>
            <a:ext cx="384048" cy="384048"/>
          </a:xfrm>
          <a:prstGeom prst="rect">
            <a:avLst/>
          </a:prstGeom>
          <a:noFill/>
        </p:spPr>
        <p:txBody>
          <a:bodyPr wrap="square" lIns="0" tIns="0" rIns="0" bIns="0" anchor="ctr">
            <a:noAutofit/>
          </a:bodyPr>
          <a:lstStyle/>
          <a:p>
            <a:pPr algn="ctr"/>
            <a:r>
              <a:rPr sz="2000" b="1" i="0">
                <a:solidFill>
                  <a:srgbClr val="FFFFFF"/>
                </a:solidFill>
                <a:latin typeface="Calibri"/>
              </a:rPr>
              <a:t>2</a:t>
            </a:r>
          </a:p>
        </p:txBody>
      </p:sp>
      <p:sp>
        <p:nvSpPr>
          <p:cNvPr id="10" name="TextBox 9"/>
          <p:cNvSpPr txBox="1"/>
          <p:nvPr/>
        </p:nvSpPr>
        <p:spPr>
          <a:xfrm>
            <a:off x="1463040" y="3044952"/>
            <a:ext cx="4023360" cy="822960"/>
          </a:xfrm>
          <a:prstGeom prst="rect">
            <a:avLst/>
          </a:prstGeom>
          <a:noFill/>
        </p:spPr>
        <p:txBody>
          <a:bodyPr wrap="square" lIns="0" tIns="0" rIns="0" bIns="0" anchor="t">
            <a:noAutofit/>
          </a:bodyPr>
          <a:lstStyle/>
          <a:p>
            <a:pPr algn="l"/>
            <a:r>
              <a:rPr sz="2000" b="0" i="0" dirty="0">
                <a:solidFill>
                  <a:srgbClr val="1D2A22"/>
                </a:solidFill>
                <a:latin typeface="Calibri"/>
              </a:rPr>
              <a:t>Taste both. </a:t>
            </a:r>
            <a:r>
              <a:rPr lang="en-US" sz="2000" b="0" i="0" dirty="0">
                <a:solidFill>
                  <a:srgbClr val="1D2A22"/>
                </a:solidFill>
                <a:latin typeface="Calibri"/>
              </a:rPr>
              <a:t>Do they taste similar</a:t>
            </a:r>
            <a:r>
              <a:rPr sz="2000" b="0" i="0" dirty="0">
                <a:solidFill>
                  <a:srgbClr val="1D2A22"/>
                </a:solidFill>
                <a:latin typeface="Calibri"/>
              </a:rPr>
              <a:t>?</a:t>
            </a:r>
            <a:r>
              <a:rPr lang="en-US" sz="2000" b="0" i="0" dirty="0">
                <a:solidFill>
                  <a:srgbClr val="1D2A22"/>
                </a:solidFill>
                <a:latin typeface="Calibri"/>
              </a:rPr>
              <a:t> </a:t>
            </a:r>
            <a:endParaRPr sz="2000" b="0" i="0" dirty="0">
              <a:solidFill>
                <a:srgbClr val="1D2A22"/>
              </a:solidFill>
              <a:latin typeface="Calibri"/>
            </a:endParaRPr>
          </a:p>
        </p:txBody>
      </p:sp>
      <p:sp>
        <p:nvSpPr>
          <p:cNvPr id="11" name="Oval 10"/>
          <p:cNvSpPr/>
          <p:nvPr/>
        </p:nvSpPr>
        <p:spPr>
          <a:xfrm>
            <a:off x="914400" y="3840480"/>
            <a:ext cx="384048" cy="38404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14400" y="3840480"/>
            <a:ext cx="384048" cy="384048"/>
          </a:xfrm>
          <a:prstGeom prst="rect">
            <a:avLst/>
          </a:prstGeom>
          <a:noFill/>
        </p:spPr>
        <p:txBody>
          <a:bodyPr wrap="square" lIns="0" tIns="0" rIns="0" bIns="0" anchor="ctr">
            <a:noAutofit/>
          </a:bodyPr>
          <a:lstStyle/>
          <a:p>
            <a:pPr algn="ctr"/>
            <a:r>
              <a:rPr sz="2000" b="1" i="0">
                <a:solidFill>
                  <a:srgbClr val="FFFFFF"/>
                </a:solidFill>
                <a:latin typeface="Calibri"/>
              </a:rPr>
              <a:t>3</a:t>
            </a:r>
          </a:p>
        </p:txBody>
      </p:sp>
      <p:sp>
        <p:nvSpPr>
          <p:cNvPr id="13" name="TextBox 12"/>
          <p:cNvSpPr txBox="1"/>
          <p:nvPr/>
        </p:nvSpPr>
        <p:spPr>
          <a:xfrm>
            <a:off x="1463040" y="3822192"/>
            <a:ext cx="4023360" cy="822960"/>
          </a:xfrm>
          <a:prstGeom prst="rect">
            <a:avLst/>
          </a:prstGeom>
          <a:noFill/>
        </p:spPr>
        <p:txBody>
          <a:bodyPr wrap="square" lIns="0" tIns="0" rIns="0" bIns="0" anchor="t">
            <a:noAutofit/>
          </a:bodyPr>
          <a:lstStyle/>
          <a:p>
            <a:pPr algn="l"/>
            <a:r>
              <a:rPr sz="2000" b="0" i="0" dirty="0">
                <a:solidFill>
                  <a:srgbClr val="1D2A22"/>
                </a:solidFill>
                <a:latin typeface="Calibri"/>
              </a:rPr>
              <a:t>If there is more than one </a:t>
            </a:r>
            <a:r>
              <a:rPr lang="en-US" sz="2000" b="0" i="0" dirty="0">
                <a:solidFill>
                  <a:srgbClr val="1D2A22"/>
                </a:solidFill>
                <a:latin typeface="Calibri"/>
              </a:rPr>
              <a:t>banana </a:t>
            </a:r>
            <a:r>
              <a:rPr sz="2000" b="0" i="0" dirty="0">
                <a:solidFill>
                  <a:srgbClr val="1D2A22"/>
                </a:solidFill>
                <a:latin typeface="Calibri"/>
              </a:rPr>
              <a:t>variety </a:t>
            </a:r>
            <a:r>
              <a:rPr lang="en-US" sz="2000" b="0" i="0" dirty="0">
                <a:solidFill>
                  <a:srgbClr val="1D2A22"/>
                </a:solidFill>
                <a:latin typeface="Calibri"/>
              </a:rPr>
              <a:t>near you</a:t>
            </a:r>
            <a:r>
              <a:rPr sz="2000" b="0" i="0" dirty="0">
                <a:solidFill>
                  <a:srgbClr val="1D2A22"/>
                </a:solidFill>
                <a:latin typeface="Calibri"/>
              </a:rPr>
              <a:t>, compare those too.</a:t>
            </a:r>
          </a:p>
        </p:txBody>
      </p:sp>
      <p:sp>
        <p:nvSpPr>
          <p:cNvPr id="14" name="Rounded Rectangle 13"/>
          <p:cNvSpPr/>
          <p:nvPr/>
        </p:nvSpPr>
        <p:spPr>
          <a:xfrm>
            <a:off x="5989320" y="1572768"/>
            <a:ext cx="5532120" cy="3200400"/>
          </a:xfrm>
          <a:prstGeom prst="roundRect">
            <a:avLst>
              <a:gd name="adj" fmla="val 9000"/>
            </a:avLst>
          </a:prstGeom>
          <a:solidFill>
            <a:srgbClr val="F6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263640" y="1783080"/>
            <a:ext cx="4983480" cy="411480"/>
          </a:xfrm>
          <a:prstGeom prst="rect">
            <a:avLst/>
          </a:prstGeom>
          <a:noFill/>
        </p:spPr>
        <p:txBody>
          <a:bodyPr wrap="square" lIns="0" tIns="0" rIns="0" bIns="0" anchor="t">
            <a:noAutofit/>
          </a:bodyPr>
          <a:lstStyle/>
          <a:p>
            <a:pPr algn="l"/>
            <a:r>
              <a:rPr sz="2200" b="1" i="0">
                <a:solidFill>
                  <a:srgbClr val="C1543C"/>
                </a:solidFill>
                <a:latin typeface="Calibri"/>
              </a:rPr>
              <a:t>What is in your mouth</a:t>
            </a:r>
          </a:p>
        </p:txBody>
      </p:sp>
      <p:sp>
        <p:nvSpPr>
          <p:cNvPr id="16" name="TextBox 15"/>
          <p:cNvSpPr txBox="1"/>
          <p:nvPr/>
        </p:nvSpPr>
        <p:spPr>
          <a:xfrm>
            <a:off x="6263640" y="2331720"/>
            <a:ext cx="4983480" cy="685800"/>
          </a:xfrm>
          <a:prstGeom prst="rect">
            <a:avLst/>
          </a:prstGeom>
          <a:noFill/>
        </p:spPr>
        <p:txBody>
          <a:bodyPr wrap="square" lIns="0" tIns="0" rIns="0" bIns="0" anchor="t">
            <a:noAutofit/>
          </a:bodyPr>
          <a:lstStyle/>
          <a:p>
            <a:pPr algn="l"/>
            <a:r>
              <a:rPr sz="2000" b="0" i="0">
                <a:solidFill>
                  <a:srgbClr val="1D2A22"/>
                </a:solidFill>
                <a:latin typeface="Calibri"/>
              </a:rPr>
              <a:t>· Flavoring was sold in the US in the 1850s, before most Americans had tasted a banana.</a:t>
            </a:r>
          </a:p>
        </p:txBody>
      </p:sp>
      <p:sp>
        <p:nvSpPr>
          <p:cNvPr id="17" name="TextBox 16"/>
          <p:cNvSpPr txBox="1"/>
          <p:nvPr/>
        </p:nvSpPr>
        <p:spPr>
          <a:xfrm>
            <a:off x="6263640" y="3081527"/>
            <a:ext cx="4983480" cy="685800"/>
          </a:xfrm>
          <a:prstGeom prst="rect">
            <a:avLst/>
          </a:prstGeom>
          <a:noFill/>
        </p:spPr>
        <p:txBody>
          <a:bodyPr wrap="square" lIns="0" tIns="0" rIns="0" bIns="0" anchor="t">
            <a:noAutofit/>
          </a:bodyPr>
          <a:lstStyle/>
          <a:p>
            <a:pPr algn="l"/>
            <a:r>
              <a:rPr sz="2000" b="0" i="0" dirty="0">
                <a:solidFill>
                  <a:srgbClr val="1D2A22"/>
                </a:solidFill>
                <a:latin typeface="Calibri"/>
              </a:rPr>
              <a:t>· One ester, isoamyl acetate, picked for a fruity note.</a:t>
            </a:r>
          </a:p>
        </p:txBody>
      </p:sp>
      <p:sp>
        <p:nvSpPr>
          <p:cNvPr id="18" name="TextBox 17"/>
          <p:cNvSpPr txBox="1"/>
          <p:nvPr/>
        </p:nvSpPr>
        <p:spPr>
          <a:xfrm>
            <a:off x="6263640" y="3831335"/>
            <a:ext cx="4983480" cy="685800"/>
          </a:xfrm>
          <a:prstGeom prst="rect">
            <a:avLst/>
          </a:prstGeom>
          <a:noFill/>
        </p:spPr>
        <p:txBody>
          <a:bodyPr wrap="square" lIns="0" tIns="0" rIns="0" bIns="0" anchor="t">
            <a:noAutofit/>
          </a:bodyPr>
          <a:lstStyle/>
          <a:p>
            <a:pPr algn="l"/>
            <a:r>
              <a:rPr sz="2000" b="0" i="0" dirty="0">
                <a:solidFill>
                  <a:srgbClr val="1D2A22"/>
                </a:solidFill>
                <a:latin typeface="Calibri"/>
              </a:rPr>
              <a:t>· </a:t>
            </a:r>
            <a:r>
              <a:rPr lang="en-US" sz="2000" b="0" i="0" dirty="0">
                <a:solidFill>
                  <a:srgbClr val="1D2A22"/>
                </a:solidFill>
                <a:latin typeface="Calibri"/>
              </a:rPr>
              <a:t>The candy </a:t>
            </a:r>
            <a:r>
              <a:rPr lang="en-US" sz="2000" dirty="0">
                <a:solidFill>
                  <a:srgbClr val="1D2A22"/>
                </a:solidFill>
                <a:latin typeface="Calibri"/>
              </a:rPr>
              <a:t>tastes more like </a:t>
            </a:r>
            <a:r>
              <a:rPr sz="2000" b="0" i="0" dirty="0">
                <a:solidFill>
                  <a:srgbClr val="1D2A22"/>
                </a:solidFill>
                <a:latin typeface="Calibri"/>
              </a:rPr>
              <a:t>Gros Michel than Cavendish, </a:t>
            </a:r>
            <a:r>
              <a:rPr lang="en-US" sz="2000" b="0" i="0" dirty="0">
                <a:solidFill>
                  <a:srgbClr val="1D2A22"/>
                </a:solidFill>
                <a:latin typeface="Calibri"/>
              </a:rPr>
              <a:t>because of the ester. </a:t>
            </a:r>
            <a:endParaRPr sz="2000" b="0" i="0" dirty="0">
              <a:solidFill>
                <a:srgbClr val="1D2A22"/>
              </a:solidFill>
              <a:latin typeface="Calibri"/>
            </a:endParaRPr>
          </a:p>
        </p:txBody>
      </p:sp>
      <p:sp>
        <p:nvSpPr>
          <p:cNvPr id="19" name="Rounded Rectangle 18"/>
          <p:cNvSpPr/>
          <p:nvPr/>
        </p:nvSpPr>
        <p:spPr>
          <a:xfrm>
            <a:off x="640080" y="4956048"/>
            <a:ext cx="10881360" cy="1097280"/>
          </a:xfrm>
          <a:prstGeom prst="roundRect">
            <a:avLst>
              <a:gd name="adj" fmla="val 9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4956048"/>
            <a:ext cx="10241280" cy="1097280"/>
          </a:xfrm>
          <a:prstGeom prst="rect">
            <a:avLst/>
          </a:prstGeom>
          <a:noFill/>
        </p:spPr>
        <p:txBody>
          <a:bodyPr wrap="square" lIns="0" tIns="0" rIns="0" bIns="0" anchor="ctr">
            <a:noAutofit/>
          </a:bodyPr>
          <a:lstStyle/>
          <a:p>
            <a:pPr algn="l"/>
            <a:r>
              <a:rPr lang="en-US" sz="2000" b="1" i="0" dirty="0">
                <a:solidFill>
                  <a:srgbClr val="AECFB8"/>
                </a:solidFill>
                <a:latin typeface="Calibri"/>
              </a:rPr>
              <a:t>Footnote</a:t>
            </a:r>
            <a:r>
              <a:rPr sz="2000" b="1" i="0" dirty="0">
                <a:solidFill>
                  <a:srgbClr val="AECFB8"/>
                </a:solidFill>
                <a:latin typeface="Calibri"/>
              </a:rPr>
              <a:t>. </a:t>
            </a:r>
            <a:r>
              <a:rPr sz="2000" b="0" i="0" dirty="0">
                <a:solidFill>
                  <a:srgbClr val="FFFFFF"/>
                </a:solidFill>
                <a:latin typeface="Calibri"/>
              </a:rPr>
              <a:t>Gros Michel still exists</a:t>
            </a:r>
            <a:r>
              <a:rPr lang="en-US" sz="2000" b="0" i="0" dirty="0">
                <a:solidFill>
                  <a:srgbClr val="FFFFFF"/>
                </a:solidFill>
                <a:latin typeface="Calibri"/>
              </a:rPr>
              <a:t> in a few place</a:t>
            </a:r>
            <a:r>
              <a:rPr lang="en-US" sz="2000" b="0" i="0">
                <a:solidFill>
                  <a:srgbClr val="FFFFFF"/>
                </a:solidFill>
                <a:latin typeface="Calibri"/>
              </a:rPr>
              <a:t>, however</a:t>
            </a:r>
            <a:r>
              <a:rPr sz="2000" b="0" i="0">
                <a:solidFill>
                  <a:srgbClr val="FFFFFF"/>
                </a:solidFill>
                <a:latin typeface="Calibri"/>
              </a:rPr>
              <a:t> </a:t>
            </a:r>
            <a:r>
              <a:rPr sz="2000" b="0" i="0" dirty="0">
                <a:solidFill>
                  <a:srgbClr val="FFFFFF"/>
                </a:solidFill>
                <a:latin typeface="Calibri"/>
              </a:rPr>
              <a:t>it can no longer be grown at industrial scale</a:t>
            </a:r>
            <a:r>
              <a:rPr lang="en-US" sz="2000" b="0" i="0" dirty="0">
                <a:solidFill>
                  <a:srgbClr val="FFFFFF"/>
                </a:solidFill>
                <a:latin typeface="Calibri"/>
              </a:rPr>
              <a:t> and consumed like before</a:t>
            </a:r>
            <a:r>
              <a:rPr sz="2000" b="0" i="0" dirty="0">
                <a:solidFill>
                  <a:srgbClr val="FFFFFF"/>
                </a:solidFill>
                <a:latin typeface="Calibri"/>
              </a:rPr>
              <a:t>. That is what extinction usually means for a commodity crop</a:t>
            </a:r>
            <a:r>
              <a:rPr lang="en-US" sz="2000" b="0" i="0" dirty="0">
                <a:solidFill>
                  <a:srgbClr val="FFFFFF"/>
                </a:solidFill>
                <a:latin typeface="Calibri"/>
              </a:rPr>
              <a:t>.</a:t>
            </a:r>
            <a:endParaRPr sz="2000" b="0" i="0" dirty="0">
              <a:solidFill>
                <a:srgbClr val="FFFFFF"/>
              </a:solidFill>
              <a:latin typeface="Calibri"/>
            </a:endParaRPr>
          </a:p>
        </p:txBody>
      </p:sp>
      <p:sp>
        <p:nvSpPr>
          <p:cNvPr id="21" name="TextBox 20"/>
          <p:cNvSpPr txBox="1"/>
          <p:nvPr/>
        </p:nvSpPr>
        <p:spPr>
          <a:xfrm>
            <a:off x="640080" y="6199632"/>
            <a:ext cx="10881360" cy="310896"/>
          </a:xfrm>
          <a:prstGeom prst="rect">
            <a:avLst/>
          </a:prstGeom>
          <a:noFill/>
        </p:spPr>
        <p:txBody>
          <a:bodyPr wrap="square" lIns="0" tIns="0" rIns="0" bIns="0" anchor="t">
            <a:noAutofit/>
          </a:bodyPr>
          <a:lstStyle/>
          <a:p>
            <a:pPr algn="l"/>
            <a:r>
              <a:rPr sz="2000" b="0" i="0">
                <a:solidFill>
                  <a:srgbClr val="5E6B62"/>
                </a:solidFill>
                <a:latin typeface="Calibri"/>
              </a:rPr>
              <a:t>Sources: Berenstein, in Mayer, Science Friday / Massive Science 2020; Swain, Massive Science 2020</a:t>
            </a:r>
          </a:p>
        </p:txBody>
      </p:sp>
      <p:sp>
        <p:nvSpPr>
          <p:cNvPr id="22" name="TextBox 21"/>
          <p:cNvSpPr txBox="1"/>
          <p:nvPr/>
        </p:nvSpPr>
        <p:spPr>
          <a:xfrm>
            <a:off x="640080" y="6565392"/>
            <a:ext cx="6400800" cy="292608"/>
          </a:xfrm>
          <a:prstGeom prst="rect">
            <a:avLst/>
          </a:prstGeom>
          <a:noFill/>
        </p:spPr>
        <p:txBody>
          <a:bodyPr wrap="square" lIns="0" tIns="0" rIns="0" bIns="0" anchor="t">
            <a:noAutofit/>
          </a:bodyPr>
          <a:lstStyle/>
          <a:p>
            <a:pPr algn="l"/>
            <a:r>
              <a:rPr sz="2000" b="0" i="0">
                <a:solidFill>
                  <a:srgbClr val="5E6B62"/>
                </a:solidFill>
                <a:latin typeface="Calibri"/>
              </a:rPr>
              <a:t>Part 1 · The crisis   ·   slide 13/24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p:bldP spid="17" grpId="0"/>
      <p:bldP spid="18" grpId="0"/>
      <p:bldP spid="19" grpId="0" animBg="1"/>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600" b="1" dirty="0">
                <a:solidFill>
                  <a:srgbClr val="1B4332"/>
                </a:solidFill>
                <a:latin typeface="Cambria" pitchFamily="34" charset="0"/>
                <a:ea typeface="Cambria" pitchFamily="34" charset="-122"/>
                <a:cs typeface="Cambria" pitchFamily="34" charset="-120"/>
              </a:rPr>
              <a:t>Four things ecosystems do for us</a:t>
            </a:r>
            <a:endParaRPr lang="en-US" sz="3600" dirty="0"/>
          </a:p>
        </p:txBody>
      </p:sp>
      <p:sp>
        <p:nvSpPr>
          <p:cNvPr id="3" name="Shape 1"/>
          <p:cNvSpPr/>
          <p:nvPr/>
        </p:nvSpPr>
        <p:spPr>
          <a:xfrm>
            <a:off x="640080" y="1691640"/>
            <a:ext cx="5303520" cy="1783080"/>
          </a:xfrm>
          <a:prstGeom prst="roundRect">
            <a:avLst>
              <a:gd name="adj" fmla="val 5128"/>
            </a:avLst>
          </a:prstGeom>
          <a:solidFill>
            <a:srgbClr val="EAF2EC"/>
          </a:solidFill>
          <a:ln w="12700">
            <a:solidFill>
              <a:srgbClr val="74A57F"/>
            </a:solidFill>
            <a:prstDash val="solid"/>
          </a:ln>
        </p:spPr>
        <p:txBody>
          <a:bodyPr wrap="square">
            <a:noAutofit/>
          </a:bodyPr>
          <a:lstStyle/>
          <a:p>
            <a:endParaRPr lang="en-US"/>
          </a:p>
        </p:txBody>
      </p:sp>
      <p:sp>
        <p:nvSpPr>
          <p:cNvPr id="4" name="Text 2"/>
          <p:cNvSpPr/>
          <p:nvPr/>
        </p:nvSpPr>
        <p:spPr>
          <a:xfrm>
            <a:off x="960120" y="1874520"/>
            <a:ext cx="4663440" cy="45720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Food security</a:t>
            </a:r>
            <a:endParaRPr lang="en-US" sz="1900" dirty="0"/>
          </a:p>
        </p:txBody>
      </p:sp>
      <p:sp>
        <p:nvSpPr>
          <p:cNvPr id="5" name="Text 3"/>
          <p:cNvSpPr/>
          <p:nvPr/>
        </p:nvSpPr>
        <p:spPr>
          <a:xfrm>
            <a:off x="960120" y="2377440"/>
            <a:ext cx="4663440" cy="109728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75% of food crops depend at least partly on animal pollination.</a:t>
            </a:r>
            <a:endParaRPr lang="en-US" sz="1400" dirty="0"/>
          </a:p>
        </p:txBody>
      </p:sp>
      <p:sp>
        <p:nvSpPr>
          <p:cNvPr id="6" name="Shape 4"/>
          <p:cNvSpPr/>
          <p:nvPr/>
        </p:nvSpPr>
        <p:spPr>
          <a:xfrm>
            <a:off x="6217920" y="1691640"/>
            <a:ext cx="5303520" cy="1783080"/>
          </a:xfrm>
          <a:prstGeom prst="roundRect">
            <a:avLst>
              <a:gd name="adj" fmla="val 5128"/>
            </a:avLst>
          </a:prstGeom>
          <a:solidFill>
            <a:srgbClr val="EAF2EC"/>
          </a:solidFill>
          <a:ln w="12700">
            <a:solidFill>
              <a:srgbClr val="74A57F"/>
            </a:solidFill>
            <a:prstDash val="solid"/>
          </a:ln>
        </p:spPr>
        <p:txBody>
          <a:bodyPr wrap="square">
            <a:noAutofit/>
          </a:bodyPr>
          <a:lstStyle/>
          <a:p>
            <a:endParaRPr lang="en-US"/>
          </a:p>
        </p:txBody>
      </p:sp>
      <p:sp>
        <p:nvSpPr>
          <p:cNvPr id="7" name="Text 5"/>
          <p:cNvSpPr/>
          <p:nvPr/>
        </p:nvSpPr>
        <p:spPr>
          <a:xfrm>
            <a:off x="6537960" y="1874520"/>
            <a:ext cx="4663440" cy="45720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Clean water</a:t>
            </a:r>
            <a:endParaRPr lang="en-US" sz="1900" dirty="0"/>
          </a:p>
        </p:txBody>
      </p:sp>
      <p:sp>
        <p:nvSpPr>
          <p:cNvPr id="8" name="Text 6"/>
          <p:cNvSpPr/>
          <p:nvPr/>
        </p:nvSpPr>
        <p:spPr>
          <a:xfrm>
            <a:off x="6537960" y="2377440"/>
            <a:ext cx="4663440" cy="109728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Wetlands and forests filter and regulate water; over 85% of wetlands are already lost.</a:t>
            </a:r>
            <a:endParaRPr lang="en-US" sz="1400" dirty="0"/>
          </a:p>
        </p:txBody>
      </p:sp>
      <p:sp>
        <p:nvSpPr>
          <p:cNvPr id="9" name="Shape 7"/>
          <p:cNvSpPr/>
          <p:nvPr/>
        </p:nvSpPr>
        <p:spPr>
          <a:xfrm>
            <a:off x="640080" y="3749040"/>
            <a:ext cx="5303520" cy="1783080"/>
          </a:xfrm>
          <a:prstGeom prst="roundRect">
            <a:avLst>
              <a:gd name="adj" fmla="val 5128"/>
            </a:avLst>
          </a:prstGeom>
          <a:solidFill>
            <a:srgbClr val="EAF2EC"/>
          </a:solidFill>
          <a:ln w="12700">
            <a:solidFill>
              <a:srgbClr val="74A57F"/>
            </a:solidFill>
            <a:prstDash val="solid"/>
          </a:ln>
        </p:spPr>
        <p:txBody>
          <a:bodyPr wrap="square">
            <a:noAutofit/>
          </a:bodyPr>
          <a:lstStyle/>
          <a:p>
            <a:endParaRPr lang="en-US"/>
          </a:p>
        </p:txBody>
      </p:sp>
      <p:sp>
        <p:nvSpPr>
          <p:cNvPr id="10" name="Text 8"/>
          <p:cNvSpPr/>
          <p:nvPr/>
        </p:nvSpPr>
        <p:spPr>
          <a:xfrm>
            <a:off x="960120" y="3931920"/>
            <a:ext cx="4663440" cy="45720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Medicine</a:t>
            </a:r>
            <a:endParaRPr lang="en-US" sz="1900" dirty="0"/>
          </a:p>
        </p:txBody>
      </p:sp>
      <p:sp>
        <p:nvSpPr>
          <p:cNvPr id="11" name="Text 9"/>
          <p:cNvSpPr/>
          <p:nvPr/>
        </p:nvSpPr>
        <p:spPr>
          <a:xfrm>
            <a:off x="960120" y="4434840"/>
            <a:ext cx="4663440" cy="109728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~70% of cancer drugs are natural products or synthetic compounds inspired by them.</a:t>
            </a:r>
            <a:endParaRPr lang="en-US" sz="1400" dirty="0"/>
          </a:p>
        </p:txBody>
      </p:sp>
      <p:sp>
        <p:nvSpPr>
          <p:cNvPr id="12" name="Shape 10"/>
          <p:cNvSpPr/>
          <p:nvPr/>
        </p:nvSpPr>
        <p:spPr>
          <a:xfrm>
            <a:off x="6217920" y="3749040"/>
            <a:ext cx="5303520" cy="1783080"/>
          </a:xfrm>
          <a:prstGeom prst="roundRect">
            <a:avLst>
              <a:gd name="adj" fmla="val 5128"/>
            </a:avLst>
          </a:prstGeom>
          <a:solidFill>
            <a:srgbClr val="EAF2EC"/>
          </a:solidFill>
          <a:ln w="12700">
            <a:solidFill>
              <a:srgbClr val="74A57F"/>
            </a:solidFill>
            <a:prstDash val="solid"/>
          </a:ln>
        </p:spPr>
        <p:txBody>
          <a:bodyPr wrap="square">
            <a:noAutofit/>
          </a:bodyPr>
          <a:lstStyle/>
          <a:p>
            <a:endParaRPr lang="en-US"/>
          </a:p>
        </p:txBody>
      </p:sp>
      <p:sp>
        <p:nvSpPr>
          <p:cNvPr id="13" name="Text 11"/>
          <p:cNvSpPr/>
          <p:nvPr/>
        </p:nvSpPr>
        <p:spPr>
          <a:xfrm>
            <a:off x="6537960" y="3931920"/>
            <a:ext cx="4663440" cy="45720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Stability</a:t>
            </a:r>
            <a:endParaRPr lang="en-US" sz="1900" dirty="0"/>
          </a:p>
        </p:txBody>
      </p:sp>
      <p:sp>
        <p:nvSpPr>
          <p:cNvPr id="14" name="Text 12"/>
          <p:cNvSpPr/>
          <p:nvPr/>
        </p:nvSpPr>
        <p:spPr>
          <a:xfrm>
            <a:off x="6537960" y="4434840"/>
            <a:ext cx="4663440" cy="109728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Diverse systems absorb shocks: pests, drought, disease. Monocultures amplify them.</a:t>
            </a:r>
            <a:endParaRPr lang="en-US" sz="1400" dirty="0"/>
          </a:p>
        </p:txBody>
      </p:sp>
      <p:sp>
        <p:nvSpPr>
          <p:cNvPr id="16" name="Text 14"/>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The crisis   ·   slide 14/24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000" b="1" dirty="0">
                <a:solidFill>
                  <a:srgbClr val="1B4332"/>
                </a:solidFill>
                <a:latin typeface="Cambria" pitchFamily="34" charset="0"/>
                <a:ea typeface="Cambria" pitchFamily="34" charset="-122"/>
                <a:cs typeface="Cambria" pitchFamily="34" charset="-120"/>
              </a:rPr>
              <a:t>The boundaries interact: biodiversity loss and climate feed each other</a:t>
            </a:r>
            <a:endParaRPr lang="en-US" sz="3000" dirty="0"/>
          </a:p>
        </p:txBody>
      </p:sp>
      <p:sp>
        <p:nvSpPr>
          <p:cNvPr id="3" name="Shape 1"/>
          <p:cNvSpPr/>
          <p:nvPr/>
        </p:nvSpPr>
        <p:spPr>
          <a:xfrm>
            <a:off x="640080" y="2377440"/>
            <a:ext cx="3200400" cy="1371600"/>
          </a:xfrm>
          <a:prstGeom prst="roundRect">
            <a:avLst>
              <a:gd name="adj" fmla="val 6667"/>
            </a:avLst>
          </a:prstGeom>
          <a:solidFill>
            <a:srgbClr val="1B4332"/>
          </a:solidFill>
          <a:ln/>
        </p:spPr>
        <p:txBody>
          <a:bodyPr wrap="square">
            <a:noAutofit/>
          </a:bodyPr>
          <a:lstStyle/>
          <a:p>
            <a:endParaRPr lang="en-US"/>
          </a:p>
        </p:txBody>
      </p:sp>
      <p:sp>
        <p:nvSpPr>
          <p:cNvPr id="4" name="Text 2"/>
          <p:cNvSpPr/>
          <p:nvPr/>
        </p:nvSpPr>
        <p:spPr>
          <a:xfrm>
            <a:off x="822960" y="2377440"/>
            <a:ext cx="2834640" cy="1371600"/>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Climate change</a:t>
            </a:r>
            <a:endParaRPr lang="en-US" sz="1800" dirty="0"/>
          </a:p>
        </p:txBody>
      </p:sp>
      <p:sp>
        <p:nvSpPr>
          <p:cNvPr id="5" name="Shape 3"/>
          <p:cNvSpPr/>
          <p:nvPr/>
        </p:nvSpPr>
        <p:spPr>
          <a:xfrm>
            <a:off x="8321040" y="2377440"/>
            <a:ext cx="3200400" cy="1371600"/>
          </a:xfrm>
          <a:prstGeom prst="roundRect">
            <a:avLst>
              <a:gd name="adj" fmla="val 6667"/>
            </a:avLst>
          </a:prstGeom>
          <a:solidFill>
            <a:srgbClr val="C1543C"/>
          </a:solidFill>
          <a:ln/>
        </p:spPr>
        <p:txBody>
          <a:bodyPr wrap="square">
            <a:noAutofit/>
          </a:bodyPr>
          <a:lstStyle/>
          <a:p>
            <a:endParaRPr lang="en-US"/>
          </a:p>
        </p:txBody>
      </p:sp>
      <p:sp>
        <p:nvSpPr>
          <p:cNvPr id="6" name="Text 4"/>
          <p:cNvSpPr/>
          <p:nvPr/>
        </p:nvSpPr>
        <p:spPr>
          <a:xfrm>
            <a:off x="8503920" y="2377440"/>
            <a:ext cx="2834640" cy="1371600"/>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Biodiversity loss</a:t>
            </a:r>
            <a:endParaRPr lang="en-US" sz="1800" dirty="0"/>
          </a:p>
        </p:txBody>
      </p:sp>
      <p:sp>
        <p:nvSpPr>
          <p:cNvPr id="7" name="Shape 5"/>
          <p:cNvSpPr/>
          <p:nvPr/>
        </p:nvSpPr>
        <p:spPr>
          <a:xfrm>
            <a:off x="3977640" y="2697480"/>
            <a:ext cx="4206240" cy="0"/>
          </a:xfrm>
          <a:prstGeom prst="line">
            <a:avLst/>
          </a:prstGeom>
          <a:noFill/>
          <a:ln w="31750">
            <a:solidFill>
              <a:srgbClr val="5E6B62"/>
            </a:solidFill>
            <a:prstDash val="solid"/>
            <a:tailEnd type="triangle"/>
          </a:ln>
        </p:spPr>
        <p:txBody>
          <a:bodyPr wrap="square">
            <a:noAutofit/>
          </a:bodyPr>
          <a:lstStyle/>
          <a:p>
            <a:endParaRPr lang="en-US"/>
          </a:p>
        </p:txBody>
      </p:sp>
      <p:sp>
        <p:nvSpPr>
          <p:cNvPr id="8" name="Shape 6"/>
          <p:cNvSpPr/>
          <p:nvPr/>
        </p:nvSpPr>
        <p:spPr>
          <a:xfrm flipH="1">
            <a:off x="3977639" y="3474720"/>
            <a:ext cx="4206240" cy="0"/>
          </a:xfrm>
          <a:prstGeom prst="line">
            <a:avLst/>
          </a:prstGeom>
          <a:noFill/>
          <a:ln w="31750">
            <a:solidFill>
              <a:srgbClr val="5E6B62"/>
            </a:solidFill>
            <a:prstDash val="solid"/>
            <a:tailEnd type="triangle"/>
          </a:ln>
        </p:spPr>
        <p:txBody>
          <a:bodyPr wrap="square">
            <a:noAutofit/>
          </a:bodyPr>
          <a:lstStyle/>
          <a:p>
            <a:endParaRPr lang="en-US"/>
          </a:p>
        </p:txBody>
      </p:sp>
      <p:sp>
        <p:nvSpPr>
          <p:cNvPr id="9" name="Text 7"/>
          <p:cNvSpPr/>
          <p:nvPr/>
        </p:nvSpPr>
        <p:spPr>
          <a:xfrm>
            <a:off x="3931920" y="1993392"/>
            <a:ext cx="4297680" cy="457200"/>
          </a:xfrm>
          <a:prstGeom prst="rect">
            <a:avLst/>
          </a:prstGeom>
          <a:noFill/>
          <a:ln/>
        </p:spPr>
        <p:txBody>
          <a:bodyPr wrap="square" lIns="0" tIns="0" rIns="0" bIns="0" rtlCol="0" anchor="ctr">
            <a:noAutofit/>
          </a:bodyPr>
          <a:lstStyle/>
          <a:p>
            <a:pPr marL="0" indent="0" algn="ctr">
              <a:buNone/>
            </a:pPr>
            <a:r>
              <a:rPr lang="en-US" sz="2000" dirty="0">
                <a:solidFill>
                  <a:srgbClr val="1D2A22"/>
                </a:solidFill>
                <a:latin typeface="Calibri" pitchFamily="34" charset="0"/>
                <a:ea typeface="Calibri" pitchFamily="34" charset="-122"/>
                <a:cs typeface="Calibri" pitchFamily="34" charset="-120"/>
              </a:rPr>
              <a:t>warming shifts ranges, bleaches reefs, dries forests</a:t>
            </a:r>
            <a:endParaRPr lang="en-US" sz="1200" dirty="0"/>
          </a:p>
        </p:txBody>
      </p:sp>
      <p:sp>
        <p:nvSpPr>
          <p:cNvPr id="10" name="Text 8"/>
          <p:cNvSpPr/>
          <p:nvPr/>
        </p:nvSpPr>
        <p:spPr>
          <a:xfrm>
            <a:off x="3931920" y="3822191"/>
            <a:ext cx="4297680" cy="731520"/>
          </a:xfrm>
          <a:prstGeom prst="rect">
            <a:avLst/>
          </a:prstGeom>
          <a:noFill/>
          <a:ln/>
        </p:spPr>
        <p:txBody>
          <a:bodyPr wrap="square" lIns="0" tIns="0" rIns="0" bIns="0" rtlCol="0" anchor="ctr">
            <a:noAutofit/>
          </a:bodyPr>
          <a:lstStyle/>
          <a:p>
            <a:pPr marL="0" indent="0" algn="ctr">
              <a:buNone/>
            </a:pPr>
            <a:r>
              <a:rPr lang="en-US" sz="2000" dirty="0">
                <a:solidFill>
                  <a:srgbClr val="1D2A22"/>
                </a:solidFill>
                <a:latin typeface="Calibri" pitchFamily="34" charset="0"/>
                <a:ea typeface="Calibri" pitchFamily="34" charset="-122"/>
                <a:cs typeface="Calibri" pitchFamily="34" charset="-120"/>
              </a:rPr>
              <a:t>degraded forests and soils release carbon instead of storing it</a:t>
            </a:r>
            <a:endParaRPr lang="en-US" sz="1200" dirty="0"/>
          </a:p>
        </p:txBody>
      </p:sp>
      <p:sp>
        <p:nvSpPr>
          <p:cNvPr id="11" name="Shape 9"/>
          <p:cNvSpPr/>
          <p:nvPr/>
        </p:nvSpPr>
        <p:spPr>
          <a:xfrm>
            <a:off x="640080" y="4526280"/>
            <a:ext cx="10881360" cy="1463040"/>
          </a:xfrm>
          <a:prstGeom prst="roundRect">
            <a:avLst>
              <a:gd name="adj" fmla="val 6250"/>
            </a:avLst>
          </a:prstGeom>
          <a:solidFill>
            <a:srgbClr val="EAF2EC"/>
          </a:solidFill>
          <a:ln/>
        </p:spPr>
        <p:txBody>
          <a:bodyPr wrap="square">
            <a:noAutofit/>
          </a:bodyPr>
          <a:lstStyle/>
          <a:p>
            <a:endParaRPr lang="en-US"/>
          </a:p>
        </p:txBody>
      </p:sp>
      <p:sp>
        <p:nvSpPr>
          <p:cNvPr id="12" name="Text 10"/>
          <p:cNvSpPr/>
          <p:nvPr/>
        </p:nvSpPr>
        <p:spPr>
          <a:xfrm>
            <a:off x="1005840" y="4526280"/>
            <a:ext cx="10149840" cy="1463040"/>
          </a:xfrm>
          <a:prstGeom prst="rect">
            <a:avLst/>
          </a:prstGeom>
          <a:noFill/>
          <a:ln/>
        </p:spPr>
        <p:txBody>
          <a:bodyPr wrap="square" lIns="0" tIns="0" rIns="0" bIns="0" rtlCol="0" anchor="ctr">
            <a:noAutofit/>
          </a:bodyPr>
          <a:lstStyle/>
          <a:p>
            <a:pPr marL="0" indent="0">
              <a:lnSpc>
                <a:spcPct val="105000"/>
              </a:lnSpc>
              <a:buNone/>
            </a:pPr>
            <a:r>
              <a:rPr lang="en-US" sz="2000" b="1" dirty="0">
                <a:solidFill>
                  <a:srgbClr val="1B4332"/>
                </a:solidFill>
                <a:latin typeface="Calibri" pitchFamily="34" charset="0"/>
                <a:ea typeface="Calibri" pitchFamily="34" charset="-122"/>
                <a:cs typeface="Calibri" pitchFamily="34" charset="-120"/>
              </a:rPr>
              <a:t>Example, the Amazon: </a:t>
            </a:r>
            <a:r>
              <a:rPr sz="2000">
                <a:solidFill>
                  <a:srgbClr val="1D2A22"/>
                </a:solidFill>
                <a:latin typeface="Calibri"/>
              </a:rPr>
              <a:t>deforestation plus warming weakens the forest's own rainfall recycling. Flores et al. estimate that by 2050, 10% to 47% of Amazonian forest will face compounding disturbances that could tip parts of it toward savanna, releasing stored carbon. A biodiversity problem becomes a climate problem becomes a biodiversity problem.</a:t>
            </a:r>
            <a:endParaRPr lang="en-US" sz="1450" dirty="0"/>
          </a:p>
        </p:txBody>
      </p:sp>
      <p:sp>
        <p:nvSpPr>
          <p:cNvPr id="13" name="Text 11"/>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Safe limits   ·   slide 17/24</a:t>
            </a:r>
            <a:endParaRPr lang="en-US" sz="1000" dirty="0"/>
          </a:p>
        </p:txBody>
      </p:sp>
      <p:sp>
        <p:nvSpPr>
          <p:cNvPr id="14" name="TextBox 13"/>
          <p:cNvSpPr txBox="1"/>
          <p:nvPr/>
        </p:nvSpPr>
        <p:spPr>
          <a:xfrm>
            <a:off x="640080" y="6172200"/>
            <a:ext cx="10881360" cy="310896"/>
          </a:xfrm>
          <a:prstGeom prst="rect">
            <a:avLst/>
          </a:prstGeom>
          <a:noFill/>
        </p:spPr>
        <p:txBody>
          <a:bodyPr wrap="square" lIns="0" tIns="0">
            <a:noAutofit/>
          </a:bodyPr>
          <a:lstStyle/>
          <a:p>
            <a:r>
              <a:rPr sz="2000">
                <a:solidFill>
                  <a:srgbClr val="5E6B62"/>
                </a:solidFill>
                <a:latin typeface="Calibri"/>
              </a:rPr>
              <a:t>Source: Flores et al. 2024, Nature 626:555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C9491E-A815-725B-EBD8-9752480BB226}"/>
              </a:ext>
            </a:extLst>
          </p:cNvPr>
          <p:cNvPicPr>
            <a:picLocks noChangeAspect="1"/>
          </p:cNvPicPr>
          <p:nvPr/>
        </p:nvPicPr>
        <p:blipFill>
          <a:blip r:embed="rId2"/>
          <a:stretch>
            <a:fillRect/>
          </a:stretch>
        </p:blipFill>
        <p:spPr>
          <a:xfrm>
            <a:off x="7996335" y="79235"/>
            <a:ext cx="3860521" cy="6699529"/>
          </a:xfrm>
          <a:prstGeom prst="rect">
            <a:avLst/>
          </a:prstGeom>
        </p:spPr>
      </p:pic>
      <p:sp>
        <p:nvSpPr>
          <p:cNvPr id="5" name="Text 0">
            <a:extLst>
              <a:ext uri="{FF2B5EF4-FFF2-40B4-BE49-F238E27FC236}">
                <a16:creationId xmlns:a16="http://schemas.microsoft.com/office/drawing/2014/main" id="{CFD7C15D-658E-4F01-17E1-042042D664E3}"/>
              </a:ext>
            </a:extLst>
          </p:cNvPr>
          <p:cNvSpPr/>
          <p:nvPr/>
        </p:nvSpPr>
        <p:spPr>
          <a:xfrm>
            <a:off x="640080" y="384048"/>
            <a:ext cx="7008607" cy="1993392"/>
          </a:xfrm>
          <a:prstGeom prst="rect">
            <a:avLst/>
          </a:prstGeom>
          <a:noFill/>
          <a:ln/>
        </p:spPr>
        <p:txBody>
          <a:bodyPr wrap="square" lIns="0" tIns="0" rIns="0" bIns="0" rtlCol="0" anchor="t">
            <a:noAutofit/>
          </a:bodyPr>
          <a:lstStyle/>
          <a:p>
            <a:pPr marL="0" indent="0">
              <a:buNone/>
            </a:pPr>
            <a:r>
              <a:rPr lang="en-US" sz="3000" b="1" dirty="0">
                <a:solidFill>
                  <a:srgbClr val="1B4332"/>
                </a:solidFill>
                <a:latin typeface="Cambria" pitchFamily="34" charset="0"/>
                <a:ea typeface="Cambria" pitchFamily="34" charset="-122"/>
                <a:cs typeface="Cambria" pitchFamily="34" charset="-120"/>
              </a:rPr>
              <a:t>5-minute discussion in groups. Talk to your neighbor!</a:t>
            </a:r>
            <a:br>
              <a:rPr lang="en-US" sz="3000" b="1" dirty="0">
                <a:solidFill>
                  <a:srgbClr val="1B4332"/>
                </a:solidFill>
                <a:latin typeface="Cambria" pitchFamily="34" charset="0"/>
                <a:ea typeface="Cambria" pitchFamily="34" charset="-122"/>
                <a:cs typeface="Cambria" pitchFamily="34" charset="-120"/>
              </a:rPr>
            </a:br>
            <a:r>
              <a:rPr lang="en-US" sz="3000" b="1" dirty="0">
                <a:solidFill>
                  <a:srgbClr val="1B4332"/>
                </a:solidFill>
                <a:latin typeface="Cambria" pitchFamily="34" charset="0"/>
                <a:ea typeface="Cambria" pitchFamily="34" charset="-122"/>
                <a:cs typeface="Cambria" pitchFamily="34" charset="-120"/>
              </a:rPr>
              <a:t>What is Figure 1 from this paper showing?</a:t>
            </a:r>
            <a:endParaRPr lang="en-US" sz="3000" dirty="0"/>
          </a:p>
        </p:txBody>
      </p:sp>
      <p:pic>
        <p:nvPicPr>
          <p:cNvPr id="9" name="Picture 8">
            <a:extLst>
              <a:ext uri="{FF2B5EF4-FFF2-40B4-BE49-F238E27FC236}">
                <a16:creationId xmlns:a16="http://schemas.microsoft.com/office/drawing/2014/main" id="{31EC8978-CE9E-CB4A-67CF-B055C69A3E83}"/>
              </a:ext>
            </a:extLst>
          </p:cNvPr>
          <p:cNvPicPr>
            <a:picLocks noChangeAspect="1"/>
          </p:cNvPicPr>
          <p:nvPr/>
        </p:nvPicPr>
        <p:blipFill>
          <a:blip r:embed="rId3"/>
          <a:stretch>
            <a:fillRect/>
          </a:stretch>
        </p:blipFill>
        <p:spPr>
          <a:xfrm>
            <a:off x="837466" y="2827972"/>
            <a:ext cx="5119580" cy="2578339"/>
          </a:xfrm>
          <a:prstGeom prst="rect">
            <a:avLst/>
          </a:prstGeom>
        </p:spPr>
      </p:pic>
    </p:spTree>
    <p:extLst>
      <p:ext uri="{BB962C8B-B14F-4D97-AF65-F5344CB8AC3E}">
        <p14:creationId xmlns:p14="http://schemas.microsoft.com/office/powerpoint/2010/main" val="3104789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1051560"/>
          </a:xfrm>
          <a:prstGeom prst="rect">
            <a:avLst/>
          </a:prstGeom>
          <a:noFill/>
        </p:spPr>
        <p:txBody>
          <a:bodyPr wrap="square" lIns="0" tIns="0" rIns="0" bIns="0" anchor="t">
            <a:noAutofit/>
          </a:bodyPr>
          <a:lstStyle/>
          <a:p>
            <a:pPr algn="l"/>
            <a:r>
              <a:rPr sz="3200" b="1" i="0">
                <a:solidFill>
                  <a:srgbClr val="1B4332"/>
                </a:solidFill>
                <a:latin typeface="Cambria"/>
              </a:rPr>
              <a:t>14 of the 18 contributions nature makes to people have declined since 1970</a:t>
            </a:r>
          </a:p>
        </p:txBody>
      </p:sp>
      <p:sp>
        <p:nvSpPr>
          <p:cNvPr id="3" name="Rounded Rectangle 2"/>
          <p:cNvSpPr/>
          <p:nvPr/>
        </p:nvSpPr>
        <p:spPr>
          <a:xfrm>
            <a:off x="640080" y="1536192"/>
            <a:ext cx="10881360" cy="914400"/>
          </a:xfrm>
          <a:prstGeom prst="roundRect">
            <a:avLst>
              <a:gd name="adj" fmla="val 9000"/>
            </a:avLst>
          </a:prstGeom>
          <a:solidFill>
            <a:srgbClr val="EA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60120" y="1536192"/>
            <a:ext cx="10241280" cy="914400"/>
          </a:xfrm>
          <a:prstGeom prst="rect">
            <a:avLst/>
          </a:prstGeom>
          <a:noFill/>
        </p:spPr>
        <p:txBody>
          <a:bodyPr wrap="square" lIns="0" tIns="0" rIns="0" bIns="0" anchor="ctr">
            <a:noAutofit/>
          </a:bodyPr>
          <a:lstStyle/>
          <a:p>
            <a:pPr algn="l"/>
            <a:r>
              <a:rPr sz="2000" b="1" i="0">
                <a:solidFill>
                  <a:srgbClr val="2D6A4F"/>
                </a:solidFill>
                <a:latin typeface="Calibri"/>
              </a:rPr>
              <a:t>▲  The four that rose are the four we extract:  </a:t>
            </a:r>
            <a:r>
              <a:rPr sz="2000" b="0" i="0">
                <a:solidFill>
                  <a:srgbClr val="1D2A22"/>
                </a:solidFill>
                <a:latin typeface="Calibri"/>
              </a:rPr>
              <a:t>Energy · Food and feed · Materials and assistance · Medicinal, biochemical and genetic resources</a:t>
            </a:r>
          </a:p>
        </p:txBody>
      </p:sp>
      <p:sp>
        <p:nvSpPr>
          <p:cNvPr id="5" name="Rounded Rectangle 4"/>
          <p:cNvSpPr/>
          <p:nvPr/>
        </p:nvSpPr>
        <p:spPr>
          <a:xfrm>
            <a:off x="640080" y="2606040"/>
            <a:ext cx="10881360" cy="3749039"/>
          </a:xfrm>
          <a:prstGeom prst="roundRect">
            <a:avLst>
              <a:gd name="adj" fmla="val 9000"/>
            </a:avLst>
          </a:prstGeom>
          <a:solidFill>
            <a:srgbClr val="F6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60120" y="2743200"/>
            <a:ext cx="10241280" cy="384048"/>
          </a:xfrm>
          <a:prstGeom prst="rect">
            <a:avLst/>
          </a:prstGeom>
          <a:noFill/>
        </p:spPr>
        <p:txBody>
          <a:bodyPr wrap="square" lIns="0" tIns="0" rIns="0" bIns="0" anchor="t">
            <a:noAutofit/>
          </a:bodyPr>
          <a:lstStyle/>
          <a:p>
            <a:pPr algn="l"/>
            <a:r>
              <a:rPr sz="2000" b="1" i="0">
                <a:solidFill>
                  <a:srgbClr val="C1543C"/>
                </a:solidFill>
                <a:latin typeface="Calibri"/>
              </a:rPr>
              <a:t>▼  The fourteen that declined</a:t>
            </a:r>
          </a:p>
        </p:txBody>
      </p:sp>
      <p:sp>
        <p:nvSpPr>
          <p:cNvPr id="7" name="TextBox 6"/>
          <p:cNvSpPr txBox="1"/>
          <p:nvPr/>
        </p:nvSpPr>
        <p:spPr>
          <a:xfrm>
            <a:off x="960120" y="3127248"/>
            <a:ext cx="4892040" cy="329184"/>
          </a:xfrm>
          <a:prstGeom prst="rect">
            <a:avLst/>
          </a:prstGeom>
          <a:noFill/>
        </p:spPr>
        <p:txBody>
          <a:bodyPr wrap="square" lIns="0" tIns="0" rIns="0" bIns="0" anchor="t">
            <a:noAutofit/>
          </a:bodyPr>
          <a:lstStyle/>
          <a:p>
            <a:pPr algn="l"/>
            <a:r>
              <a:rPr sz="2000" b="0" i="0">
                <a:solidFill>
                  <a:srgbClr val="1D2A22"/>
                </a:solidFill>
                <a:latin typeface="Calibri"/>
              </a:rPr>
              <a:t>· Habitat creation and maintenance</a:t>
            </a:r>
          </a:p>
        </p:txBody>
      </p:sp>
      <p:sp>
        <p:nvSpPr>
          <p:cNvPr id="8" name="TextBox 7"/>
          <p:cNvSpPr txBox="1"/>
          <p:nvPr/>
        </p:nvSpPr>
        <p:spPr>
          <a:xfrm>
            <a:off x="960120" y="3447288"/>
            <a:ext cx="4892040" cy="603503"/>
          </a:xfrm>
          <a:prstGeom prst="rect">
            <a:avLst/>
          </a:prstGeom>
          <a:noFill/>
        </p:spPr>
        <p:txBody>
          <a:bodyPr wrap="square" lIns="0" tIns="0" rIns="0" bIns="0" anchor="t">
            <a:noAutofit/>
          </a:bodyPr>
          <a:lstStyle/>
          <a:p>
            <a:pPr algn="l"/>
            <a:r>
              <a:rPr sz="2000" b="0" i="0">
                <a:solidFill>
                  <a:srgbClr val="1D2A22"/>
                </a:solidFill>
                <a:latin typeface="Calibri"/>
              </a:rPr>
              <a:t>· Pollination and dispersal of seeds and other propagules</a:t>
            </a:r>
          </a:p>
        </p:txBody>
      </p:sp>
      <p:sp>
        <p:nvSpPr>
          <p:cNvPr id="9" name="TextBox 8"/>
          <p:cNvSpPr txBox="1"/>
          <p:nvPr/>
        </p:nvSpPr>
        <p:spPr>
          <a:xfrm>
            <a:off x="960120" y="4041648"/>
            <a:ext cx="4892040" cy="329184"/>
          </a:xfrm>
          <a:prstGeom prst="rect">
            <a:avLst/>
          </a:prstGeom>
          <a:noFill/>
        </p:spPr>
        <p:txBody>
          <a:bodyPr wrap="square" lIns="0" tIns="0" rIns="0" bIns="0" anchor="t">
            <a:noAutofit/>
          </a:bodyPr>
          <a:lstStyle/>
          <a:p>
            <a:pPr algn="l"/>
            <a:r>
              <a:rPr sz="2000" b="0" i="0">
                <a:solidFill>
                  <a:srgbClr val="1D2A22"/>
                </a:solidFill>
                <a:latin typeface="Calibri"/>
              </a:rPr>
              <a:t>· Regulation of air quality</a:t>
            </a:r>
          </a:p>
        </p:txBody>
      </p:sp>
      <p:sp>
        <p:nvSpPr>
          <p:cNvPr id="10" name="TextBox 9"/>
          <p:cNvSpPr txBox="1"/>
          <p:nvPr/>
        </p:nvSpPr>
        <p:spPr>
          <a:xfrm>
            <a:off x="960120" y="4361688"/>
            <a:ext cx="4892040" cy="329184"/>
          </a:xfrm>
          <a:prstGeom prst="rect">
            <a:avLst/>
          </a:prstGeom>
          <a:noFill/>
        </p:spPr>
        <p:txBody>
          <a:bodyPr wrap="square" lIns="0" tIns="0" rIns="0" bIns="0" anchor="t">
            <a:noAutofit/>
          </a:bodyPr>
          <a:lstStyle/>
          <a:p>
            <a:pPr algn="l"/>
            <a:r>
              <a:rPr sz="2000" b="0" i="0">
                <a:solidFill>
                  <a:srgbClr val="1D2A22"/>
                </a:solidFill>
                <a:latin typeface="Calibri"/>
              </a:rPr>
              <a:t>· Regulation of climate</a:t>
            </a:r>
          </a:p>
        </p:txBody>
      </p:sp>
      <p:sp>
        <p:nvSpPr>
          <p:cNvPr id="11" name="TextBox 10"/>
          <p:cNvSpPr txBox="1"/>
          <p:nvPr/>
        </p:nvSpPr>
        <p:spPr>
          <a:xfrm>
            <a:off x="960120" y="4681727"/>
            <a:ext cx="4892040" cy="329184"/>
          </a:xfrm>
          <a:prstGeom prst="rect">
            <a:avLst/>
          </a:prstGeom>
          <a:noFill/>
        </p:spPr>
        <p:txBody>
          <a:bodyPr wrap="square" lIns="0" tIns="0" rIns="0" bIns="0" anchor="t">
            <a:noAutofit/>
          </a:bodyPr>
          <a:lstStyle/>
          <a:p>
            <a:pPr algn="l"/>
            <a:r>
              <a:rPr sz="2000" b="0" i="0">
                <a:solidFill>
                  <a:srgbClr val="1D2A22"/>
                </a:solidFill>
                <a:latin typeface="Calibri"/>
              </a:rPr>
              <a:t>· Regulation of ocean acidification</a:t>
            </a:r>
          </a:p>
        </p:txBody>
      </p:sp>
      <p:sp>
        <p:nvSpPr>
          <p:cNvPr id="12" name="TextBox 11"/>
          <p:cNvSpPr txBox="1"/>
          <p:nvPr/>
        </p:nvSpPr>
        <p:spPr>
          <a:xfrm>
            <a:off x="960120" y="5001767"/>
            <a:ext cx="4892040" cy="603503"/>
          </a:xfrm>
          <a:prstGeom prst="rect">
            <a:avLst/>
          </a:prstGeom>
          <a:noFill/>
        </p:spPr>
        <p:txBody>
          <a:bodyPr wrap="square" lIns="0" tIns="0" rIns="0" bIns="0" anchor="t">
            <a:noAutofit/>
          </a:bodyPr>
          <a:lstStyle/>
          <a:p>
            <a:pPr algn="l"/>
            <a:r>
              <a:rPr sz="2000" b="0" i="0">
                <a:solidFill>
                  <a:srgbClr val="1D2A22"/>
                </a:solidFill>
                <a:latin typeface="Calibri"/>
              </a:rPr>
              <a:t>· Regulation of freshwater quantity, location and timing</a:t>
            </a:r>
          </a:p>
        </p:txBody>
      </p:sp>
      <p:sp>
        <p:nvSpPr>
          <p:cNvPr id="13" name="TextBox 12"/>
          <p:cNvSpPr txBox="1"/>
          <p:nvPr/>
        </p:nvSpPr>
        <p:spPr>
          <a:xfrm>
            <a:off x="960120" y="5596127"/>
            <a:ext cx="4892040" cy="603503"/>
          </a:xfrm>
          <a:prstGeom prst="rect">
            <a:avLst/>
          </a:prstGeom>
          <a:noFill/>
        </p:spPr>
        <p:txBody>
          <a:bodyPr wrap="square" lIns="0" tIns="0" rIns="0" bIns="0" anchor="t">
            <a:noAutofit/>
          </a:bodyPr>
          <a:lstStyle/>
          <a:p>
            <a:pPr algn="l"/>
            <a:r>
              <a:rPr sz="2000" b="0" i="0">
                <a:solidFill>
                  <a:srgbClr val="1D2A22"/>
                </a:solidFill>
                <a:latin typeface="Calibri"/>
              </a:rPr>
              <a:t>· Regulation of freshwater and coastal water quality</a:t>
            </a:r>
          </a:p>
        </p:txBody>
      </p:sp>
      <p:sp>
        <p:nvSpPr>
          <p:cNvPr id="14" name="TextBox 13"/>
          <p:cNvSpPr txBox="1"/>
          <p:nvPr/>
        </p:nvSpPr>
        <p:spPr>
          <a:xfrm>
            <a:off x="6217920" y="3127248"/>
            <a:ext cx="4892040" cy="603503"/>
          </a:xfrm>
          <a:prstGeom prst="rect">
            <a:avLst/>
          </a:prstGeom>
          <a:noFill/>
        </p:spPr>
        <p:txBody>
          <a:bodyPr wrap="square" lIns="0" tIns="0" rIns="0" bIns="0" anchor="t">
            <a:noAutofit/>
          </a:bodyPr>
          <a:lstStyle/>
          <a:p>
            <a:pPr algn="l"/>
            <a:r>
              <a:rPr sz="2000" b="0" i="0">
                <a:solidFill>
                  <a:srgbClr val="1D2A22"/>
                </a:solidFill>
                <a:latin typeface="Calibri"/>
              </a:rPr>
              <a:t>· Formation, protection and decontamination of soils</a:t>
            </a:r>
          </a:p>
        </p:txBody>
      </p:sp>
      <p:sp>
        <p:nvSpPr>
          <p:cNvPr id="15" name="TextBox 14"/>
          <p:cNvSpPr txBox="1"/>
          <p:nvPr/>
        </p:nvSpPr>
        <p:spPr>
          <a:xfrm>
            <a:off x="6217920" y="3721608"/>
            <a:ext cx="4892040" cy="329184"/>
          </a:xfrm>
          <a:prstGeom prst="rect">
            <a:avLst/>
          </a:prstGeom>
          <a:noFill/>
        </p:spPr>
        <p:txBody>
          <a:bodyPr wrap="square" lIns="0" tIns="0" rIns="0" bIns="0" anchor="t">
            <a:noAutofit/>
          </a:bodyPr>
          <a:lstStyle/>
          <a:p>
            <a:pPr algn="l"/>
            <a:r>
              <a:rPr sz="2000" b="0" i="0">
                <a:solidFill>
                  <a:srgbClr val="1D2A22"/>
                </a:solidFill>
                <a:latin typeface="Calibri"/>
              </a:rPr>
              <a:t>· Regulation of hazards and extreme events</a:t>
            </a:r>
          </a:p>
        </p:txBody>
      </p:sp>
      <p:sp>
        <p:nvSpPr>
          <p:cNvPr id="16" name="TextBox 15"/>
          <p:cNvSpPr txBox="1"/>
          <p:nvPr/>
        </p:nvSpPr>
        <p:spPr>
          <a:xfrm>
            <a:off x="6217920" y="4041648"/>
            <a:ext cx="4892040" cy="603503"/>
          </a:xfrm>
          <a:prstGeom prst="rect">
            <a:avLst/>
          </a:prstGeom>
          <a:noFill/>
        </p:spPr>
        <p:txBody>
          <a:bodyPr wrap="square" lIns="0" tIns="0" rIns="0" bIns="0" anchor="t">
            <a:noAutofit/>
          </a:bodyPr>
          <a:lstStyle/>
          <a:p>
            <a:pPr algn="l"/>
            <a:r>
              <a:rPr sz="2000" b="0" i="0">
                <a:solidFill>
                  <a:srgbClr val="1D2A22"/>
                </a:solidFill>
                <a:latin typeface="Calibri"/>
              </a:rPr>
              <a:t>· Regulation of detrimental organisms and biological processes</a:t>
            </a:r>
          </a:p>
        </p:txBody>
      </p:sp>
      <p:sp>
        <p:nvSpPr>
          <p:cNvPr id="17" name="TextBox 16"/>
          <p:cNvSpPr txBox="1"/>
          <p:nvPr/>
        </p:nvSpPr>
        <p:spPr>
          <a:xfrm>
            <a:off x="6217920" y="4636008"/>
            <a:ext cx="4892040" cy="329184"/>
          </a:xfrm>
          <a:prstGeom prst="rect">
            <a:avLst/>
          </a:prstGeom>
          <a:noFill/>
        </p:spPr>
        <p:txBody>
          <a:bodyPr wrap="square" lIns="0" tIns="0" rIns="0" bIns="0" anchor="t">
            <a:noAutofit/>
          </a:bodyPr>
          <a:lstStyle/>
          <a:p>
            <a:pPr algn="l"/>
            <a:r>
              <a:rPr sz="2000" b="0" i="0">
                <a:solidFill>
                  <a:srgbClr val="1D2A22"/>
                </a:solidFill>
                <a:latin typeface="Calibri"/>
              </a:rPr>
              <a:t>· Learning and inspiration</a:t>
            </a:r>
          </a:p>
        </p:txBody>
      </p:sp>
      <p:sp>
        <p:nvSpPr>
          <p:cNvPr id="18" name="TextBox 17"/>
          <p:cNvSpPr txBox="1"/>
          <p:nvPr/>
        </p:nvSpPr>
        <p:spPr>
          <a:xfrm>
            <a:off x="6217920" y="4956048"/>
            <a:ext cx="4892040" cy="329184"/>
          </a:xfrm>
          <a:prstGeom prst="rect">
            <a:avLst/>
          </a:prstGeom>
          <a:noFill/>
        </p:spPr>
        <p:txBody>
          <a:bodyPr wrap="square" lIns="0" tIns="0" rIns="0" bIns="0" anchor="t">
            <a:noAutofit/>
          </a:bodyPr>
          <a:lstStyle/>
          <a:p>
            <a:pPr algn="l"/>
            <a:r>
              <a:rPr sz="2000" b="0" i="0">
                <a:solidFill>
                  <a:srgbClr val="1D2A22"/>
                </a:solidFill>
                <a:latin typeface="Calibri"/>
              </a:rPr>
              <a:t>· Physical and psychological experiences</a:t>
            </a:r>
          </a:p>
        </p:txBody>
      </p:sp>
      <p:sp>
        <p:nvSpPr>
          <p:cNvPr id="19" name="TextBox 18"/>
          <p:cNvSpPr txBox="1"/>
          <p:nvPr/>
        </p:nvSpPr>
        <p:spPr>
          <a:xfrm>
            <a:off x="6217920" y="5276088"/>
            <a:ext cx="4892040" cy="329184"/>
          </a:xfrm>
          <a:prstGeom prst="rect">
            <a:avLst/>
          </a:prstGeom>
          <a:noFill/>
        </p:spPr>
        <p:txBody>
          <a:bodyPr wrap="square" lIns="0" tIns="0" rIns="0" bIns="0" anchor="t">
            <a:noAutofit/>
          </a:bodyPr>
          <a:lstStyle/>
          <a:p>
            <a:pPr algn="l"/>
            <a:r>
              <a:rPr sz="2000" b="0" i="0">
                <a:solidFill>
                  <a:srgbClr val="1D2A22"/>
                </a:solidFill>
                <a:latin typeface="Calibri"/>
              </a:rPr>
              <a:t>· Supporting identities</a:t>
            </a:r>
          </a:p>
        </p:txBody>
      </p:sp>
      <p:sp>
        <p:nvSpPr>
          <p:cNvPr id="20" name="TextBox 19"/>
          <p:cNvSpPr txBox="1"/>
          <p:nvPr/>
        </p:nvSpPr>
        <p:spPr>
          <a:xfrm>
            <a:off x="6217920" y="5596127"/>
            <a:ext cx="4892040" cy="329184"/>
          </a:xfrm>
          <a:prstGeom prst="rect">
            <a:avLst/>
          </a:prstGeom>
          <a:noFill/>
        </p:spPr>
        <p:txBody>
          <a:bodyPr wrap="square" lIns="0" tIns="0" rIns="0" bIns="0" anchor="t">
            <a:noAutofit/>
          </a:bodyPr>
          <a:lstStyle/>
          <a:p>
            <a:pPr algn="l"/>
            <a:r>
              <a:rPr sz="2000" b="0" i="0">
                <a:solidFill>
                  <a:srgbClr val="1D2A22"/>
                </a:solidFill>
                <a:latin typeface="Calibri"/>
              </a:rPr>
              <a:t>· Maintenance of options</a:t>
            </a:r>
          </a:p>
        </p:txBody>
      </p:sp>
      <p:sp>
        <p:nvSpPr>
          <p:cNvPr id="21" name="TextBox 20"/>
          <p:cNvSpPr txBox="1"/>
          <p:nvPr/>
        </p:nvSpPr>
        <p:spPr>
          <a:xfrm>
            <a:off x="640080" y="6565392"/>
            <a:ext cx="10881360" cy="292608"/>
          </a:xfrm>
          <a:prstGeom prst="rect">
            <a:avLst/>
          </a:prstGeom>
          <a:noFill/>
        </p:spPr>
        <p:txBody>
          <a:bodyPr wrap="square" lIns="0" tIns="0" rIns="0" bIns="0" anchor="t">
            <a:noAutofit/>
          </a:bodyPr>
          <a:lstStyle/>
          <a:p>
            <a:pPr algn="l"/>
            <a:r>
              <a:rPr sz="2000" b="0" i="0">
                <a:solidFill>
                  <a:srgbClr val="5E6B62"/>
                </a:solidFill>
                <a:latin typeface="Calibri"/>
              </a:rPr>
              <a:t>Redrawn from IPBES Global Assessment 2019 (Díaz et al. 2019), Fig. 1   ·   slide 15/24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1051560"/>
          </a:xfrm>
          <a:prstGeom prst="rect">
            <a:avLst/>
          </a:prstGeom>
          <a:noFill/>
        </p:spPr>
        <p:txBody>
          <a:bodyPr wrap="square" lIns="0" tIns="0" rIns="0" bIns="0" anchor="t">
            <a:noAutofit/>
          </a:bodyPr>
          <a:lstStyle/>
          <a:p>
            <a:pPr algn="l"/>
            <a:r>
              <a:rPr sz="3200" b="1" i="0">
                <a:solidFill>
                  <a:srgbClr val="1B4332"/>
                </a:solidFill>
                <a:latin typeface="Cambria"/>
              </a:rPr>
              <a:t>We take far more living matter from the world, and not from where we consume it</a:t>
            </a:r>
          </a:p>
        </p:txBody>
      </p:sp>
      <p:graphicFrame>
        <p:nvGraphicFramePr>
          <p:cNvPr id="3" name="Chart 2"/>
          <p:cNvGraphicFramePr>
            <a:graphicFrameLocks noGrp="1"/>
          </p:cNvGraphicFramePr>
          <p:nvPr/>
        </p:nvGraphicFramePr>
        <p:xfrm>
          <a:off x="640080" y="1737360"/>
          <a:ext cx="4846320" cy="3931920"/>
        </p:xfrm>
        <a:graphic>
          <a:graphicData uri="http://schemas.openxmlformats.org/drawingml/2006/chart">
            <c:chart xmlns:c="http://schemas.openxmlformats.org/drawingml/2006/chart" xmlns:r="http://schemas.openxmlformats.org/officeDocument/2006/relationships" r:id="rId2"/>
          </a:graphicData>
        </a:graphic>
      </p:graphicFrame>
      <p:sp>
        <p:nvSpPr>
          <p:cNvPr id="4" name="Rounded Rectangle 3"/>
          <p:cNvSpPr/>
          <p:nvPr/>
        </p:nvSpPr>
        <p:spPr>
          <a:xfrm>
            <a:off x="5806440" y="1737360"/>
            <a:ext cx="5715000" cy="1828800"/>
          </a:xfrm>
          <a:prstGeom prst="roundRect">
            <a:avLst>
              <a:gd name="adj" fmla="val 9000"/>
            </a:avLst>
          </a:prstGeom>
          <a:solidFill>
            <a:srgbClr val="F6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080760" y="1920240"/>
            <a:ext cx="5166360" cy="1554480"/>
          </a:xfrm>
          <a:prstGeom prst="rect">
            <a:avLst/>
          </a:prstGeom>
          <a:noFill/>
        </p:spPr>
        <p:txBody>
          <a:bodyPr wrap="square" lIns="0" tIns="0" rIns="0" bIns="0" anchor="t">
            <a:noAutofit/>
          </a:bodyPr>
          <a:lstStyle/>
          <a:p>
            <a:pPr algn="l"/>
            <a:r>
              <a:rPr sz="3200" b="1" i="0">
                <a:solidFill>
                  <a:srgbClr val="C1543C"/>
                </a:solidFill>
                <a:latin typeface="Cambria"/>
              </a:rPr>
              <a:t>90%</a:t>
            </a:r>
            <a:r>
              <a:rPr sz="2000" b="0" i="0">
                <a:solidFill>
                  <a:srgbClr val="1D2A22"/>
                </a:solidFill>
                <a:latin typeface="Calibri"/>
              </a:rPr>
              <a:t>  of land-related biodiversity loss and water stress comes from extracting and processing biomass.</a:t>
            </a:r>
          </a:p>
        </p:txBody>
      </p:sp>
      <p:sp>
        <p:nvSpPr>
          <p:cNvPr id="6" name="Rounded Rectangle 5"/>
          <p:cNvSpPr/>
          <p:nvPr/>
        </p:nvSpPr>
        <p:spPr>
          <a:xfrm>
            <a:off x="5806440" y="3749039"/>
            <a:ext cx="5715000" cy="1920240"/>
          </a:xfrm>
          <a:prstGeom prst="roundRect">
            <a:avLst>
              <a:gd name="adj" fmla="val 9000"/>
            </a:avLst>
          </a:prstGeom>
          <a:solidFill>
            <a:srgbClr val="EA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080760" y="3931920"/>
            <a:ext cx="5166360" cy="1645920"/>
          </a:xfrm>
          <a:prstGeom prst="rect">
            <a:avLst/>
          </a:prstGeom>
          <a:noFill/>
        </p:spPr>
        <p:txBody>
          <a:bodyPr wrap="square" lIns="0" tIns="0" rIns="0" bIns="0" anchor="t">
            <a:noAutofit/>
          </a:bodyPr>
          <a:lstStyle/>
          <a:p>
            <a:pPr algn="l"/>
            <a:r>
              <a:rPr sz="2000" b="1" i="0">
                <a:solidFill>
                  <a:srgbClr val="1B4332"/>
                </a:solidFill>
                <a:latin typeface="Calibri"/>
              </a:rPr>
              <a:t>Who consumes is not who extracts. </a:t>
            </a:r>
            <a:r>
              <a:rPr sz="2000" b="0" i="0">
                <a:solidFill>
                  <a:srgbClr val="1D2A22"/>
                </a:solidFill>
                <a:latin typeface="Calibri"/>
              </a:rPr>
              <a:t>Per person, high-income countries use about 13 times the materials of low-income countries. Rising consumption in richer countries is met by extraction elsewhere.</a:t>
            </a:r>
          </a:p>
        </p:txBody>
      </p:sp>
      <p:sp>
        <p:nvSpPr>
          <p:cNvPr id="8" name="TextBox 7"/>
          <p:cNvSpPr txBox="1"/>
          <p:nvPr/>
        </p:nvSpPr>
        <p:spPr>
          <a:xfrm>
            <a:off x="640080" y="5897880"/>
            <a:ext cx="10881360" cy="621792"/>
          </a:xfrm>
          <a:prstGeom prst="rect">
            <a:avLst/>
          </a:prstGeom>
          <a:noFill/>
        </p:spPr>
        <p:txBody>
          <a:bodyPr wrap="square" lIns="0" tIns="0" rIns="0" bIns="0" anchor="t">
            <a:noAutofit/>
          </a:bodyPr>
          <a:lstStyle/>
          <a:p>
            <a:pPr algn="l"/>
            <a:r>
              <a:rPr sz="2000" b="0" i="0">
                <a:solidFill>
                  <a:srgbClr val="5E6B62"/>
                </a:solidFill>
                <a:latin typeface="Calibri"/>
              </a:rPr>
              <a:t>Panel C of Díaz et al. 2019, Science 366:eaax3100, Fig. 5, redrawn with values from the UNEP International Resource Panel (Global Resources Outlook 2019, 2024)</a:t>
            </a:r>
          </a:p>
        </p:txBody>
      </p:sp>
      <p:sp>
        <p:nvSpPr>
          <p:cNvPr id="9" name="TextBox 8"/>
          <p:cNvSpPr txBox="1"/>
          <p:nvPr/>
        </p:nvSpPr>
        <p:spPr>
          <a:xfrm>
            <a:off x="640080" y="6565392"/>
            <a:ext cx="6400800" cy="292608"/>
          </a:xfrm>
          <a:prstGeom prst="rect">
            <a:avLst/>
          </a:prstGeom>
          <a:noFill/>
        </p:spPr>
        <p:txBody>
          <a:bodyPr wrap="square" lIns="0" tIns="0" rIns="0" bIns="0" anchor="t">
            <a:noAutofit/>
          </a:bodyPr>
          <a:lstStyle/>
          <a:p>
            <a:pPr algn="l"/>
            <a:r>
              <a:rPr sz="2000" b="0" i="0">
                <a:solidFill>
                  <a:srgbClr val="5E6B62"/>
                </a:solidFill>
                <a:latin typeface="Calibri"/>
              </a:rPr>
              <a:t>Part 1 · Safe limits   ·   slide 18/24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4E7870-A8F2-1E30-1025-81CC8828140F}"/>
              </a:ext>
            </a:extLst>
          </p:cNvPr>
          <p:cNvPicPr>
            <a:picLocks noChangeAspect="1"/>
          </p:cNvPicPr>
          <p:nvPr/>
        </p:nvPicPr>
        <p:blipFill>
          <a:blip r:embed="rId2"/>
          <a:stretch>
            <a:fillRect/>
          </a:stretch>
        </p:blipFill>
        <p:spPr>
          <a:xfrm>
            <a:off x="3532971" y="147179"/>
            <a:ext cx="8630854" cy="6563641"/>
          </a:xfrm>
          <a:prstGeom prst="rect">
            <a:avLst/>
          </a:prstGeom>
        </p:spPr>
      </p:pic>
      <p:sp>
        <p:nvSpPr>
          <p:cNvPr id="5" name="TextBox 4">
            <a:extLst>
              <a:ext uri="{FF2B5EF4-FFF2-40B4-BE49-F238E27FC236}">
                <a16:creationId xmlns:a16="http://schemas.microsoft.com/office/drawing/2014/main" id="{61CD00D1-EE05-C42A-E1FD-5BC809C95CEF}"/>
              </a:ext>
            </a:extLst>
          </p:cNvPr>
          <p:cNvSpPr txBox="1"/>
          <p:nvPr/>
        </p:nvSpPr>
        <p:spPr>
          <a:xfrm>
            <a:off x="201268" y="270558"/>
            <a:ext cx="4585336" cy="1754326"/>
          </a:xfrm>
          <a:prstGeom prst="rect">
            <a:avLst/>
          </a:prstGeom>
          <a:noFill/>
        </p:spPr>
        <p:txBody>
          <a:bodyPr wrap="square">
            <a:spAutoFit/>
          </a:bodyPr>
          <a:lstStyle/>
          <a:p>
            <a:r>
              <a:rPr lang="en-US" sz="3600" dirty="0"/>
              <a:t>What is Figure 1 from this paper showing? (Review from last time)</a:t>
            </a:r>
          </a:p>
        </p:txBody>
      </p:sp>
      <p:pic>
        <p:nvPicPr>
          <p:cNvPr id="7" name="Picture 6">
            <a:extLst>
              <a:ext uri="{FF2B5EF4-FFF2-40B4-BE49-F238E27FC236}">
                <a16:creationId xmlns:a16="http://schemas.microsoft.com/office/drawing/2014/main" id="{398E846B-8718-1B63-F187-97ED6F1BF7DC}"/>
              </a:ext>
            </a:extLst>
          </p:cNvPr>
          <p:cNvPicPr>
            <a:picLocks noChangeAspect="1"/>
          </p:cNvPicPr>
          <p:nvPr/>
        </p:nvPicPr>
        <p:blipFill>
          <a:blip r:embed="rId3"/>
          <a:stretch>
            <a:fillRect/>
          </a:stretch>
        </p:blipFill>
        <p:spPr>
          <a:xfrm>
            <a:off x="201268" y="2089809"/>
            <a:ext cx="4585336" cy="2678379"/>
          </a:xfrm>
          <a:prstGeom prst="rect">
            <a:avLst/>
          </a:prstGeom>
        </p:spPr>
      </p:pic>
    </p:spTree>
    <p:extLst>
      <p:ext uri="{BB962C8B-B14F-4D97-AF65-F5344CB8AC3E}">
        <p14:creationId xmlns:p14="http://schemas.microsoft.com/office/powerpoint/2010/main" val="124535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1051560"/>
          </a:xfrm>
          <a:prstGeom prst="rect">
            <a:avLst/>
          </a:prstGeom>
          <a:noFill/>
        </p:spPr>
        <p:txBody>
          <a:bodyPr wrap="square" lIns="0" tIns="0" rIns="0" bIns="0" anchor="t">
            <a:noAutofit/>
          </a:bodyPr>
          <a:lstStyle/>
          <a:p>
            <a:pPr algn="l"/>
            <a:r>
              <a:rPr sz="3200" b="1" i="0">
                <a:solidFill>
                  <a:srgbClr val="1B4332"/>
                </a:solidFill>
                <a:latin typeface="Cambria"/>
              </a:rPr>
              <a:t>What each boundary actually measures</a:t>
            </a:r>
          </a:p>
        </p:txBody>
      </p:sp>
      <p:sp>
        <p:nvSpPr>
          <p:cNvPr id="3" name="Oval 2"/>
          <p:cNvSpPr/>
          <p:nvPr/>
        </p:nvSpPr>
        <p:spPr>
          <a:xfrm>
            <a:off x="640080" y="1366219"/>
            <a:ext cx="274320" cy="274320"/>
          </a:xfrm>
          <a:prstGeom prst="ellipse">
            <a:avLst/>
          </a:prstGeom>
          <a:solidFill>
            <a:srgbClr val="C1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051560" y="1293067"/>
            <a:ext cx="3566160" cy="457200"/>
          </a:xfrm>
          <a:prstGeom prst="rect">
            <a:avLst/>
          </a:prstGeom>
          <a:noFill/>
        </p:spPr>
        <p:txBody>
          <a:bodyPr wrap="square" lIns="0" tIns="0" rIns="0" bIns="0" anchor="t">
            <a:noAutofit/>
          </a:bodyPr>
          <a:lstStyle/>
          <a:p>
            <a:pPr algn="l"/>
            <a:r>
              <a:rPr sz="2000" b="1" i="0">
                <a:solidFill>
                  <a:srgbClr val="1B4332"/>
                </a:solidFill>
                <a:latin typeface="Calibri"/>
              </a:rPr>
              <a:t>Climate change</a:t>
            </a:r>
          </a:p>
        </p:txBody>
      </p:sp>
      <p:sp>
        <p:nvSpPr>
          <p:cNvPr id="5" name="TextBox 4"/>
          <p:cNvSpPr txBox="1"/>
          <p:nvPr/>
        </p:nvSpPr>
        <p:spPr>
          <a:xfrm>
            <a:off x="4709160" y="1293067"/>
            <a:ext cx="6812280" cy="457200"/>
          </a:xfrm>
          <a:prstGeom prst="rect">
            <a:avLst/>
          </a:prstGeom>
          <a:noFill/>
        </p:spPr>
        <p:txBody>
          <a:bodyPr wrap="square" lIns="0" tIns="0" rIns="0" bIns="0" anchor="t">
            <a:noAutofit/>
          </a:bodyPr>
          <a:lstStyle/>
          <a:p>
            <a:pPr algn="l"/>
            <a:r>
              <a:rPr sz="2000" b="0" i="0">
                <a:solidFill>
                  <a:srgbClr val="1D2A22"/>
                </a:solidFill>
                <a:latin typeface="Calibri"/>
              </a:rPr>
              <a:t>CO₂ concentration; radiative forcing</a:t>
            </a:r>
          </a:p>
        </p:txBody>
      </p:sp>
      <p:sp>
        <p:nvSpPr>
          <p:cNvPr id="6" name="Oval 5"/>
          <p:cNvSpPr/>
          <p:nvPr/>
        </p:nvSpPr>
        <p:spPr>
          <a:xfrm>
            <a:off x="640080" y="1878283"/>
            <a:ext cx="274320" cy="274320"/>
          </a:xfrm>
          <a:prstGeom prst="ellipse">
            <a:avLst/>
          </a:prstGeom>
          <a:solidFill>
            <a:srgbClr val="8A2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51560" y="1805131"/>
            <a:ext cx="3566160" cy="457200"/>
          </a:xfrm>
          <a:prstGeom prst="rect">
            <a:avLst/>
          </a:prstGeom>
          <a:noFill/>
        </p:spPr>
        <p:txBody>
          <a:bodyPr wrap="square" lIns="0" tIns="0" rIns="0" bIns="0" anchor="t">
            <a:noAutofit/>
          </a:bodyPr>
          <a:lstStyle/>
          <a:p>
            <a:pPr algn="l"/>
            <a:r>
              <a:rPr sz="2000" b="1" i="0">
                <a:solidFill>
                  <a:srgbClr val="1B4332"/>
                </a:solidFill>
                <a:latin typeface="Calibri"/>
              </a:rPr>
              <a:t>Biosphere integrity</a:t>
            </a:r>
          </a:p>
        </p:txBody>
      </p:sp>
      <p:sp>
        <p:nvSpPr>
          <p:cNvPr id="8" name="TextBox 7"/>
          <p:cNvSpPr txBox="1"/>
          <p:nvPr/>
        </p:nvSpPr>
        <p:spPr>
          <a:xfrm>
            <a:off x="4709160" y="1805131"/>
            <a:ext cx="6812280" cy="457200"/>
          </a:xfrm>
          <a:prstGeom prst="rect">
            <a:avLst/>
          </a:prstGeom>
          <a:noFill/>
        </p:spPr>
        <p:txBody>
          <a:bodyPr wrap="square" lIns="0" tIns="0" rIns="0" bIns="0" anchor="t">
            <a:noAutofit/>
          </a:bodyPr>
          <a:lstStyle/>
          <a:p>
            <a:pPr algn="l"/>
            <a:r>
              <a:rPr sz="2000" b="0" i="0">
                <a:solidFill>
                  <a:srgbClr val="1D2A22"/>
                </a:solidFill>
                <a:latin typeface="Calibri"/>
              </a:rPr>
              <a:t>Extinction rate (E/MSY); energy captured by plants</a:t>
            </a:r>
          </a:p>
        </p:txBody>
      </p:sp>
      <p:sp>
        <p:nvSpPr>
          <p:cNvPr id="9" name="Oval 8"/>
          <p:cNvSpPr/>
          <p:nvPr/>
        </p:nvSpPr>
        <p:spPr>
          <a:xfrm>
            <a:off x="640080" y="2390347"/>
            <a:ext cx="274320" cy="274320"/>
          </a:xfrm>
          <a:prstGeom prst="ellipse">
            <a:avLst/>
          </a:prstGeom>
          <a:solidFill>
            <a:srgbClr val="C1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51560" y="2317195"/>
            <a:ext cx="3566160" cy="457200"/>
          </a:xfrm>
          <a:prstGeom prst="rect">
            <a:avLst/>
          </a:prstGeom>
          <a:noFill/>
        </p:spPr>
        <p:txBody>
          <a:bodyPr wrap="square" lIns="0" tIns="0" rIns="0" bIns="0" anchor="t">
            <a:noAutofit/>
          </a:bodyPr>
          <a:lstStyle/>
          <a:p>
            <a:pPr algn="l"/>
            <a:r>
              <a:rPr sz="2000" b="1" i="0">
                <a:solidFill>
                  <a:srgbClr val="1B4332"/>
                </a:solidFill>
                <a:latin typeface="Calibri"/>
              </a:rPr>
              <a:t>Land-system change</a:t>
            </a:r>
          </a:p>
        </p:txBody>
      </p:sp>
      <p:sp>
        <p:nvSpPr>
          <p:cNvPr id="11" name="TextBox 10"/>
          <p:cNvSpPr txBox="1"/>
          <p:nvPr/>
        </p:nvSpPr>
        <p:spPr>
          <a:xfrm>
            <a:off x="4709160" y="2317195"/>
            <a:ext cx="6812280" cy="457200"/>
          </a:xfrm>
          <a:prstGeom prst="rect">
            <a:avLst/>
          </a:prstGeom>
          <a:noFill/>
        </p:spPr>
        <p:txBody>
          <a:bodyPr wrap="square" lIns="0" tIns="0" rIns="0" bIns="0" anchor="t">
            <a:noAutofit/>
          </a:bodyPr>
          <a:lstStyle/>
          <a:p>
            <a:pPr algn="l"/>
            <a:r>
              <a:rPr sz="2000" b="0" i="0">
                <a:solidFill>
                  <a:srgbClr val="1D2A22"/>
                </a:solidFill>
                <a:latin typeface="Calibri"/>
              </a:rPr>
              <a:t>Forest cover remaining, by biome</a:t>
            </a:r>
          </a:p>
        </p:txBody>
      </p:sp>
      <p:sp>
        <p:nvSpPr>
          <p:cNvPr id="12" name="Oval 11"/>
          <p:cNvSpPr/>
          <p:nvPr/>
        </p:nvSpPr>
        <p:spPr>
          <a:xfrm>
            <a:off x="640080" y="2902411"/>
            <a:ext cx="274320" cy="274320"/>
          </a:xfrm>
          <a:prstGeom prst="ellipse">
            <a:avLst/>
          </a:prstGeom>
          <a:solidFill>
            <a:srgbClr val="C1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51560" y="2829259"/>
            <a:ext cx="3566160" cy="457200"/>
          </a:xfrm>
          <a:prstGeom prst="rect">
            <a:avLst/>
          </a:prstGeom>
          <a:noFill/>
        </p:spPr>
        <p:txBody>
          <a:bodyPr wrap="square" lIns="0" tIns="0" rIns="0" bIns="0" anchor="t">
            <a:noAutofit/>
          </a:bodyPr>
          <a:lstStyle/>
          <a:p>
            <a:pPr algn="l"/>
            <a:r>
              <a:rPr sz="2000" b="1" i="0">
                <a:solidFill>
                  <a:srgbClr val="1B4332"/>
                </a:solidFill>
                <a:latin typeface="Calibri"/>
              </a:rPr>
              <a:t>Freshwater change</a:t>
            </a:r>
          </a:p>
        </p:txBody>
      </p:sp>
      <p:sp>
        <p:nvSpPr>
          <p:cNvPr id="14" name="TextBox 13"/>
          <p:cNvSpPr txBox="1"/>
          <p:nvPr/>
        </p:nvSpPr>
        <p:spPr>
          <a:xfrm>
            <a:off x="4709160" y="2829259"/>
            <a:ext cx="6812280" cy="457200"/>
          </a:xfrm>
          <a:prstGeom prst="rect">
            <a:avLst/>
          </a:prstGeom>
          <a:noFill/>
        </p:spPr>
        <p:txBody>
          <a:bodyPr wrap="square" lIns="0" tIns="0" rIns="0" bIns="0" anchor="t">
            <a:noAutofit/>
          </a:bodyPr>
          <a:lstStyle/>
          <a:p>
            <a:pPr algn="l"/>
            <a:r>
              <a:rPr sz="2000" b="0" i="0">
                <a:solidFill>
                  <a:srgbClr val="1D2A22"/>
                </a:solidFill>
                <a:latin typeface="Calibri"/>
              </a:rPr>
              <a:t>Soil moisture (green); river flow (blue)</a:t>
            </a:r>
          </a:p>
        </p:txBody>
      </p:sp>
      <p:sp>
        <p:nvSpPr>
          <p:cNvPr id="15" name="Oval 14"/>
          <p:cNvSpPr/>
          <p:nvPr/>
        </p:nvSpPr>
        <p:spPr>
          <a:xfrm>
            <a:off x="640080" y="3414475"/>
            <a:ext cx="274320" cy="274320"/>
          </a:xfrm>
          <a:prstGeom prst="ellipse">
            <a:avLst/>
          </a:prstGeom>
          <a:solidFill>
            <a:srgbClr val="8A2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51560" y="3341323"/>
            <a:ext cx="3566160" cy="457200"/>
          </a:xfrm>
          <a:prstGeom prst="rect">
            <a:avLst/>
          </a:prstGeom>
          <a:noFill/>
        </p:spPr>
        <p:txBody>
          <a:bodyPr wrap="square" lIns="0" tIns="0" rIns="0" bIns="0" anchor="t">
            <a:noAutofit/>
          </a:bodyPr>
          <a:lstStyle/>
          <a:p>
            <a:pPr algn="l"/>
            <a:r>
              <a:rPr sz="2000" b="1" i="0">
                <a:solidFill>
                  <a:srgbClr val="1B4332"/>
                </a:solidFill>
                <a:latin typeface="Calibri"/>
              </a:rPr>
              <a:t>Biogeochemical flows</a:t>
            </a:r>
          </a:p>
        </p:txBody>
      </p:sp>
      <p:sp>
        <p:nvSpPr>
          <p:cNvPr id="17" name="TextBox 16"/>
          <p:cNvSpPr txBox="1"/>
          <p:nvPr/>
        </p:nvSpPr>
        <p:spPr>
          <a:xfrm>
            <a:off x="4709160" y="3341323"/>
            <a:ext cx="6812280" cy="457200"/>
          </a:xfrm>
          <a:prstGeom prst="rect">
            <a:avLst/>
          </a:prstGeom>
          <a:noFill/>
        </p:spPr>
        <p:txBody>
          <a:bodyPr wrap="square" lIns="0" tIns="0" rIns="0" bIns="0" anchor="t">
            <a:noAutofit/>
          </a:bodyPr>
          <a:lstStyle/>
          <a:p>
            <a:pPr algn="l"/>
            <a:r>
              <a:rPr sz="2000" b="0" i="0">
                <a:solidFill>
                  <a:srgbClr val="1D2A22"/>
                </a:solidFill>
                <a:latin typeface="Calibri"/>
              </a:rPr>
              <a:t>Nitrogen and phosphorus applied to land</a:t>
            </a:r>
          </a:p>
        </p:txBody>
      </p:sp>
      <p:sp>
        <p:nvSpPr>
          <p:cNvPr id="18" name="Oval 17"/>
          <p:cNvSpPr/>
          <p:nvPr/>
        </p:nvSpPr>
        <p:spPr>
          <a:xfrm>
            <a:off x="640080" y="3926539"/>
            <a:ext cx="274320" cy="274320"/>
          </a:xfrm>
          <a:prstGeom prst="ellipse">
            <a:avLst/>
          </a:prstGeom>
          <a:solidFill>
            <a:srgbClr val="C1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51560" y="3853387"/>
            <a:ext cx="3566160" cy="457200"/>
          </a:xfrm>
          <a:prstGeom prst="rect">
            <a:avLst/>
          </a:prstGeom>
          <a:noFill/>
        </p:spPr>
        <p:txBody>
          <a:bodyPr wrap="square" lIns="0" tIns="0" rIns="0" bIns="0" anchor="t">
            <a:noAutofit/>
          </a:bodyPr>
          <a:lstStyle/>
          <a:p>
            <a:pPr algn="l"/>
            <a:r>
              <a:rPr sz="2000" b="1" i="0">
                <a:solidFill>
                  <a:srgbClr val="1B4332"/>
                </a:solidFill>
                <a:latin typeface="Calibri"/>
              </a:rPr>
              <a:t>Novel entities</a:t>
            </a:r>
          </a:p>
        </p:txBody>
      </p:sp>
      <p:sp>
        <p:nvSpPr>
          <p:cNvPr id="20" name="TextBox 19"/>
          <p:cNvSpPr txBox="1"/>
          <p:nvPr/>
        </p:nvSpPr>
        <p:spPr>
          <a:xfrm>
            <a:off x="4709160" y="3853387"/>
            <a:ext cx="6812280" cy="457200"/>
          </a:xfrm>
          <a:prstGeom prst="rect">
            <a:avLst/>
          </a:prstGeom>
          <a:noFill/>
        </p:spPr>
        <p:txBody>
          <a:bodyPr wrap="square" lIns="0" tIns="0" rIns="0" bIns="0" anchor="t">
            <a:noAutofit/>
          </a:bodyPr>
          <a:lstStyle/>
          <a:p>
            <a:pPr algn="l"/>
            <a:r>
              <a:rPr sz="2000" b="0" i="0">
                <a:solidFill>
                  <a:srgbClr val="1D2A22"/>
                </a:solidFill>
                <a:latin typeface="Calibri"/>
              </a:rPr>
              <a:t>Synthetic chemicals released without safety testing</a:t>
            </a:r>
          </a:p>
        </p:txBody>
      </p:sp>
      <p:sp>
        <p:nvSpPr>
          <p:cNvPr id="21" name="Oval 20"/>
          <p:cNvSpPr/>
          <p:nvPr/>
        </p:nvSpPr>
        <p:spPr>
          <a:xfrm>
            <a:off x="640080" y="4438603"/>
            <a:ext cx="274320" cy="274320"/>
          </a:xfrm>
          <a:prstGeom prst="ellipse">
            <a:avLst/>
          </a:prstGeom>
          <a:solidFill>
            <a:srgbClr val="B9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51560" y="4365451"/>
            <a:ext cx="3566160" cy="457200"/>
          </a:xfrm>
          <a:prstGeom prst="rect">
            <a:avLst/>
          </a:prstGeom>
          <a:noFill/>
        </p:spPr>
        <p:txBody>
          <a:bodyPr wrap="square" lIns="0" tIns="0" rIns="0" bIns="0" anchor="t">
            <a:noAutofit/>
          </a:bodyPr>
          <a:lstStyle/>
          <a:p>
            <a:pPr algn="l"/>
            <a:r>
              <a:rPr sz="2000" b="1" i="0">
                <a:solidFill>
                  <a:srgbClr val="1B4332"/>
                </a:solidFill>
                <a:latin typeface="Calibri"/>
              </a:rPr>
              <a:t>Ocean acidification</a:t>
            </a:r>
          </a:p>
        </p:txBody>
      </p:sp>
      <p:sp>
        <p:nvSpPr>
          <p:cNvPr id="23" name="TextBox 22"/>
          <p:cNvSpPr txBox="1"/>
          <p:nvPr/>
        </p:nvSpPr>
        <p:spPr>
          <a:xfrm>
            <a:off x="4709160" y="4365451"/>
            <a:ext cx="6812280" cy="457200"/>
          </a:xfrm>
          <a:prstGeom prst="rect">
            <a:avLst/>
          </a:prstGeom>
          <a:noFill/>
        </p:spPr>
        <p:txBody>
          <a:bodyPr wrap="square" lIns="0" tIns="0" rIns="0" bIns="0" anchor="t">
            <a:noAutofit/>
          </a:bodyPr>
          <a:lstStyle/>
          <a:p>
            <a:pPr algn="l"/>
            <a:r>
              <a:rPr sz="2000" b="0" i="0">
                <a:solidFill>
                  <a:srgbClr val="1D2A22"/>
                </a:solidFill>
                <a:latin typeface="Calibri"/>
              </a:rPr>
              <a:t>Aragonite saturation of surface seawater</a:t>
            </a:r>
          </a:p>
        </p:txBody>
      </p:sp>
      <p:sp>
        <p:nvSpPr>
          <p:cNvPr id="24" name="Oval 23"/>
          <p:cNvSpPr/>
          <p:nvPr/>
        </p:nvSpPr>
        <p:spPr>
          <a:xfrm>
            <a:off x="640080" y="4950667"/>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051560" y="4877515"/>
            <a:ext cx="3566160" cy="457200"/>
          </a:xfrm>
          <a:prstGeom prst="rect">
            <a:avLst/>
          </a:prstGeom>
          <a:noFill/>
        </p:spPr>
        <p:txBody>
          <a:bodyPr wrap="square" lIns="0" tIns="0" rIns="0" bIns="0" anchor="t">
            <a:noAutofit/>
          </a:bodyPr>
          <a:lstStyle/>
          <a:p>
            <a:pPr algn="l"/>
            <a:r>
              <a:rPr sz="2000" b="1" i="0">
                <a:solidFill>
                  <a:srgbClr val="1B4332"/>
                </a:solidFill>
                <a:latin typeface="Calibri"/>
              </a:rPr>
              <a:t>Stratospheric ozone</a:t>
            </a:r>
          </a:p>
        </p:txBody>
      </p:sp>
      <p:sp>
        <p:nvSpPr>
          <p:cNvPr id="26" name="TextBox 25"/>
          <p:cNvSpPr txBox="1"/>
          <p:nvPr/>
        </p:nvSpPr>
        <p:spPr>
          <a:xfrm>
            <a:off x="4709160" y="4877515"/>
            <a:ext cx="6812280" cy="457200"/>
          </a:xfrm>
          <a:prstGeom prst="rect">
            <a:avLst/>
          </a:prstGeom>
          <a:noFill/>
        </p:spPr>
        <p:txBody>
          <a:bodyPr wrap="square" lIns="0" tIns="0" rIns="0" bIns="0" anchor="t">
            <a:noAutofit/>
          </a:bodyPr>
          <a:lstStyle/>
          <a:p>
            <a:pPr algn="l"/>
            <a:r>
              <a:rPr sz="2000" b="0" i="0">
                <a:solidFill>
                  <a:srgbClr val="1D2A22"/>
                </a:solidFill>
                <a:latin typeface="Calibri"/>
              </a:rPr>
              <a:t>Ozone concentration, Dobson units</a:t>
            </a:r>
          </a:p>
        </p:txBody>
      </p:sp>
      <p:sp>
        <p:nvSpPr>
          <p:cNvPr id="27" name="Oval 26"/>
          <p:cNvSpPr/>
          <p:nvPr/>
        </p:nvSpPr>
        <p:spPr>
          <a:xfrm>
            <a:off x="640080" y="5462731"/>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51560" y="5389579"/>
            <a:ext cx="3566160" cy="457200"/>
          </a:xfrm>
          <a:prstGeom prst="rect">
            <a:avLst/>
          </a:prstGeom>
          <a:noFill/>
        </p:spPr>
        <p:txBody>
          <a:bodyPr wrap="square" lIns="0" tIns="0" rIns="0" bIns="0" anchor="t">
            <a:noAutofit/>
          </a:bodyPr>
          <a:lstStyle/>
          <a:p>
            <a:pPr algn="l"/>
            <a:r>
              <a:rPr sz="2000" b="1" i="0">
                <a:solidFill>
                  <a:srgbClr val="1B4332"/>
                </a:solidFill>
                <a:latin typeface="Calibri"/>
              </a:rPr>
              <a:t>Atmospheric aerosols</a:t>
            </a:r>
          </a:p>
        </p:txBody>
      </p:sp>
      <p:sp>
        <p:nvSpPr>
          <p:cNvPr id="29" name="TextBox 28"/>
          <p:cNvSpPr txBox="1"/>
          <p:nvPr/>
        </p:nvSpPr>
        <p:spPr>
          <a:xfrm>
            <a:off x="4709160" y="5389579"/>
            <a:ext cx="6812280" cy="457200"/>
          </a:xfrm>
          <a:prstGeom prst="rect">
            <a:avLst/>
          </a:prstGeom>
          <a:noFill/>
        </p:spPr>
        <p:txBody>
          <a:bodyPr wrap="square" lIns="0" tIns="0" rIns="0" bIns="0" anchor="t">
            <a:noAutofit/>
          </a:bodyPr>
          <a:lstStyle/>
          <a:p>
            <a:pPr algn="l"/>
            <a:r>
              <a:rPr sz="2000" b="0" i="0">
                <a:solidFill>
                  <a:srgbClr val="1D2A22"/>
                </a:solidFill>
                <a:latin typeface="Calibri"/>
              </a:rPr>
              <a:t>Aerosol optical depth, interhemispheric difference</a:t>
            </a:r>
          </a:p>
        </p:txBody>
      </p:sp>
      <p:sp>
        <p:nvSpPr>
          <p:cNvPr id="38" name="TextBox 37"/>
          <p:cNvSpPr txBox="1"/>
          <p:nvPr/>
        </p:nvSpPr>
        <p:spPr>
          <a:xfrm>
            <a:off x="640080" y="6565392"/>
            <a:ext cx="10881360" cy="292608"/>
          </a:xfrm>
          <a:prstGeom prst="rect">
            <a:avLst/>
          </a:prstGeom>
          <a:noFill/>
        </p:spPr>
        <p:txBody>
          <a:bodyPr wrap="square" lIns="0" tIns="0" rIns="0" bIns="0" anchor="t">
            <a:noAutofit/>
          </a:bodyPr>
          <a:lstStyle/>
          <a:p>
            <a:pPr algn="l"/>
            <a:r>
              <a:rPr sz="2000" b="0" i="0">
                <a:solidFill>
                  <a:srgbClr val="5E6B62"/>
                </a:solidFill>
                <a:latin typeface="Calibri"/>
              </a:rPr>
              <a:t>Redrawn from Richardson et al. 2023, Fig. 1; status from Planetary Health Check 2025   ·   slide 16/24</a:t>
            </a:r>
          </a:p>
        </p:txBody>
      </p:sp>
      <p:sp>
        <p:nvSpPr>
          <p:cNvPr id="39" name="Oval 38"/>
          <p:cNvSpPr/>
          <p:nvPr/>
        </p:nvSpPr>
        <p:spPr>
          <a:xfrm>
            <a:off x="640080" y="6245352"/>
            <a:ext cx="256032" cy="256032"/>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005840" y="6199632"/>
            <a:ext cx="2743200" cy="365760"/>
          </a:xfrm>
          <a:prstGeom prst="rect">
            <a:avLst/>
          </a:prstGeom>
          <a:noFill/>
        </p:spPr>
        <p:txBody>
          <a:bodyPr wrap="none" lIns="0" tIns="0" anchor="ctr">
            <a:noAutofit/>
          </a:bodyPr>
          <a:lstStyle/>
          <a:p>
            <a:r>
              <a:rPr sz="2000">
                <a:solidFill>
                  <a:srgbClr val="1D2A22"/>
                </a:solidFill>
                <a:latin typeface="Calibri"/>
              </a:rPr>
              <a:t>Within the safe zone</a:t>
            </a:r>
          </a:p>
        </p:txBody>
      </p:sp>
      <p:sp>
        <p:nvSpPr>
          <p:cNvPr id="41" name="Oval 40"/>
          <p:cNvSpPr/>
          <p:nvPr/>
        </p:nvSpPr>
        <p:spPr>
          <a:xfrm>
            <a:off x="3703320" y="6245352"/>
            <a:ext cx="256032" cy="256032"/>
          </a:xfrm>
          <a:prstGeom prst="ellipse">
            <a:avLst/>
          </a:prstGeom>
          <a:solidFill>
            <a:srgbClr val="C15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069080" y="6199632"/>
            <a:ext cx="2743200" cy="365760"/>
          </a:xfrm>
          <a:prstGeom prst="rect">
            <a:avLst/>
          </a:prstGeom>
          <a:noFill/>
        </p:spPr>
        <p:txBody>
          <a:bodyPr wrap="none" lIns="0" tIns="0" anchor="ctr">
            <a:noAutofit/>
          </a:bodyPr>
          <a:lstStyle/>
          <a:p>
            <a:r>
              <a:rPr sz="2000">
                <a:solidFill>
                  <a:srgbClr val="1D2A22"/>
                </a:solidFill>
                <a:latin typeface="Calibri"/>
              </a:rPr>
              <a:t>Crossed</a:t>
            </a:r>
          </a:p>
        </p:txBody>
      </p:sp>
      <p:sp>
        <p:nvSpPr>
          <p:cNvPr id="43" name="Oval 42"/>
          <p:cNvSpPr/>
          <p:nvPr/>
        </p:nvSpPr>
        <p:spPr>
          <a:xfrm>
            <a:off x="6355080" y="6245352"/>
            <a:ext cx="256032" cy="256032"/>
          </a:xfrm>
          <a:prstGeom prst="ellipse">
            <a:avLst/>
          </a:prstGeom>
          <a:solidFill>
            <a:srgbClr val="8A2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720840" y="6199632"/>
            <a:ext cx="2743200" cy="365760"/>
          </a:xfrm>
          <a:prstGeom prst="rect">
            <a:avLst/>
          </a:prstGeom>
          <a:noFill/>
        </p:spPr>
        <p:txBody>
          <a:bodyPr wrap="none" lIns="0" tIns="0" anchor="ctr">
            <a:noAutofit/>
          </a:bodyPr>
          <a:lstStyle/>
          <a:p>
            <a:r>
              <a:rPr sz="2000">
                <a:solidFill>
                  <a:srgbClr val="1D2A22"/>
                </a:solidFill>
                <a:latin typeface="Calibri"/>
              </a:rPr>
              <a:t>Far beyond</a:t>
            </a:r>
          </a:p>
        </p:txBody>
      </p:sp>
      <p:sp>
        <p:nvSpPr>
          <p:cNvPr id="45" name="Oval 44"/>
          <p:cNvSpPr/>
          <p:nvPr/>
        </p:nvSpPr>
        <p:spPr>
          <a:xfrm>
            <a:off x="8732520" y="6245352"/>
            <a:ext cx="256032" cy="256032"/>
          </a:xfrm>
          <a:prstGeom prst="ellipse">
            <a:avLst/>
          </a:prstGeom>
          <a:solidFill>
            <a:srgbClr val="B9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9098280" y="6199632"/>
            <a:ext cx="2743200" cy="365760"/>
          </a:xfrm>
          <a:prstGeom prst="rect">
            <a:avLst/>
          </a:prstGeom>
          <a:noFill/>
        </p:spPr>
        <p:txBody>
          <a:bodyPr wrap="none" lIns="0" tIns="0" anchor="ctr">
            <a:noAutofit/>
          </a:bodyPr>
          <a:lstStyle/>
          <a:p>
            <a:r>
              <a:rPr sz="2000">
                <a:solidFill>
                  <a:srgbClr val="1D2A22"/>
                </a:solidFill>
                <a:latin typeface="Calibri"/>
              </a:rPr>
              <a:t>Crossed in 2025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000" b="1" dirty="0">
                <a:solidFill>
                  <a:srgbClr val="1B4332"/>
                </a:solidFill>
                <a:latin typeface="Cambria" pitchFamily="34" charset="0"/>
                <a:ea typeface="Cambria" pitchFamily="34" charset="-122"/>
                <a:cs typeface="Cambria" pitchFamily="34" charset="-120"/>
              </a:rPr>
              <a:t>What biodiversity loss says about the Anthropocene</a:t>
            </a:r>
            <a:endParaRPr lang="en-US" sz="3000" dirty="0"/>
          </a:p>
        </p:txBody>
      </p:sp>
      <p:sp>
        <p:nvSpPr>
          <p:cNvPr id="3" name="Shape 1"/>
          <p:cNvSpPr/>
          <p:nvPr/>
        </p:nvSpPr>
        <p:spPr>
          <a:xfrm>
            <a:off x="640080" y="1600200"/>
            <a:ext cx="10881360" cy="1280160"/>
          </a:xfrm>
          <a:prstGeom prst="roundRect">
            <a:avLst>
              <a:gd name="adj" fmla="val 6429"/>
            </a:avLst>
          </a:prstGeom>
          <a:solidFill>
            <a:srgbClr val="EAF2EC"/>
          </a:solidFill>
          <a:ln/>
        </p:spPr>
        <p:txBody>
          <a:bodyPr wrap="square">
            <a:noAutofit/>
          </a:bodyPr>
          <a:lstStyle/>
          <a:p>
            <a:endParaRPr lang="en-US"/>
          </a:p>
        </p:txBody>
      </p:sp>
      <p:sp>
        <p:nvSpPr>
          <p:cNvPr id="4" name="Text 2"/>
          <p:cNvSpPr/>
          <p:nvPr/>
        </p:nvSpPr>
        <p:spPr>
          <a:xfrm>
            <a:off x="960120" y="1600200"/>
            <a:ext cx="2834640" cy="128016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As geological claim</a:t>
            </a:r>
            <a:endParaRPr lang="en-US" sz="1700" dirty="0"/>
          </a:p>
        </p:txBody>
      </p:sp>
      <p:sp>
        <p:nvSpPr>
          <p:cNvPr id="5" name="Text 3"/>
          <p:cNvSpPr/>
          <p:nvPr/>
        </p:nvSpPr>
        <p:spPr>
          <a:xfrm>
            <a:off x="3657600" y="1600200"/>
            <a:ext cx="6949440" cy="128016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Extinctions, invasions, and domesticated biomass will be legible in the fossil record. Future strata will show broiler chicken bones on every continent.</a:t>
            </a:r>
            <a:endParaRPr lang="en-US" sz="1350" dirty="0"/>
          </a:p>
        </p:txBody>
      </p:sp>
      <p:sp>
        <p:nvSpPr>
          <p:cNvPr id="6" name="Shape 4"/>
          <p:cNvSpPr/>
          <p:nvPr/>
        </p:nvSpPr>
        <p:spPr>
          <a:xfrm>
            <a:off x="640080" y="3081528"/>
            <a:ext cx="10881360" cy="1280160"/>
          </a:xfrm>
          <a:prstGeom prst="roundRect">
            <a:avLst>
              <a:gd name="adj" fmla="val 6429"/>
            </a:avLst>
          </a:prstGeom>
          <a:solidFill>
            <a:srgbClr val="F6E4DE"/>
          </a:solidFill>
          <a:ln/>
        </p:spPr>
        <p:txBody>
          <a:bodyPr wrap="square">
            <a:noAutofit/>
          </a:bodyPr>
          <a:lstStyle/>
          <a:p>
            <a:endParaRPr lang="en-US"/>
          </a:p>
        </p:txBody>
      </p:sp>
      <p:sp>
        <p:nvSpPr>
          <p:cNvPr id="7" name="Text 5"/>
          <p:cNvSpPr/>
          <p:nvPr/>
        </p:nvSpPr>
        <p:spPr>
          <a:xfrm>
            <a:off x="960120" y="3081528"/>
            <a:ext cx="2834640" cy="1280160"/>
          </a:xfrm>
          <a:prstGeom prst="rect">
            <a:avLst/>
          </a:prstGeom>
          <a:noFill/>
          <a:ln/>
        </p:spPr>
        <p:txBody>
          <a:bodyPr wrap="square" lIns="0" tIns="0" rIns="0" bIns="0" rtlCol="0" anchor="ctr">
            <a:noAutofit/>
          </a:bodyPr>
          <a:lstStyle/>
          <a:p>
            <a:pPr marL="0" indent="0">
              <a:buNone/>
            </a:pPr>
            <a:r>
              <a:rPr lang="en-US" sz="2000" b="1" dirty="0">
                <a:solidFill>
                  <a:srgbClr val="C1543C"/>
                </a:solidFill>
                <a:latin typeface="Cambria" pitchFamily="34" charset="0"/>
                <a:ea typeface="Cambria" pitchFamily="34" charset="-122"/>
                <a:cs typeface="Cambria" pitchFamily="34" charset="-120"/>
              </a:rPr>
              <a:t>As political concept</a:t>
            </a:r>
            <a:endParaRPr lang="en-US" sz="1700" dirty="0"/>
          </a:p>
        </p:txBody>
      </p:sp>
      <p:sp>
        <p:nvSpPr>
          <p:cNvPr id="8" name="Text 6"/>
          <p:cNvSpPr/>
          <p:nvPr/>
        </p:nvSpPr>
        <p:spPr>
          <a:xfrm>
            <a:off x="3657600" y="3081528"/>
            <a:ext cx="6949440" cy="128016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“Humanity” did not clear the land equally. Land-use change and exploitation track specific economic systems, a thread session 4 picks up as the Capitalocene critique.</a:t>
            </a:r>
            <a:endParaRPr lang="en-US" sz="1350" dirty="0"/>
          </a:p>
        </p:txBody>
      </p:sp>
      <p:sp>
        <p:nvSpPr>
          <p:cNvPr id="9" name="Shape 7"/>
          <p:cNvSpPr/>
          <p:nvPr/>
        </p:nvSpPr>
        <p:spPr>
          <a:xfrm>
            <a:off x="640080" y="4562856"/>
            <a:ext cx="10881360" cy="1280160"/>
          </a:xfrm>
          <a:prstGeom prst="roundRect">
            <a:avLst>
              <a:gd name="adj" fmla="val 6429"/>
            </a:avLst>
          </a:prstGeom>
          <a:solidFill>
            <a:srgbClr val="EAF2EC"/>
          </a:solidFill>
          <a:ln/>
        </p:spPr>
        <p:txBody>
          <a:bodyPr wrap="square">
            <a:noAutofit/>
          </a:bodyPr>
          <a:lstStyle/>
          <a:p>
            <a:endParaRPr lang="en-US"/>
          </a:p>
        </p:txBody>
      </p:sp>
      <p:sp>
        <p:nvSpPr>
          <p:cNvPr id="10" name="Text 8"/>
          <p:cNvSpPr/>
          <p:nvPr/>
        </p:nvSpPr>
        <p:spPr>
          <a:xfrm>
            <a:off x="960120" y="4562856"/>
            <a:ext cx="2834640" cy="128016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As cultural condition</a:t>
            </a:r>
            <a:endParaRPr lang="en-US" sz="1700" dirty="0"/>
          </a:p>
        </p:txBody>
      </p:sp>
      <p:sp>
        <p:nvSpPr>
          <p:cNvPr id="11" name="Text 9"/>
          <p:cNvSpPr/>
          <p:nvPr/>
        </p:nvSpPr>
        <p:spPr>
          <a:xfrm>
            <a:off x="3657600" y="4562856"/>
            <a:ext cx="6949440" cy="128016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How do you act on a curve you will never personally see the end of? Sessions 6 and 8 take over from here.</a:t>
            </a:r>
            <a:endParaRPr lang="en-US" sz="1350" dirty="0"/>
          </a:p>
        </p:txBody>
      </p:sp>
      <p:sp>
        <p:nvSpPr>
          <p:cNvPr id="13" name="Text 11"/>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1 · Safe limits   ·   slide 19/24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2194560"/>
            <a:ext cx="10881360" cy="822960"/>
          </a:xfrm>
          <a:prstGeom prst="rect">
            <a:avLst/>
          </a:prstGeom>
          <a:noFill/>
          <a:ln/>
        </p:spPr>
        <p:txBody>
          <a:bodyPr wrap="square" lIns="0" tIns="0" rIns="0" bIns="0" rtlCol="0" anchor="ctr">
            <a:noAutofit/>
          </a:bodyPr>
          <a:lstStyle/>
          <a:p>
            <a:pPr marL="0" indent="0">
              <a:buNone/>
            </a:pPr>
            <a:r>
              <a:rPr lang="en-US" sz="4800" b="1" dirty="0">
                <a:solidFill>
                  <a:srgbClr val="FFFFFF"/>
                </a:solidFill>
                <a:latin typeface="Cambria" pitchFamily="34" charset="0"/>
                <a:ea typeface="Cambria" pitchFamily="34" charset="-122"/>
                <a:cs typeface="Cambria" pitchFamily="34" charset="-120"/>
              </a:rPr>
              <a:t>Break · 10 minutes</a:t>
            </a:r>
            <a:endParaRPr lang="en-US" sz="4800" dirty="0"/>
          </a:p>
        </p:txBody>
      </p:sp>
      <p:sp>
        <p:nvSpPr>
          <p:cNvPr id="4" name="Text 2"/>
          <p:cNvSpPr/>
          <p:nvPr/>
        </p:nvSpPr>
        <p:spPr>
          <a:xfrm>
            <a:off x="640080" y="4114800"/>
            <a:ext cx="10881360" cy="457200"/>
          </a:xfrm>
          <a:prstGeom prst="rect">
            <a:avLst/>
          </a:prstGeom>
          <a:noFill/>
          <a:ln/>
        </p:spPr>
        <p:txBody>
          <a:bodyPr wrap="square" lIns="0" tIns="0" rIns="0" bIns="0" rtlCol="0" anchor="ctr">
            <a:noAutofit/>
          </a:bodyPr>
          <a:lstStyle/>
          <a:p>
            <a:pPr marL="0" indent="0">
              <a:buNone/>
            </a:pPr>
            <a:r>
              <a:rPr lang="en-US" sz="3600" dirty="0">
                <a:solidFill>
                  <a:srgbClr val="74A57F"/>
                </a:solidFill>
                <a:latin typeface="Calibri" pitchFamily="34" charset="0"/>
                <a:ea typeface="Calibri" pitchFamily="34" charset="-122"/>
                <a:cs typeface="Calibri" pitchFamily="34" charset="-120"/>
              </a:rPr>
              <a:t>Back at ???? for the case exercise. </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000" b="1" dirty="0">
                <a:solidFill>
                  <a:srgbClr val="1B4332"/>
                </a:solidFill>
                <a:latin typeface="Cambria" pitchFamily="34" charset="0"/>
                <a:ea typeface="Cambria" pitchFamily="34" charset="-122"/>
                <a:cs typeface="Cambria" pitchFamily="34" charset="-120"/>
              </a:rPr>
              <a:t>Exercise: three biodiversity cases, three questions each</a:t>
            </a:r>
            <a:endParaRPr lang="en-US" sz="3000" dirty="0"/>
          </a:p>
        </p:txBody>
      </p:sp>
      <p:sp>
        <p:nvSpPr>
          <p:cNvPr id="3" name="Text 1"/>
          <p:cNvSpPr/>
          <p:nvPr/>
        </p:nvSpPr>
        <p:spPr>
          <a:xfrm>
            <a:off x="640080" y="1371600"/>
            <a:ext cx="10881360" cy="41148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Form groups of 4–5. Each group takes one case. For your case, answer:</a:t>
            </a:r>
            <a:endParaRPr lang="en-US" sz="1600" dirty="0"/>
          </a:p>
        </p:txBody>
      </p:sp>
      <p:sp>
        <p:nvSpPr>
          <p:cNvPr id="4" name="Shape 2"/>
          <p:cNvSpPr/>
          <p:nvPr/>
        </p:nvSpPr>
        <p:spPr>
          <a:xfrm>
            <a:off x="640080" y="1965960"/>
            <a:ext cx="7680960" cy="1188720"/>
          </a:xfrm>
          <a:prstGeom prst="roundRect">
            <a:avLst>
              <a:gd name="adj" fmla="val 8571"/>
            </a:avLst>
          </a:prstGeom>
          <a:solidFill>
            <a:srgbClr val="EAF2EC"/>
          </a:solidFill>
          <a:ln w="12700">
            <a:solidFill>
              <a:srgbClr val="74A57F"/>
            </a:solidFill>
            <a:prstDash val="solid"/>
          </a:ln>
        </p:spPr>
        <p:txBody>
          <a:bodyPr wrap="square">
            <a:noAutofit/>
          </a:bodyPr>
          <a:lstStyle/>
          <a:p>
            <a:endParaRPr lang="en-US"/>
          </a:p>
        </p:txBody>
      </p:sp>
      <p:sp>
        <p:nvSpPr>
          <p:cNvPr id="5" name="Text 3"/>
          <p:cNvSpPr/>
          <p:nvPr/>
        </p:nvSpPr>
        <p:spPr>
          <a:xfrm>
            <a:off x="868680" y="1965960"/>
            <a:ext cx="2194560" cy="118872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Q1 · Diagnose</a:t>
            </a:r>
            <a:endParaRPr lang="en-US" sz="1500" dirty="0"/>
          </a:p>
        </p:txBody>
      </p:sp>
      <p:sp>
        <p:nvSpPr>
          <p:cNvPr id="6" name="Text 4"/>
          <p:cNvSpPr/>
          <p:nvPr/>
        </p:nvSpPr>
        <p:spPr>
          <a:xfrm>
            <a:off x="3154680" y="2057400"/>
            <a:ext cx="5029200" cy="100584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Which of the five direct drivers are at work? Is the loss at the gene, species, or ecosystem level?</a:t>
            </a:r>
            <a:endParaRPr lang="en-US" sz="1250" dirty="0"/>
          </a:p>
        </p:txBody>
      </p:sp>
      <p:sp>
        <p:nvSpPr>
          <p:cNvPr id="7" name="Shape 5"/>
          <p:cNvSpPr/>
          <p:nvPr/>
        </p:nvSpPr>
        <p:spPr>
          <a:xfrm>
            <a:off x="640080" y="3200400"/>
            <a:ext cx="7680960" cy="1188720"/>
          </a:xfrm>
          <a:prstGeom prst="roundRect">
            <a:avLst>
              <a:gd name="adj" fmla="val 8571"/>
            </a:avLst>
          </a:prstGeom>
          <a:solidFill>
            <a:srgbClr val="EAF2EC"/>
          </a:solidFill>
          <a:ln w="12700">
            <a:solidFill>
              <a:srgbClr val="74A57F"/>
            </a:solidFill>
            <a:prstDash val="solid"/>
          </a:ln>
        </p:spPr>
        <p:txBody>
          <a:bodyPr wrap="square">
            <a:noAutofit/>
          </a:bodyPr>
          <a:lstStyle/>
          <a:p>
            <a:endParaRPr lang="en-US"/>
          </a:p>
        </p:txBody>
      </p:sp>
      <p:sp>
        <p:nvSpPr>
          <p:cNvPr id="8" name="Text 6"/>
          <p:cNvSpPr/>
          <p:nvPr/>
        </p:nvSpPr>
        <p:spPr>
          <a:xfrm>
            <a:off x="868680" y="3200400"/>
            <a:ext cx="2194560" cy="118872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Q2 · Evidence</a:t>
            </a:r>
            <a:endParaRPr lang="en-US" sz="1500" dirty="0"/>
          </a:p>
        </p:txBody>
      </p:sp>
      <p:sp>
        <p:nvSpPr>
          <p:cNvPr id="9" name="Text 7"/>
          <p:cNvSpPr/>
          <p:nvPr/>
        </p:nvSpPr>
        <p:spPr>
          <a:xfrm>
            <a:off x="3154680" y="3291840"/>
            <a:ext cx="5029200" cy="100584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What data would demonstrate the problem, and what are its limits? </a:t>
            </a:r>
            <a:endParaRPr lang="en-US" sz="1250" dirty="0"/>
          </a:p>
        </p:txBody>
      </p:sp>
      <p:sp>
        <p:nvSpPr>
          <p:cNvPr id="10" name="Shape 8"/>
          <p:cNvSpPr/>
          <p:nvPr/>
        </p:nvSpPr>
        <p:spPr>
          <a:xfrm>
            <a:off x="640080" y="4434840"/>
            <a:ext cx="7680960" cy="1188720"/>
          </a:xfrm>
          <a:prstGeom prst="roundRect">
            <a:avLst>
              <a:gd name="adj" fmla="val 8571"/>
            </a:avLst>
          </a:prstGeom>
          <a:solidFill>
            <a:srgbClr val="EAF2EC"/>
          </a:solidFill>
          <a:ln w="12700">
            <a:solidFill>
              <a:srgbClr val="74A57F"/>
            </a:solidFill>
            <a:prstDash val="solid"/>
          </a:ln>
        </p:spPr>
        <p:txBody>
          <a:bodyPr wrap="square">
            <a:noAutofit/>
          </a:bodyPr>
          <a:lstStyle/>
          <a:p>
            <a:endParaRPr lang="en-US"/>
          </a:p>
        </p:txBody>
      </p:sp>
      <p:sp>
        <p:nvSpPr>
          <p:cNvPr id="11" name="Text 9"/>
          <p:cNvSpPr/>
          <p:nvPr/>
        </p:nvSpPr>
        <p:spPr>
          <a:xfrm>
            <a:off x="868680" y="4434840"/>
            <a:ext cx="2194560" cy="1188720"/>
          </a:xfrm>
          <a:prstGeom prst="rect">
            <a:avLst/>
          </a:prstGeom>
          <a:noFill/>
          <a:ln/>
        </p:spPr>
        <p:txBody>
          <a:bodyPr wrap="square" lIns="0" tIns="0" rIns="0" bIns="0" rtlCol="0" anchor="ctr">
            <a:noAutofit/>
          </a:bodyPr>
          <a:lstStyle/>
          <a:p>
            <a:pPr marL="0" indent="0">
              <a:buNone/>
            </a:pPr>
            <a:r>
              <a:rPr lang="en-US" sz="2000" b="1" dirty="0">
                <a:solidFill>
                  <a:srgbClr val="1B4332"/>
                </a:solidFill>
                <a:latin typeface="Cambria" pitchFamily="34" charset="0"/>
                <a:ea typeface="Cambria" pitchFamily="34" charset="-122"/>
                <a:cs typeface="Cambria" pitchFamily="34" charset="-120"/>
              </a:rPr>
              <a:t>Q3 · Politics</a:t>
            </a:r>
            <a:endParaRPr lang="en-US" sz="1500" dirty="0"/>
          </a:p>
        </p:txBody>
      </p:sp>
      <p:sp>
        <p:nvSpPr>
          <p:cNvPr id="12" name="Text 10"/>
          <p:cNvSpPr/>
          <p:nvPr/>
        </p:nvSpPr>
        <p:spPr>
          <a:xfrm>
            <a:off x="3154680" y="4526279"/>
            <a:ext cx="5029200" cy="100584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Who decides what to do? Who wins and who loses? Where does the science stop and the value judgment begin?</a:t>
            </a:r>
            <a:endParaRPr lang="en-US" sz="1250" dirty="0"/>
          </a:p>
        </p:txBody>
      </p:sp>
      <p:sp>
        <p:nvSpPr>
          <p:cNvPr id="13" name="Shape 11"/>
          <p:cNvSpPr/>
          <p:nvPr/>
        </p:nvSpPr>
        <p:spPr>
          <a:xfrm>
            <a:off x="8595360" y="1965960"/>
            <a:ext cx="2971800" cy="3337560"/>
          </a:xfrm>
          <a:prstGeom prst="roundRect">
            <a:avLst>
              <a:gd name="adj" fmla="val 3077"/>
            </a:avLst>
          </a:prstGeom>
          <a:solidFill>
            <a:srgbClr val="1B4332"/>
          </a:solidFill>
          <a:ln/>
        </p:spPr>
        <p:txBody>
          <a:bodyPr wrap="square">
            <a:noAutofit/>
          </a:bodyPr>
          <a:lstStyle/>
          <a:p>
            <a:endParaRPr lang="en-US"/>
          </a:p>
        </p:txBody>
      </p:sp>
      <p:sp>
        <p:nvSpPr>
          <p:cNvPr id="14" name="Text 12"/>
          <p:cNvSpPr/>
          <p:nvPr/>
        </p:nvSpPr>
        <p:spPr>
          <a:xfrm>
            <a:off x="8823960" y="2148840"/>
            <a:ext cx="2560320" cy="3108960"/>
          </a:xfrm>
          <a:prstGeom prst="rect">
            <a:avLst/>
          </a:prstGeom>
          <a:noFill/>
          <a:ln/>
        </p:spPr>
        <p:txBody>
          <a:bodyPr wrap="square" lIns="0" tIns="0" rIns="0" bIns="0" rtlCol="0" anchor="ctr">
            <a:noAutofit/>
          </a:bodyPr>
          <a:lstStyle/>
          <a:p>
            <a:pPr marL="0" indent="0">
              <a:lnSpc>
                <a:spcPct val="125000"/>
              </a:lnSpc>
              <a:buNone/>
            </a:pPr>
            <a:r>
              <a:rPr lang="en-US" sz="2000" b="1" dirty="0">
                <a:solidFill>
                  <a:srgbClr val="FFFFFF"/>
                </a:solidFill>
                <a:latin typeface="Calibri" pitchFamily="34" charset="0"/>
                <a:ea typeface="Calibri" pitchFamily="34" charset="-122"/>
                <a:cs typeface="Calibri" pitchFamily="34" charset="-120"/>
              </a:rPr>
              <a:t>Timing</a:t>
            </a:r>
            <a:endParaRPr lang="en-US" sz="1400" dirty="0"/>
          </a:p>
          <a:p>
            <a:pPr marL="0" indent="0">
              <a:lnSpc>
                <a:spcPct val="125000"/>
              </a:lnSpc>
              <a:buNone/>
            </a:pPr>
            <a:endParaRPr lang="en-US" sz="1400" dirty="0"/>
          </a:p>
          <a:p>
            <a:pPr marL="0" indent="0">
              <a:lnSpc>
                <a:spcPct val="125000"/>
              </a:lnSpc>
              <a:buNone/>
            </a:pPr>
            <a:r>
              <a:rPr lang="en-US" sz="2000" dirty="0">
                <a:solidFill>
                  <a:srgbClr val="FFFFFF"/>
                </a:solidFill>
                <a:latin typeface="Calibri" pitchFamily="34" charset="0"/>
                <a:ea typeface="Calibri" pitchFamily="34" charset="-122"/>
                <a:cs typeface="Calibri" pitchFamily="34" charset="-120"/>
              </a:rPr>
              <a:t>15 min  group work</a:t>
            </a:r>
            <a:endParaRPr lang="en-US" sz="1400" dirty="0"/>
          </a:p>
          <a:p>
            <a:pPr marL="0" indent="0">
              <a:lnSpc>
                <a:spcPct val="125000"/>
              </a:lnSpc>
              <a:buNone/>
            </a:pPr>
            <a:r>
              <a:rPr lang="en-US" sz="2000" dirty="0">
                <a:solidFill>
                  <a:srgbClr val="FFFFFF"/>
                </a:solidFill>
                <a:latin typeface="Calibri" pitchFamily="34" charset="0"/>
                <a:ea typeface="Calibri" pitchFamily="34" charset="-122"/>
                <a:cs typeface="Calibri" pitchFamily="34" charset="-120"/>
              </a:rPr>
              <a:t>15 min  report back</a:t>
            </a:r>
            <a:endParaRPr lang="en-US" sz="1400" dirty="0"/>
          </a:p>
          <a:p>
            <a:pPr marL="0" indent="0">
              <a:lnSpc>
                <a:spcPct val="125000"/>
              </a:lnSpc>
              <a:buNone/>
            </a:pPr>
            <a:r>
              <a:rPr lang="en-US" sz="2000" dirty="0">
                <a:solidFill>
                  <a:srgbClr val="AECFB8"/>
                </a:solidFill>
                <a:latin typeface="Calibri" pitchFamily="34" charset="0"/>
                <a:ea typeface="Calibri" pitchFamily="34" charset="-122"/>
                <a:cs typeface="Calibri" pitchFamily="34" charset="-120"/>
              </a:rPr>
              <a:t>(5 min per case)</a:t>
            </a:r>
            <a:endParaRPr lang="en-US" sz="1400" dirty="0"/>
          </a:p>
          <a:p>
            <a:pPr marL="0" indent="0">
              <a:lnSpc>
                <a:spcPct val="125000"/>
              </a:lnSpc>
              <a:buNone/>
            </a:pPr>
            <a:r>
              <a:rPr lang="en-US" sz="2000" dirty="0">
                <a:solidFill>
                  <a:srgbClr val="FFFFFF"/>
                </a:solidFill>
                <a:latin typeface="Calibri" pitchFamily="34" charset="0"/>
                <a:ea typeface="Calibri" pitchFamily="34" charset="-122"/>
                <a:cs typeface="Calibri" pitchFamily="34" charset="-120"/>
              </a:rPr>
              <a:t>10 min  open discussion</a:t>
            </a:r>
            <a:endParaRPr lang="en-US" sz="1400" dirty="0"/>
          </a:p>
        </p:txBody>
      </p:sp>
      <p:sp>
        <p:nvSpPr>
          <p:cNvPr id="15" name="Text 13"/>
          <p:cNvSpPr/>
          <p:nvPr/>
        </p:nvSpPr>
        <p:spPr>
          <a:xfrm>
            <a:off x="640080" y="5806440"/>
            <a:ext cx="7680960" cy="731520"/>
          </a:xfrm>
          <a:prstGeom prst="rect">
            <a:avLst/>
          </a:prstGeom>
          <a:noFill/>
          <a:ln/>
        </p:spPr>
        <p:txBody>
          <a:bodyPr wrap="square" lIns="0" tIns="0" rIns="0" bIns="0" rtlCol="0" anchor="ctr">
            <a:noAutofit/>
          </a:bodyPr>
          <a:lstStyle/>
          <a:p>
            <a:pPr marL="0" indent="0">
              <a:buNone/>
            </a:pPr>
            <a:r>
              <a:rPr lang="en-US" sz="2000" i="1" dirty="0">
                <a:solidFill>
                  <a:srgbClr val="5E6B62"/>
                </a:solidFill>
                <a:latin typeface="Calibri" pitchFamily="34" charset="0"/>
                <a:ea typeface="Calibri" pitchFamily="34" charset="-122"/>
                <a:cs typeface="Calibri" pitchFamily="34" charset="-120"/>
              </a:rPr>
              <a:t>Nominate one person to present. One key point per question is enough, and report any disagreement inside the group.</a:t>
            </a:r>
            <a:endParaRPr lang="en-US" sz="1350" dirty="0"/>
          </a:p>
        </p:txBody>
      </p:sp>
      <p:sp>
        <p:nvSpPr>
          <p:cNvPr id="16" name="Text 14"/>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2 · Exercise   ·   slide 21/24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000" b="1" dirty="0">
                <a:solidFill>
                  <a:srgbClr val="1B4332"/>
                </a:solidFill>
                <a:latin typeface="Cambria" pitchFamily="34" charset="0"/>
                <a:ea typeface="Cambria" pitchFamily="34" charset="-122"/>
                <a:cs typeface="Cambria" pitchFamily="34" charset="-120"/>
              </a:rPr>
              <a:t>The cases</a:t>
            </a:r>
            <a:endParaRPr lang="en-US" sz="3000" dirty="0"/>
          </a:p>
        </p:txBody>
      </p:sp>
      <p:sp>
        <p:nvSpPr>
          <p:cNvPr id="3" name="Shape 1"/>
          <p:cNvSpPr/>
          <p:nvPr/>
        </p:nvSpPr>
        <p:spPr>
          <a:xfrm>
            <a:off x="640080" y="1554480"/>
            <a:ext cx="3429000" cy="4480560"/>
          </a:xfrm>
          <a:prstGeom prst="roundRect">
            <a:avLst>
              <a:gd name="adj" fmla="val 2667"/>
            </a:avLst>
          </a:prstGeom>
          <a:solidFill>
            <a:srgbClr val="EAF2EC"/>
          </a:solidFill>
          <a:ln/>
        </p:spPr>
        <p:txBody>
          <a:bodyPr wrap="square">
            <a:noAutofit/>
          </a:bodyPr>
          <a:lstStyle/>
          <a:p>
            <a:endParaRPr lang="en-US"/>
          </a:p>
        </p:txBody>
      </p:sp>
      <p:sp>
        <p:nvSpPr>
          <p:cNvPr id="4" name="Text 2"/>
          <p:cNvSpPr/>
          <p:nvPr/>
        </p:nvSpPr>
        <p:spPr>
          <a:xfrm>
            <a:off x="914400" y="1783080"/>
            <a:ext cx="2880360" cy="365760"/>
          </a:xfrm>
          <a:prstGeom prst="rect">
            <a:avLst/>
          </a:prstGeom>
          <a:noFill/>
          <a:ln/>
        </p:spPr>
        <p:txBody>
          <a:bodyPr wrap="square" lIns="0" tIns="0" rIns="0" bIns="0" rtlCol="0" anchor="ctr">
            <a:noAutofit/>
          </a:bodyPr>
          <a:lstStyle/>
          <a:p>
            <a:pPr marL="0" indent="0">
              <a:buNone/>
            </a:pPr>
            <a:r>
              <a:rPr lang="en-US" sz="2000" b="1" kern="0" spc="200" dirty="0">
                <a:solidFill>
                  <a:srgbClr val="1B4332"/>
                </a:solidFill>
                <a:latin typeface="Calibri" pitchFamily="34" charset="0"/>
                <a:ea typeface="Calibri" pitchFamily="34" charset="-122"/>
                <a:cs typeface="Calibri" pitchFamily="34" charset="-120"/>
              </a:rPr>
              <a:t>Case A</a:t>
            </a:r>
            <a:endParaRPr lang="en-US" sz="1300" dirty="0"/>
          </a:p>
        </p:txBody>
      </p:sp>
      <p:sp>
        <p:nvSpPr>
          <p:cNvPr id="5" name="Text 3"/>
          <p:cNvSpPr/>
          <p:nvPr/>
        </p:nvSpPr>
        <p:spPr>
          <a:xfrm>
            <a:off x="914400" y="2148840"/>
            <a:ext cx="2880360" cy="548640"/>
          </a:xfrm>
          <a:prstGeom prst="rect">
            <a:avLst/>
          </a:prstGeom>
          <a:noFill/>
          <a:ln/>
        </p:spPr>
        <p:txBody>
          <a:bodyPr wrap="square" lIns="0" tIns="0" rIns="0" bIns="0" rtlCol="0" anchor="ctr">
            <a:noAutofit/>
          </a:bodyPr>
          <a:lstStyle/>
          <a:p>
            <a:pPr marL="0" indent="0">
              <a:buNone/>
            </a:pPr>
            <a:r>
              <a:rPr lang="en-US" sz="2100" b="1" dirty="0">
                <a:solidFill>
                  <a:srgbClr val="1D2A22"/>
                </a:solidFill>
                <a:latin typeface="Cambria" pitchFamily="34" charset="0"/>
                <a:ea typeface="Cambria" pitchFamily="34" charset="-122"/>
                <a:cs typeface="Cambria" pitchFamily="34" charset="-120"/>
              </a:rPr>
              <a:t>The last banana</a:t>
            </a:r>
            <a:endParaRPr lang="en-US" sz="2100" dirty="0"/>
          </a:p>
        </p:txBody>
      </p:sp>
      <p:sp>
        <p:nvSpPr>
          <p:cNvPr id="6" name="Text 4"/>
          <p:cNvSpPr/>
          <p:nvPr/>
        </p:nvSpPr>
        <p:spPr>
          <a:xfrm>
            <a:off x="914400" y="2743200"/>
            <a:ext cx="2880360" cy="32004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Cavendish bananas are clonal and Fusarium TR4 is spreading. Options on the table: gene-editing resistance in, breeding from wild relatives, diversifying varieties, or accepting higher prices and fungicide use.</a:t>
            </a:r>
            <a:endParaRPr lang="en-US" sz="1250" dirty="0"/>
          </a:p>
        </p:txBody>
      </p:sp>
      <p:sp>
        <p:nvSpPr>
          <p:cNvPr id="7" name="Shape 5"/>
          <p:cNvSpPr/>
          <p:nvPr/>
        </p:nvSpPr>
        <p:spPr>
          <a:xfrm>
            <a:off x="4343400" y="1554480"/>
            <a:ext cx="3429000" cy="4480560"/>
          </a:xfrm>
          <a:prstGeom prst="roundRect">
            <a:avLst>
              <a:gd name="adj" fmla="val 2667"/>
            </a:avLst>
          </a:prstGeom>
          <a:solidFill>
            <a:srgbClr val="F6E4DE"/>
          </a:solidFill>
          <a:ln/>
        </p:spPr>
        <p:txBody>
          <a:bodyPr wrap="square">
            <a:noAutofit/>
          </a:bodyPr>
          <a:lstStyle/>
          <a:p>
            <a:endParaRPr lang="en-US"/>
          </a:p>
        </p:txBody>
      </p:sp>
      <p:sp>
        <p:nvSpPr>
          <p:cNvPr id="8" name="Text 6"/>
          <p:cNvSpPr/>
          <p:nvPr/>
        </p:nvSpPr>
        <p:spPr>
          <a:xfrm>
            <a:off x="4617720" y="1783080"/>
            <a:ext cx="2880360" cy="365760"/>
          </a:xfrm>
          <a:prstGeom prst="rect">
            <a:avLst/>
          </a:prstGeom>
          <a:noFill/>
          <a:ln/>
        </p:spPr>
        <p:txBody>
          <a:bodyPr wrap="square" lIns="0" tIns="0" rIns="0" bIns="0" rtlCol="0" anchor="ctr">
            <a:noAutofit/>
          </a:bodyPr>
          <a:lstStyle/>
          <a:p>
            <a:pPr marL="0" indent="0">
              <a:buNone/>
            </a:pPr>
            <a:r>
              <a:rPr lang="en-US" sz="2000" b="1" kern="0" spc="200" dirty="0">
                <a:solidFill>
                  <a:srgbClr val="C1543C"/>
                </a:solidFill>
                <a:latin typeface="Calibri" pitchFamily="34" charset="0"/>
                <a:ea typeface="Calibri" pitchFamily="34" charset="-122"/>
                <a:cs typeface="Calibri" pitchFamily="34" charset="-120"/>
              </a:rPr>
              <a:t>Case B</a:t>
            </a:r>
            <a:endParaRPr lang="en-US" sz="1300" dirty="0"/>
          </a:p>
        </p:txBody>
      </p:sp>
      <p:sp>
        <p:nvSpPr>
          <p:cNvPr id="9" name="Text 7"/>
          <p:cNvSpPr/>
          <p:nvPr/>
        </p:nvSpPr>
        <p:spPr>
          <a:xfrm>
            <a:off x="4617720" y="2148840"/>
            <a:ext cx="2880360" cy="548640"/>
          </a:xfrm>
          <a:prstGeom prst="rect">
            <a:avLst/>
          </a:prstGeom>
          <a:noFill/>
          <a:ln/>
        </p:spPr>
        <p:txBody>
          <a:bodyPr wrap="square" lIns="0" tIns="0" rIns="0" bIns="0" rtlCol="0" anchor="ctr">
            <a:noAutofit/>
          </a:bodyPr>
          <a:lstStyle/>
          <a:p>
            <a:pPr marL="0" indent="0">
              <a:buNone/>
            </a:pPr>
            <a:r>
              <a:rPr lang="en-US" sz="2100" b="1" dirty="0">
                <a:solidFill>
                  <a:srgbClr val="1D2A22"/>
                </a:solidFill>
                <a:latin typeface="Cambria" pitchFamily="34" charset="0"/>
                <a:ea typeface="Cambria" pitchFamily="34" charset="-122"/>
                <a:cs typeface="Cambria" pitchFamily="34" charset="-120"/>
              </a:rPr>
              <a:t>The Danish farmland</a:t>
            </a:r>
            <a:endParaRPr lang="en-US" sz="2100" dirty="0"/>
          </a:p>
        </p:txBody>
      </p:sp>
      <p:sp>
        <p:nvSpPr>
          <p:cNvPr id="10" name="Text 8"/>
          <p:cNvSpPr/>
          <p:nvPr/>
        </p:nvSpPr>
        <p:spPr>
          <a:xfrm>
            <a:off x="4617720" y="2743200"/>
            <a:ext cx="2880360" cy="32004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About 60% of Denmark is farmed; farmland birds and insects have declined for decades. The 2024 green tripartite agreement converts 400,000 hectares, about 15% of farmland, to forest and nature, and taxes farm emissions.</a:t>
            </a:r>
            <a:endParaRPr lang="en-US" sz="1250" dirty="0"/>
          </a:p>
        </p:txBody>
      </p:sp>
      <p:sp>
        <p:nvSpPr>
          <p:cNvPr id="11" name="Shape 9"/>
          <p:cNvSpPr/>
          <p:nvPr/>
        </p:nvSpPr>
        <p:spPr>
          <a:xfrm>
            <a:off x="8046720" y="1554480"/>
            <a:ext cx="3429000" cy="4480560"/>
          </a:xfrm>
          <a:prstGeom prst="roundRect">
            <a:avLst>
              <a:gd name="adj" fmla="val 2667"/>
            </a:avLst>
          </a:prstGeom>
          <a:solidFill>
            <a:srgbClr val="EAF2EC"/>
          </a:solidFill>
          <a:ln/>
        </p:spPr>
        <p:txBody>
          <a:bodyPr wrap="square">
            <a:noAutofit/>
          </a:bodyPr>
          <a:lstStyle/>
          <a:p>
            <a:endParaRPr lang="en-US"/>
          </a:p>
        </p:txBody>
      </p:sp>
      <p:sp>
        <p:nvSpPr>
          <p:cNvPr id="12" name="Text 10"/>
          <p:cNvSpPr/>
          <p:nvPr/>
        </p:nvSpPr>
        <p:spPr>
          <a:xfrm>
            <a:off x="8321040" y="1783080"/>
            <a:ext cx="2880360" cy="365760"/>
          </a:xfrm>
          <a:prstGeom prst="rect">
            <a:avLst/>
          </a:prstGeom>
          <a:noFill/>
          <a:ln/>
        </p:spPr>
        <p:txBody>
          <a:bodyPr wrap="square" lIns="0" tIns="0" rIns="0" bIns="0" rtlCol="0" anchor="ctr">
            <a:noAutofit/>
          </a:bodyPr>
          <a:lstStyle/>
          <a:p>
            <a:pPr marL="0" indent="0">
              <a:buNone/>
            </a:pPr>
            <a:r>
              <a:rPr lang="en-US" sz="2000" b="1" kern="0" spc="200" dirty="0">
                <a:solidFill>
                  <a:srgbClr val="1B4332"/>
                </a:solidFill>
                <a:latin typeface="Calibri" pitchFamily="34" charset="0"/>
                <a:ea typeface="Calibri" pitchFamily="34" charset="-122"/>
                <a:cs typeface="Calibri" pitchFamily="34" charset="-120"/>
              </a:rPr>
              <a:t>Case C</a:t>
            </a:r>
            <a:endParaRPr lang="en-US" sz="1300" dirty="0"/>
          </a:p>
        </p:txBody>
      </p:sp>
      <p:sp>
        <p:nvSpPr>
          <p:cNvPr id="13" name="Text 11"/>
          <p:cNvSpPr/>
          <p:nvPr/>
        </p:nvSpPr>
        <p:spPr>
          <a:xfrm>
            <a:off x="8321040" y="2148840"/>
            <a:ext cx="2880360" cy="548640"/>
          </a:xfrm>
          <a:prstGeom prst="rect">
            <a:avLst/>
          </a:prstGeom>
          <a:noFill/>
          <a:ln/>
        </p:spPr>
        <p:txBody>
          <a:bodyPr wrap="square" lIns="0" tIns="0" rIns="0" bIns="0" rtlCol="0" anchor="ctr">
            <a:noAutofit/>
          </a:bodyPr>
          <a:lstStyle/>
          <a:p>
            <a:pPr marL="0" indent="0">
              <a:buNone/>
            </a:pPr>
            <a:r>
              <a:rPr lang="en-US" sz="2100" b="1" dirty="0">
                <a:solidFill>
                  <a:srgbClr val="1D2A22"/>
                </a:solidFill>
                <a:latin typeface="Cambria" pitchFamily="34" charset="0"/>
                <a:ea typeface="Cambria" pitchFamily="34" charset="-122"/>
                <a:cs typeface="Cambria" pitchFamily="34" charset="-120"/>
              </a:rPr>
              <a:t>The wolves return</a:t>
            </a:r>
            <a:endParaRPr lang="en-US" sz="2100" dirty="0"/>
          </a:p>
        </p:txBody>
      </p:sp>
      <p:sp>
        <p:nvSpPr>
          <p:cNvPr id="14" name="Text 12"/>
          <p:cNvSpPr/>
          <p:nvPr/>
        </p:nvSpPr>
        <p:spPr>
          <a:xfrm>
            <a:off x="8321040" y="2743200"/>
            <a:ext cx="2880360" cy="320040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Wolves returned to Denmark in 2012, about 200 years after the last one was shot. They prey on sheep and divide rural and urban opinion. In 2025 the EU downgraded them from strictly protected to protected, which makes culling easier to authorize.</a:t>
            </a:r>
            <a:endParaRPr lang="en-US" sz="1250" dirty="0"/>
          </a:p>
        </p:txBody>
      </p:sp>
      <p:sp>
        <p:nvSpPr>
          <p:cNvPr id="15" name="Text 13"/>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2 · Exercise   ·   slide 22/24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914400"/>
          </a:xfrm>
          <a:prstGeom prst="rect">
            <a:avLst/>
          </a:prstGeom>
          <a:noFill/>
          <a:ln/>
        </p:spPr>
        <p:txBody>
          <a:bodyPr wrap="square" lIns="0" tIns="0" rIns="0" bIns="0" rtlCol="0" anchor="t">
            <a:noAutofit/>
          </a:bodyPr>
          <a:lstStyle/>
          <a:p>
            <a:pPr marL="0" indent="0">
              <a:buNone/>
            </a:pPr>
            <a:r>
              <a:rPr lang="en-US" sz="3000" b="1" dirty="0">
                <a:solidFill>
                  <a:srgbClr val="1B4332"/>
                </a:solidFill>
                <a:latin typeface="Cambria" pitchFamily="34" charset="0"/>
                <a:ea typeface="Cambria" pitchFamily="34" charset="-122"/>
                <a:cs typeface="Cambria" pitchFamily="34" charset="-120"/>
              </a:rPr>
              <a:t>Report back, then two questions for everyone</a:t>
            </a:r>
            <a:endParaRPr lang="en-US" sz="3000" dirty="0"/>
          </a:p>
        </p:txBody>
      </p:sp>
      <p:sp>
        <p:nvSpPr>
          <p:cNvPr id="3" name="Shape 1"/>
          <p:cNvSpPr/>
          <p:nvPr/>
        </p:nvSpPr>
        <p:spPr>
          <a:xfrm>
            <a:off x="640080" y="1828800"/>
            <a:ext cx="10881360" cy="1737360"/>
          </a:xfrm>
          <a:prstGeom prst="roundRect">
            <a:avLst>
              <a:gd name="adj" fmla="val 5263"/>
            </a:avLst>
          </a:prstGeom>
          <a:solidFill>
            <a:srgbClr val="EAF2EC"/>
          </a:solidFill>
          <a:ln/>
        </p:spPr>
        <p:txBody>
          <a:bodyPr wrap="square">
            <a:noAutofit/>
          </a:bodyPr>
          <a:lstStyle/>
          <a:p>
            <a:endParaRPr lang="en-US"/>
          </a:p>
        </p:txBody>
      </p:sp>
      <p:sp>
        <p:nvSpPr>
          <p:cNvPr id="4" name="Text 2"/>
          <p:cNvSpPr/>
          <p:nvPr/>
        </p:nvSpPr>
        <p:spPr>
          <a:xfrm>
            <a:off x="1005840" y="2057400"/>
            <a:ext cx="10149840" cy="457200"/>
          </a:xfrm>
          <a:prstGeom prst="rect">
            <a:avLst/>
          </a:prstGeom>
          <a:noFill/>
          <a:ln/>
        </p:spPr>
        <p:txBody>
          <a:bodyPr wrap="square" lIns="0" tIns="0" rIns="0" bIns="0" rtlCol="0" anchor="ctr">
            <a:noAutofit/>
          </a:bodyPr>
          <a:lstStyle/>
          <a:p>
            <a:pPr marL="0" indent="0">
              <a:buNone/>
            </a:pPr>
            <a:r>
              <a:rPr lang="en-US" sz="2000" b="1" dirty="0">
                <a:solidFill>
                  <a:srgbClr val="2D6A4F"/>
                </a:solidFill>
                <a:latin typeface="Cambria" pitchFamily="34" charset="0"/>
                <a:ea typeface="Cambria" pitchFamily="34" charset="-122"/>
                <a:cs typeface="Cambria" pitchFamily="34" charset="-120"/>
              </a:rPr>
              <a:t>Across the three cases</a:t>
            </a:r>
            <a:endParaRPr lang="en-US" sz="1700" dirty="0"/>
          </a:p>
        </p:txBody>
      </p:sp>
      <p:sp>
        <p:nvSpPr>
          <p:cNvPr id="5" name="Text 3"/>
          <p:cNvSpPr/>
          <p:nvPr/>
        </p:nvSpPr>
        <p:spPr>
          <a:xfrm>
            <a:off x="1005840" y="2514600"/>
            <a:ext cx="10149840" cy="1005840"/>
          </a:xfrm>
          <a:prstGeom prst="rect">
            <a:avLst/>
          </a:prstGeom>
          <a:noFill/>
          <a:ln/>
        </p:spPr>
        <p:txBody>
          <a:bodyPr wrap="square" lIns="0" tIns="0" rIns="0" bIns="0" rtlCol="0" anchor="ctr">
            <a:noAutofit/>
          </a:bodyPr>
          <a:lstStyle/>
          <a:p>
            <a:pPr marL="0" indent="0">
              <a:buNone/>
            </a:pPr>
            <a:r>
              <a:rPr lang="en-US" sz="2000" dirty="0">
                <a:solidFill>
                  <a:srgbClr val="1D2A22"/>
                </a:solidFill>
                <a:latin typeface="Calibri" pitchFamily="34" charset="0"/>
                <a:ea typeface="Calibri" pitchFamily="34" charset="-122"/>
                <a:cs typeface="Calibri" pitchFamily="34" charset="-120"/>
              </a:rPr>
              <a:t>Did the science ever settle the disagreement, or did it sharpen where the disagreement is?</a:t>
            </a:r>
            <a:endParaRPr lang="en-US" sz="1700" dirty="0"/>
          </a:p>
        </p:txBody>
      </p:sp>
      <p:sp>
        <p:nvSpPr>
          <p:cNvPr id="6" name="Shape 4"/>
          <p:cNvSpPr/>
          <p:nvPr/>
        </p:nvSpPr>
        <p:spPr>
          <a:xfrm>
            <a:off x="640080" y="3840480"/>
            <a:ext cx="10881360" cy="1737360"/>
          </a:xfrm>
          <a:prstGeom prst="roundRect">
            <a:avLst>
              <a:gd name="adj" fmla="val 5263"/>
            </a:avLst>
          </a:prstGeom>
          <a:solidFill>
            <a:srgbClr val="1B4332"/>
          </a:solidFill>
          <a:ln/>
        </p:spPr>
        <p:txBody>
          <a:bodyPr wrap="square">
            <a:noAutofit/>
          </a:bodyPr>
          <a:lstStyle/>
          <a:p>
            <a:endParaRPr lang="en-US"/>
          </a:p>
        </p:txBody>
      </p:sp>
      <p:sp>
        <p:nvSpPr>
          <p:cNvPr id="7" name="Text 5"/>
          <p:cNvSpPr/>
          <p:nvPr/>
        </p:nvSpPr>
        <p:spPr>
          <a:xfrm>
            <a:off x="1005840" y="4069080"/>
            <a:ext cx="10149840" cy="457200"/>
          </a:xfrm>
          <a:prstGeom prst="rect">
            <a:avLst/>
          </a:prstGeom>
          <a:noFill/>
          <a:ln/>
        </p:spPr>
        <p:txBody>
          <a:bodyPr wrap="square" lIns="0" tIns="0" rIns="0" bIns="0" rtlCol="0" anchor="ctr">
            <a:noAutofit/>
          </a:bodyPr>
          <a:lstStyle/>
          <a:p>
            <a:pPr marL="0" indent="0">
              <a:buNone/>
            </a:pPr>
            <a:r>
              <a:rPr lang="en-US" sz="2000" b="1" dirty="0">
                <a:solidFill>
                  <a:srgbClr val="74A57F"/>
                </a:solidFill>
                <a:latin typeface="Cambria" pitchFamily="34" charset="0"/>
                <a:ea typeface="Cambria" pitchFamily="34" charset="-122"/>
                <a:cs typeface="Cambria" pitchFamily="34" charset="-120"/>
              </a:rPr>
              <a:t>For this assignment</a:t>
            </a:r>
            <a:endParaRPr lang="en-US" sz="1700" dirty="0"/>
          </a:p>
        </p:txBody>
      </p:sp>
      <p:sp>
        <p:nvSpPr>
          <p:cNvPr id="8" name="Text 6"/>
          <p:cNvSpPr/>
          <p:nvPr/>
        </p:nvSpPr>
        <p:spPr>
          <a:xfrm>
            <a:off x="1005840" y="4526280"/>
            <a:ext cx="10149840" cy="1005840"/>
          </a:xfrm>
          <a:prstGeom prst="rect">
            <a:avLst/>
          </a:prstGeom>
          <a:noFill/>
          <a:ln/>
        </p:spPr>
        <p:txBody>
          <a:bodyPr wrap="square" lIns="0" tIns="0" rIns="0" bIns="0" rtlCol="0" anchor="ctr">
            <a:noAutofit/>
          </a:bodyPr>
          <a:lstStyle/>
          <a:p>
            <a:pPr marL="0" indent="0">
              <a:buNone/>
            </a:pPr>
            <a:r>
              <a:rPr lang="en-US" sz="2000" dirty="0">
                <a:solidFill>
                  <a:srgbClr val="FFFFFF"/>
                </a:solidFill>
                <a:latin typeface="Calibri" pitchFamily="34" charset="0"/>
                <a:ea typeface="Calibri" pitchFamily="34" charset="-122"/>
                <a:cs typeface="Calibri" pitchFamily="34" charset="-120"/>
              </a:rPr>
              <a:t>Write down the names of the people in your group, and upload the case notes your group made to Moodle before you leave!</a:t>
            </a:r>
            <a:endParaRPr lang="en-US" sz="1700" dirty="0"/>
          </a:p>
        </p:txBody>
      </p:sp>
      <p:sp>
        <p:nvSpPr>
          <p:cNvPr id="9" name="Text 7"/>
          <p:cNvSpPr/>
          <p:nvPr/>
        </p:nvSpPr>
        <p:spPr>
          <a:xfrm>
            <a:off x="640080" y="6565392"/>
            <a:ext cx="6400800" cy="292608"/>
          </a:xfrm>
          <a:prstGeom prst="rect">
            <a:avLst/>
          </a:prstGeom>
          <a:noFill/>
          <a:ln/>
        </p:spPr>
        <p:txBody>
          <a:bodyPr wrap="square" lIns="0" tIns="0" rIns="0" bIns="0" rtlCol="0" anchor="ctr">
            <a:noAutofit/>
          </a:bodyPr>
          <a:lstStyle/>
          <a:p>
            <a:pPr marL="0" indent="0">
              <a:buNone/>
            </a:pPr>
            <a:r>
              <a:rPr lang="en-US" sz="2000" dirty="0">
                <a:solidFill>
                  <a:srgbClr val="5E6B62"/>
                </a:solidFill>
                <a:latin typeface="Calibri" pitchFamily="34" charset="0"/>
                <a:ea typeface="Calibri" pitchFamily="34" charset="-122"/>
                <a:cs typeface="Calibri" pitchFamily="34" charset="-120"/>
              </a:rPr>
              <a:t>Part 2 · Exercise   ·   slide 23/24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1097280"/>
            <a:ext cx="10881360" cy="457200"/>
          </a:xfrm>
          <a:prstGeom prst="rect">
            <a:avLst/>
          </a:prstGeom>
          <a:noFill/>
          <a:ln/>
        </p:spPr>
        <p:txBody>
          <a:bodyPr wrap="square" lIns="0" tIns="0" rIns="0" bIns="0" rtlCol="0" anchor="ctr">
            <a:noAutofit/>
          </a:bodyPr>
          <a:lstStyle/>
          <a:p>
            <a:pPr marL="0" indent="0">
              <a:buNone/>
            </a:pPr>
            <a:r>
              <a:rPr lang="en-US" sz="2000" kern="0" spc="200" dirty="0">
                <a:solidFill>
                  <a:srgbClr val="74A57F"/>
                </a:solidFill>
                <a:latin typeface="Calibri" pitchFamily="34" charset="0"/>
                <a:ea typeface="Calibri" pitchFamily="34" charset="-122"/>
                <a:cs typeface="Calibri" pitchFamily="34" charset="-120"/>
              </a:rPr>
              <a:t>The sentence to leave with</a:t>
            </a:r>
            <a:endParaRPr lang="en-US" sz="1500" dirty="0"/>
          </a:p>
        </p:txBody>
      </p:sp>
      <p:sp>
        <p:nvSpPr>
          <p:cNvPr id="3" name="Text 1"/>
          <p:cNvSpPr/>
          <p:nvPr/>
        </p:nvSpPr>
        <p:spPr>
          <a:xfrm>
            <a:off x="640080" y="1691640"/>
            <a:ext cx="10881360" cy="1737360"/>
          </a:xfrm>
          <a:prstGeom prst="rect">
            <a:avLst/>
          </a:prstGeom>
          <a:noFill/>
          <a:ln/>
        </p:spPr>
        <p:txBody>
          <a:bodyPr wrap="square" lIns="0" tIns="0" rIns="0" bIns="0" rtlCol="0" anchor="ctr">
            <a:noAutofit/>
          </a:bodyPr>
          <a:lstStyle/>
          <a:p>
            <a:r>
              <a:rPr lang="en-US" sz="3600" b="1" dirty="0">
                <a:solidFill>
                  <a:srgbClr val="FFFFFF"/>
                </a:solidFill>
                <a:latin typeface="Cambria" pitchFamily="34" charset="0"/>
                <a:ea typeface="Cambria" pitchFamily="34" charset="-122"/>
                <a:cs typeface="Cambria" pitchFamily="34" charset="-120"/>
              </a:rPr>
              <a:t>Humans are removing the variety of life faster than at any point in our species' history, and the evidence is overwhelming!</a:t>
            </a:r>
            <a:endParaRPr lang="en-US" sz="3600" dirty="0"/>
          </a:p>
        </p:txBody>
      </p:sp>
      <p:sp>
        <p:nvSpPr>
          <p:cNvPr id="4" name="Text 2"/>
          <p:cNvSpPr/>
          <p:nvPr/>
        </p:nvSpPr>
        <p:spPr>
          <a:xfrm>
            <a:off x="640080" y="3794760"/>
            <a:ext cx="10881360" cy="2651760"/>
          </a:xfrm>
          <a:prstGeom prst="rect">
            <a:avLst/>
          </a:prstGeom>
          <a:noFill/>
          <a:ln/>
        </p:spPr>
        <p:txBody>
          <a:bodyPr wrap="square" lIns="0" tIns="0" rIns="0" bIns="0" rtlCol="0" anchor="ctr">
            <a:noAutofit/>
          </a:bodyPr>
          <a:lstStyle/>
          <a:p>
            <a:pPr>
              <a:spcBef>
                <a:spcPts val="1400"/>
              </a:spcBef>
            </a:pPr>
            <a:r>
              <a:rPr sz="2000" b="1" dirty="0">
                <a:solidFill>
                  <a:srgbClr val="AECFB8"/>
                </a:solidFill>
                <a:latin typeface="Calibri"/>
              </a:rPr>
              <a:t>Next session · 28 September · Laura Horn</a:t>
            </a:r>
          </a:p>
          <a:p>
            <a:r>
              <a:rPr sz="2000" b="0" dirty="0">
                <a:solidFill>
                  <a:srgbClr val="FFFFFF"/>
                </a:solidFill>
                <a:latin typeface="Calibri"/>
              </a:rPr>
              <a:t>What can political economy tell us about the Anthropocene? Whether emissions can be decoupled from economic growth, what degrowth and post-growth offer, and who has paid and continues to pay for the transition.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5775</TotalTime>
  <Words>3158</Words>
  <Application>Microsoft Office PowerPoint</Application>
  <PresentationFormat>Widescreen</PresentationFormat>
  <Paragraphs>363</Paragraphs>
  <Slides>29</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Shorter</cp:lastModifiedBy>
  <cp:revision>2</cp:revision>
  <dcterms:created xsi:type="dcterms:W3CDTF">2026-08-25T12:13:57Z</dcterms:created>
  <dcterms:modified xsi:type="dcterms:W3CDTF">2026-09-21T09:38:20Z</dcterms:modified>
</cp:coreProperties>
</file>